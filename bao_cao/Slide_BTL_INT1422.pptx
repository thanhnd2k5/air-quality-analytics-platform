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a:t>% giá trị thiếu theo cột (12 trạm)</a:t>
            </a:r>
          </a:p>
        </c:rich>
      </c:tx>
      <c:layout/>
      <c:overlay val="0"/>
    </c:title>
    <c:autoTitleDeleted val="0"/>
    <c:plotArea>
      <c:barChart>
        <c:barDir val="bar"/>
        <c:grouping val="clustered"/>
        <c:ser>
          <c:idx val="0"/>
          <c:order val="0"/>
          <c:tx>
            <c:strRef>
              <c:f>Sheet1!$B$1</c:f>
              <c:strCache>
                <c:ptCount val="1"/>
                <c:pt idx="0">
                  <c:v>% giá trị thiếu</c:v>
                </c:pt>
              </c:strCache>
            </c:strRef>
          </c:tx>
          <c:spPr>
            <a:solidFill>
              <a:srgbClr val="EA580C"/>
            </a:solidFill>
          </c:spPr>
          <c:cat>
            <c:strRef>
              <c:f>Sheet1!$A$2:$A$13</c:f>
              <c:strCache>
                <c:ptCount val="12"/>
                <c:pt idx="0">
                  <c:v>WSPM</c:v>
                </c:pt>
                <c:pt idx="1">
                  <c:v>PRES</c:v>
                </c:pt>
                <c:pt idx="2">
                  <c:v>RAIN</c:v>
                </c:pt>
                <c:pt idx="3">
                  <c:v>TEMP</c:v>
                </c:pt>
                <c:pt idx="4">
                  <c:v>DEWP</c:v>
                </c:pt>
                <c:pt idx="5">
                  <c:v>wd</c:v>
                </c:pt>
                <c:pt idx="6">
                  <c:v>PM10</c:v>
                </c:pt>
                <c:pt idx="7">
                  <c:v>PM2.5</c:v>
                </c:pt>
                <c:pt idx="8">
                  <c:v>SO2</c:v>
                </c:pt>
                <c:pt idx="9">
                  <c:v>NO2</c:v>
                </c:pt>
                <c:pt idx="10">
                  <c:v>O3</c:v>
                </c:pt>
                <c:pt idx="11">
                  <c:v>CO</c:v>
                </c:pt>
              </c:strCache>
            </c:strRef>
          </c:cat>
          <c:val>
            <c:numRef>
              <c:f>Sheet1!$B$2:$B$13</c:f>
              <c:numCache>
                <c:formatCode>General</c:formatCode>
                <c:ptCount val="12"/>
                <c:pt idx="0">
                  <c:v>0.08</c:v>
                </c:pt>
                <c:pt idx="1">
                  <c:v>0.09</c:v>
                </c:pt>
                <c:pt idx="2">
                  <c:v>0.09</c:v>
                </c:pt>
                <c:pt idx="3">
                  <c:v>0.1</c:v>
                </c:pt>
                <c:pt idx="4">
                  <c:v>0.1</c:v>
                </c:pt>
                <c:pt idx="5">
                  <c:v>0.43</c:v>
                </c:pt>
                <c:pt idx="6">
                  <c:v>1.53</c:v>
                </c:pt>
                <c:pt idx="7">
                  <c:v>2.08</c:v>
                </c:pt>
                <c:pt idx="8">
                  <c:v>2.14</c:v>
                </c:pt>
                <c:pt idx="9">
                  <c:v>2.88</c:v>
                </c:pt>
                <c:pt idx="10">
                  <c:v>3.15</c:v>
                </c:pt>
                <c:pt idx="11">
                  <c:v>4.92</c:v>
                </c:pt>
              </c:numCache>
            </c:numRef>
          </c:val>
        </c:ser>
        <c:dLbls>
          <c:numFmt formatCode="0.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solidFill>
              <a:srgbClr val="CBD5E1"/>
            </a:solidFill>
          </a:ln>
        </c:spPr>
        <c:txPr>
          <a:bodyPr/>
          <a:lstStyle/>
          <a:p>
            <a:pPr>
              <a:defRPr sz="1300">
                <a:solidFill>
                  <a:srgbClr val="1F2A37"/>
                </a:solidFill>
              </a:defRPr>
            </a:pPr>
          </a:p>
        </c:txPr>
        <c:crossAx val="-2113994440"/>
        <c:crosses val="autoZero"/>
        <c:auto val="1"/>
        <c:lblAlgn val="ctr"/>
        <c:lblOffset val="100"/>
        <c:noMultiLvlLbl val="0"/>
      </c:catAx>
      <c:valAx>
        <c:axId val="-2113994440"/>
        <c:scaling/>
        <c:delete val="0"/>
        <c:axPos val="b"/>
        <c:majorGridlines>
          <c:spPr>
            <a:ln>
              <a:solidFill>
                <a:srgbClr val="E2E8F0"/>
              </a:solidFill>
            </a:ln>
          </c:spPr>
        </c:majorGridlines>
        <c:majorTickMark val="out"/>
        <c:minorTickMark val="none"/>
        <c:tickLblPos val="nextTo"/>
        <c:spPr>
          <a:ln>
            <a:noFill/>
          </a:ln>
        </c:spPr>
        <c:txPr>
          <a:bodyPr/>
          <a:lstStyle/>
          <a:p>
            <a:pPr>
              <a:defRPr sz="1200">
                <a:solidFill>
                  <a:srgbClr val="64748B"/>
                </a:solidFill>
              </a:defRPr>
            </a:pPr>
          </a:p>
        </c:txPr>
        <c:crossAx val="-2068027336"/>
        <c:crosses val="autoZero"/>
      </c:valAx>
    </c:plotArea>
    <c:dispBlanksAs val="gap"/>
  </c:chart>
  <c:txPr>
    <a:bodyPr/>
    <a:lstStyle/>
    <a:p>
      <a:pPr>
        <a:defRPr sz="1300">
          <a:solidFill>
            <a:srgbClr val="1F2A37"/>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Gió bắc</c:v>
                </c:pt>
              </c:strCache>
            </c:strRef>
          </c:tx>
          <c:spPr>
            <a:solidFill>
              <a:srgbClr val="0F766E"/>
            </a:solidFill>
          </c:spPr>
          <c:cat>
            <c:strRef>
              <c:f>Sheet1!$A$2:$A$5</c:f>
              <c:strCache>
                <c:ptCount val="4"/>
                <c:pt idx="0">
                  <c:v>Dongcheng · Thu</c:v>
                </c:pt>
                <c:pt idx="1">
                  <c:v>Dongcheng · Đông</c:v>
                </c:pt>
                <c:pt idx="2">
                  <c:v>Xicheng · Thu</c:v>
                </c:pt>
                <c:pt idx="3">
                  <c:v>Xicheng · Đông</c:v>
                </c:pt>
              </c:strCache>
            </c:strRef>
          </c:cat>
          <c:val>
            <c:numRef>
              <c:f>Sheet1!$B$2:$B$5</c:f>
              <c:numCache>
                <c:formatCode>General</c:formatCode>
                <c:ptCount val="4"/>
                <c:pt idx="0">
                  <c:v>77.5</c:v>
                </c:pt>
                <c:pt idx="1">
                  <c:v>83.8</c:v>
                </c:pt>
                <c:pt idx="2">
                  <c:v>81.0</c:v>
                </c:pt>
                <c:pt idx="3">
                  <c:v>87.7</c:v>
                </c:pt>
              </c:numCache>
            </c:numRef>
          </c:val>
        </c:ser>
        <c:ser>
          <c:idx val="1"/>
          <c:order val="1"/>
          <c:tx>
            <c:strRef>
              <c:f>Sheet1!$C$1</c:f>
              <c:strCache>
                <c:ptCount val="1"/>
                <c:pt idx="0">
                  <c:v>Gió nam</c:v>
                </c:pt>
              </c:strCache>
            </c:strRef>
          </c:tx>
          <c:spPr>
            <a:solidFill>
              <a:srgbClr val="EA580C"/>
            </a:solidFill>
          </c:spPr>
          <c:cat>
            <c:strRef>
              <c:f>Sheet1!$A$2:$A$5</c:f>
              <c:strCache>
                <c:ptCount val="4"/>
                <c:pt idx="0">
                  <c:v>Dongcheng · Thu</c:v>
                </c:pt>
                <c:pt idx="1">
                  <c:v>Dongcheng · Đông</c:v>
                </c:pt>
                <c:pt idx="2">
                  <c:v>Xicheng · Thu</c:v>
                </c:pt>
                <c:pt idx="3">
                  <c:v>Xicheng · Đông</c:v>
                </c:pt>
              </c:strCache>
            </c:strRef>
          </c:cat>
          <c:val>
            <c:numRef>
              <c:f>Sheet1!$C$2:$C$5</c:f>
              <c:numCache>
                <c:formatCode>General</c:formatCode>
                <c:ptCount val="4"/>
                <c:pt idx="0">
                  <c:v>96.8</c:v>
                </c:pt>
                <c:pt idx="1">
                  <c:v>133.0</c:v>
                </c:pt>
                <c:pt idx="2">
                  <c:v>95.0</c:v>
                </c:pt>
                <c:pt idx="3">
                  <c:v>132.4</c:v>
                </c:pt>
              </c:numCache>
            </c:numRef>
          </c:val>
        </c:ser>
        <c:dLbls>
          <c:numFmt formatCode="0" sourceLinked="0"/>
          <c:txPr>
            <a:bodyPr/>
            <a:lstStyle/>
            <a:p>
              <a:pPr>
                <a:defRPr sz="1200"/>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CBD5E1"/>
            </a:solidFill>
          </a:ln>
        </c:spPr>
        <c:txPr>
          <a:bodyPr/>
          <a:lstStyle/>
          <a:p>
            <a:pPr>
              <a:defRPr sz="1300">
                <a:solidFill>
                  <a:srgbClr val="1F2A37"/>
                </a:solidFill>
              </a:defRPr>
            </a:pPr>
          </a:p>
        </c:txPr>
        <c:crossAx val="-2113994440"/>
        <c:crosses val="autoZero"/>
        <c:auto val="1"/>
        <c:lblAlgn val="ctr"/>
        <c:lblOffset val="100"/>
        <c:noMultiLvlLbl val="0"/>
      </c:catAx>
      <c:valAx>
        <c:axId val="-2113994440"/>
        <c:scaling/>
        <c:delete val="0"/>
        <c:axPos val="l"/>
        <c:majorGridlines>
          <c:spPr>
            <a:ln>
              <a:solidFill>
                <a:srgbClr val="E2E8F0"/>
              </a:solidFill>
            </a:ln>
          </c:spPr>
        </c:majorGridlines>
        <c:title>
          <c:tx>
            <c:rich>
              <a:bodyPr/>
              <a:lstStyle/>
              <a:p>
                <a:r>
                  <a:rPr sz="1200"/>
                  <a:t>PM2.5 trung bình (µg/m³)</a:t>
                </a:r>
              </a:p>
            </c:rich>
          </c:tx>
          <c:layout/>
          <c:overlay val="0"/>
        </c:title>
        <c:majorTickMark val="out"/>
        <c:minorTickMark val="none"/>
        <c:tickLblPos val="nextTo"/>
        <c:spPr>
          <a:ln>
            <a:noFill/>
          </a:ln>
        </c:spPr>
        <c:txPr>
          <a:bodyPr/>
          <a:lstStyle/>
          <a:p>
            <a:pPr>
              <a:defRPr sz="1200">
                <a:solidFill>
                  <a:srgbClr val="64748B"/>
                </a:solidFill>
              </a:defRPr>
            </a:pPr>
          </a:p>
        </c:txPr>
        <c:crossAx val="-2068027336"/>
        <c:crosses val="autoZero"/>
      </c:valAx>
    </c:plotArea>
    <c:legend>
      <c:legendPos val="t"/>
      <c:overlay val="0"/>
      <c:txPr>
        <a:bodyPr/>
        <a:lstStyle/>
        <a:p>
          <a:pPr>
            <a:defRPr sz="1300"/>
          </a:pPr>
        </a:p>
      </c:txPr>
    </c:legend>
    <c:dispBlanksAs val="gap"/>
  </c:chart>
  <c:txPr>
    <a:bodyPr/>
    <a:lstStyle/>
    <a:p>
      <a:pPr>
        <a:defRPr sz="1300">
          <a:solidFill>
            <a:srgbClr val="1F2A37"/>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a:t>F1 trên test theo tầm cảnh báo</a:t>
            </a:r>
          </a:p>
        </c:rich>
      </c:tx>
      <c:layout/>
      <c:overlay val="0"/>
    </c:title>
    <c:autoTitleDeleted val="0"/>
    <c:plotArea>
      <c:barChart>
        <c:barDir val="col"/>
        <c:grouping val="clustered"/>
        <c:ser>
          <c:idx val="0"/>
          <c:order val="0"/>
          <c:tx>
            <c:strRef>
              <c:f>Sheet1!$B$1</c:f>
              <c:strCache>
                <c:ptCount val="1"/>
                <c:pt idx="0">
                  <c:v>Persistence</c:v>
                </c:pt>
              </c:strCache>
            </c:strRef>
          </c:tx>
          <c:spPr>
            <a:solidFill>
              <a:srgbClr val="64748B"/>
            </a:solidFill>
          </c:spPr>
          <c:cat>
            <c:strRef>
              <c:f>Sheet1!$A$2:$A$4</c:f>
              <c:strCache>
                <c:ptCount val="3"/>
                <c:pt idx="0">
                  <c:v>1 giờ</c:v>
                </c:pt>
                <c:pt idx="1">
                  <c:v>3 giờ</c:v>
                </c:pt>
                <c:pt idx="2">
                  <c:v>6 giờ</c:v>
                </c:pt>
              </c:strCache>
            </c:strRef>
          </c:cat>
          <c:val>
            <c:numRef>
              <c:f>Sheet1!$B$2:$B$4</c:f>
              <c:numCache>
                <c:formatCode>General</c:formatCode>
                <c:ptCount val="3"/>
                <c:pt idx="0">
                  <c:v>0.914</c:v>
                </c:pt>
                <c:pt idx="1">
                  <c:v>0.806</c:v>
                </c:pt>
                <c:pt idx="2">
                  <c:v>0.702</c:v>
                </c:pt>
              </c:numCache>
            </c:numRef>
          </c:val>
        </c:ser>
        <c:ser>
          <c:idx val="1"/>
          <c:order val="1"/>
          <c:tx>
            <c:strRef>
              <c:f>Sheet1!$C$1</c:f>
              <c:strCache>
                <c:ptCount val="1"/>
                <c:pt idx="0">
                  <c:v>HistGradientBoosting</c:v>
                </c:pt>
              </c:strCache>
            </c:strRef>
          </c:tx>
          <c:spPr>
            <a:solidFill>
              <a:srgbClr val="EA580C"/>
            </a:solidFill>
          </c:spPr>
          <c:cat>
            <c:strRef>
              <c:f>Sheet1!$A$2:$A$4</c:f>
              <c:strCache>
                <c:ptCount val="3"/>
                <c:pt idx="0">
                  <c:v>1 giờ</c:v>
                </c:pt>
                <c:pt idx="1">
                  <c:v>3 giờ</c:v>
                </c:pt>
                <c:pt idx="2">
                  <c:v>6 giờ</c:v>
                </c:pt>
              </c:strCache>
            </c:strRef>
          </c:cat>
          <c:val>
            <c:numRef>
              <c:f>Sheet1!$C$2:$C$4</c:f>
              <c:numCache>
                <c:formatCode>General</c:formatCode>
                <c:ptCount val="3"/>
                <c:pt idx="0">
                  <c:v>0.927</c:v>
                </c:pt>
                <c:pt idx="1">
                  <c:v>0.832</c:v>
                </c:pt>
                <c:pt idx="2">
                  <c:v>0.745</c:v>
                </c:pt>
              </c:numCache>
            </c:numRef>
          </c:val>
        </c:ser>
        <c:dLbls>
          <c:numFmt formatCode="0.000" sourceLinked="0"/>
          <c:txPr>
            <a:bodyPr/>
            <a:lstStyle/>
            <a:p>
              <a:pPr>
                <a:defRPr sz="1200"/>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CBD5E1"/>
            </a:solidFill>
          </a:ln>
        </c:spPr>
        <c:txPr>
          <a:bodyPr/>
          <a:lstStyle/>
          <a:p>
            <a:pPr>
              <a:defRPr sz="1300">
                <a:solidFill>
                  <a:srgbClr val="1F2A37"/>
                </a:solidFill>
              </a:defRPr>
            </a:pPr>
          </a:p>
        </c:txPr>
        <c:crossAx val="-2113994440"/>
        <c:crosses val="autoZero"/>
        <c:auto val="1"/>
        <c:lblAlgn val="ctr"/>
        <c:lblOffset val="100"/>
        <c:noMultiLvlLbl val="0"/>
      </c:catAx>
      <c:valAx>
        <c:axId val="-2113994440"/>
        <c:scaling>
          <c:max val="1.0"/>
          <c:min val="0.6"/>
        </c:scaling>
        <c:delete val="0"/>
        <c:axPos val="l"/>
        <c:majorGridlines>
          <c:spPr>
            <a:ln>
              <a:solidFill>
                <a:srgbClr val="E2E8F0"/>
              </a:solidFill>
            </a:ln>
          </c:spPr>
        </c:majorGridlines>
        <c:majorTickMark val="out"/>
        <c:minorTickMark val="none"/>
        <c:tickLblPos val="nextTo"/>
        <c:spPr>
          <a:ln>
            <a:noFill/>
          </a:ln>
        </c:spPr>
        <c:txPr>
          <a:bodyPr/>
          <a:lstStyle/>
          <a:p>
            <a:pPr>
              <a:defRPr sz="1200">
                <a:solidFill>
                  <a:srgbClr val="64748B"/>
                </a:solidFill>
              </a:defRPr>
            </a:pPr>
          </a:p>
        </c:txPr>
        <c:crossAx val="-2068027336"/>
        <c:crosses val="autoZero"/>
      </c:valAx>
    </c:plotArea>
    <c:legend>
      <c:legendPos val="t"/>
      <c:overlay val="0"/>
      <c:txPr>
        <a:bodyPr/>
        <a:lstStyle/>
        <a:p>
          <a:pPr>
            <a:defRPr sz="1300"/>
          </a:pPr>
        </a:p>
      </c:txPr>
    </c:legend>
    <c:dispBlanksAs val="gap"/>
  </c:chart>
  <c:txPr>
    <a:bodyPr/>
    <a:lstStyle/>
    <a:p>
      <a:pPr>
        <a:defRPr sz="1300">
          <a:solidFill>
            <a:srgbClr val="1F2A37"/>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Mở đầu (15 giây). Giới thiệu nhóm và đề tài. Câu chính: nhóm xây kho dữ liệu chất lượng không khí và một mô hình cảnh báo sớm giờ tới khi PM2.5 vượt 115 µg/m³.</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≈1'45". Người dùng là trung tâm quan trắc. Quyết định: phát cảnh báo hạn chế hoạt động ngoài trời cho giờ tới tại từng trạm. Cách làm hiện tại là nhìn số đo hiện tại (persistence), nên luôn trễ 1 giờ và không bao giờ báo trước được lúc một đợt ô nhiễm bắt đầu.</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Nguồn chính UCI #501, giấy phép CC BY 4.0, DOI 10.24432/C5RK5G. Nguồn phụ Open-Meteo dùng để lấp khoảng trống thời tiết và thêm độ che phủ mây. Không có dữ liệu cá nhân. Script tải tự kiểm tra kích thước file.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CO thiếu nhiều nhất (4,9%), có chuỗi thiếu dài tới 1 517 giờ, nên không nội suy để tránh bịa dữ liệu. Thời tiết thiếu ít (≈0,1%) và được lấp từ Open-Meteo, ghi nguồn; sau khi lấp còn 0 ô thiếu. 60 dòng chạm trần thiết bị được gắn cờ. Khi khai phá: median lấy từ tập train, không lấy từ val/test.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Đi nhanh qua kiến trúc: lake MinIO → staging PostgreSQL → kho dbt → khối và mart → khai phá → ứng dụng. Nhấn mạnh yêu cầu bắt buộc: python scripts/run_all.py, đã kiểm chứng từ trạng thái trống ngày 12/10/2026 (14/14 bước, 11,2 phút, 130 dbt test pass).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Độ mịn = 1 trạm × 1 giờ vì: là độ mịn gốc; cuộn lên được mọi mức còn ngược lại thì không; bài toán giờ tới cần mức giờ. Chiều Hướng gió trả lời câu hỏi 'vì sao'. 4 phân cấp nên số khối con là 180.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Chọn khối theo truy vấn thật của dashboard: (trạm, ngày), (trạm, tháng) và CUBE 5 thuộc tính = 32 khối con. Mỗi ô được tính lại từ fact và so khớp: 24 759/24 759 ô đúng. Trung bình là độ đo đại số nên khối lưu tổng và số đếm.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 DEMO TRỰC TIẾP trang /olap. Gợi ý kịch bản: Năm × Mùa (đọc từ cube) → bấm 2015 để drill-down sang quý → Roll-up về năm → lọc quận Dongcheng (slice) → thêm Xicheng + năm 2016 (dice) → bấm Pivot. Nếu mạng/Docker lỗi, mở notebooks/olap/olap_demo.ipynb (đã chạy sẵn output).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Kết quả dice thật: cùng quận lõi đô thị, cùng mùa đông, gió nam (khí từ Hà Bắc) đẩy PM2.5 từ ~85 lên ~133 µg/m³. Đây là căn cứ để khuyến nghị cảnh báo kỹ hơn khi có gió nam.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Chọn phân loại vì quyết định là có/không và hai loại sai có giá khác nhau. 49 đặc trưng, chỉ dùng thông tin biết tại t. Chia tập theo thời gian và khoá từ đầu. Chọn độ sâu cây và ngưỡng xác suất trên val; test chỉ dùng một lần.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 Đọc ma trận nhầm lẫn: FN 1.000 → 838, FP 999 → 865. Majority đạt accuracy 0,76 nhưng recall = 0, nên không thể chỉ báo cáo accuracy.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Lúc bắt đầu đợt ô nhiễm là thời điểm cần cảnh báo nhất: HistGB báo trước được 304/1.000 lần, persistence 0. McNemar p = 5e-23. Cảnh báo càng sớm thì lợi thế càng lớn (F1 +0,043 ở tầm 6 giờ), đổi lại precision giảm nhẹ.</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DEMO trang /canh-bao: hai ma trận nhầm lẫn cạnh nhau, dòng thời gian PM2.5 thực đo tại một trạm kèm những giờ mô hình đã cảnh báo từ 1 giờ trước (xanh = cảnh báo đúng, vàng = báo nhầm, đỏ = bỏ sót), bảng so sánh theo trạm.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 Ba khuyến nghị gắn trực tiếp với kết quả. Hạn chế nêu thật: test chỉ 6 tháng; tầm 1 giờ ngắn; mức cải thiện khiêm tốn (+0,013 F1) dù có ý nghĩa thống kê; ngưỡng 115 vốn là ngưỡng 24 giờ.</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Kết thúc (15 giây) rồi mời hỏi đáp. Mỗi thành viên sẵn sàng trả lời phần mình phụ trách (xem bảng phân công).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chart" Target="../charts/char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chart" Target="../charts/char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37"/>
        </a:solidFill>
        <a:effectLst/>
      </p:bgPr>
    </p:bg>
    <p:spTree>
      <p:nvGrpSpPr>
        <p:cNvPr id="1" name=""/>
        <p:cNvGrpSpPr/>
        <p:nvPr/>
      </p:nvGrpSpPr>
      <p:grpSpPr/>
      <p:sp>
        <p:nvSpPr>
          <p:cNvPr id="2" name="TextBox 1"/>
          <p:cNvSpPr txBox="1"/>
          <p:nvPr/>
        </p:nvSpPr>
        <p:spPr>
          <a:xfrm>
            <a:off x="548640" y="914400"/>
            <a:ext cx="8229600" cy="365760"/>
          </a:xfrm>
          <a:prstGeom prst="rect">
            <a:avLst/>
          </a:prstGeom>
          <a:noFill/>
        </p:spPr>
        <p:txBody>
          <a:bodyPr wrap="square" anchor="t" lIns="45720" rIns="45720">
            <a:spAutoFit/>
          </a:bodyPr>
          <a:lstStyle/>
          <a:p>
            <a:pPr algn="l"/>
            <a:r>
              <a:rPr sz="1400" b="1" i="0">
                <a:solidFill>
                  <a:srgbClr val="FDBA74"/>
                </a:solidFill>
                <a:latin typeface="Calibri"/>
              </a:rPr>
              <a:t>INT1422 · KHO DỮ LIỆU VÀ KHAI PHÁ DỮ LIỆU</a:t>
            </a:r>
          </a:p>
        </p:txBody>
      </p:sp>
      <p:sp>
        <p:nvSpPr>
          <p:cNvPr id="3" name="TextBox 2"/>
          <p:cNvSpPr txBox="1"/>
          <p:nvPr/>
        </p:nvSpPr>
        <p:spPr>
          <a:xfrm>
            <a:off x="548640" y="1463040"/>
            <a:ext cx="11064240" cy="2011680"/>
          </a:xfrm>
          <a:prstGeom prst="rect">
            <a:avLst/>
          </a:prstGeom>
          <a:noFill/>
        </p:spPr>
        <p:txBody>
          <a:bodyPr wrap="square" anchor="t" lIns="45720" rIns="45720">
            <a:spAutoFit/>
          </a:bodyPr>
          <a:lstStyle/>
          <a:p>
            <a:pPr algn="l"/>
            <a:r>
              <a:rPr sz="3800" b="1" i="0">
                <a:solidFill>
                  <a:srgbClr val="FFFFFF"/>
                </a:solidFill>
                <a:latin typeface="Cambria"/>
              </a:rPr>
              <a:t>Kho dữ liệu chất lượng không khí Bắc Kinh</a:t>
            </a:r>
          </a:p>
          <a:p>
            <a:pPr algn="l"/>
            <a:r>
              <a:rPr sz="3800" b="1" i="0">
                <a:solidFill>
                  <a:srgbClr val="FFFFFF"/>
                </a:solidFill>
                <a:latin typeface="Cambria"/>
              </a:rPr>
              <a:t>&amp; cảnh báo sớm PM2.5 vượt ngưỡng</a:t>
            </a:r>
          </a:p>
        </p:txBody>
      </p:sp>
      <p:sp>
        <p:nvSpPr>
          <p:cNvPr id="4" name="TextBox 3"/>
          <p:cNvSpPr txBox="1"/>
          <p:nvPr/>
        </p:nvSpPr>
        <p:spPr>
          <a:xfrm>
            <a:off x="548640" y="3611880"/>
            <a:ext cx="10515600" cy="457200"/>
          </a:xfrm>
          <a:prstGeom prst="rect">
            <a:avLst/>
          </a:prstGeom>
          <a:noFill/>
        </p:spPr>
        <p:txBody>
          <a:bodyPr wrap="square" anchor="t" lIns="45720" rIns="45720">
            <a:spAutoFit/>
          </a:bodyPr>
          <a:lstStyle/>
          <a:p>
            <a:pPr algn="l"/>
            <a:r>
              <a:rPr sz="1800" b="0" i="1">
                <a:solidFill>
                  <a:srgbClr val="CBD5E1"/>
                </a:solidFill>
                <a:latin typeface="Calibri"/>
              </a:rPr>
              <a:t>420 768 giờ đo · 12 trạm · lược đồ hình sao 4 chiều · phân loại cảnh báo giờ tới</a:t>
            </a:r>
          </a:p>
        </p:txBody>
      </p:sp>
      <p:sp>
        <p:nvSpPr>
          <p:cNvPr id="5" name="TextBox 4"/>
          <p:cNvSpPr txBox="1"/>
          <p:nvPr/>
        </p:nvSpPr>
        <p:spPr>
          <a:xfrm>
            <a:off x="548640" y="5212080"/>
            <a:ext cx="10515600" cy="914400"/>
          </a:xfrm>
          <a:prstGeom prst="rect">
            <a:avLst/>
          </a:prstGeom>
          <a:noFill/>
        </p:spPr>
        <p:txBody>
          <a:bodyPr wrap="square" anchor="t" lIns="45720" rIns="45720">
            <a:spAutoFit/>
          </a:bodyPr>
          <a:lstStyle/>
          <a:p>
            <a:pPr algn="l"/>
            <a:r>
              <a:rPr sz="1500" b="0" i="0">
                <a:solidFill>
                  <a:srgbClr val="FFFFFF"/>
                </a:solidFill>
                <a:latin typeface="Calibri"/>
              </a:rPr>
              <a:t>Nhóm [số nhóm] — [Họ tên 1 · MSSV]  ·  [Họ tên 2 · MSSV]  ·  [Họ tên 3 · MSSV]</a:t>
            </a:r>
          </a:p>
          <a:p>
            <a:pPr algn="l"/>
            <a:r>
              <a:rPr sz="1500" b="0" i="0">
                <a:solidFill>
                  <a:srgbClr val="FFFFFF"/>
                </a:solidFill>
                <a:latin typeface="Calibri"/>
              </a:rPr>
              <a:t>Giảng viên: [Họ tên giảng viên]  ·  Học viện Công nghệ Bưu chính Viễn thông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415" cy="868680"/>
          </a:xfrm>
        </p:spPr>
        <p:txBody>
          <a:bodyPr wrap="square" anchor="ctr"/>
          <a:lstStyle/>
          <a:p>
            <a:pPr algn="l"/>
            <a:r>
              <a:rPr sz="3400" b="1">
                <a:solidFill>
                  <a:srgbClr val="1F2A37"/>
                </a:solidFill>
                <a:latin typeface="Cambria"/>
              </a:rPr>
              <a:t>Câu hỏi: giờ tới có cần phát cảnh báo không?</a:t>
            </a:r>
          </a:p>
        </p:txBody>
      </p:sp>
      <p:sp>
        <p:nvSpPr>
          <p:cNvPr id="3" name="TextBox 2"/>
          <p:cNvSpPr txBox="1"/>
          <p:nvPr/>
        </p:nvSpPr>
        <p:spPr>
          <a:xfrm>
            <a:off x="548640" y="109728"/>
            <a:ext cx="5486400" cy="274320"/>
          </a:xfrm>
          <a:prstGeom prst="rect">
            <a:avLst/>
          </a:prstGeom>
          <a:noFill/>
        </p:spPr>
        <p:txBody>
          <a:bodyPr wrap="square" anchor="t" lIns="45720" rIns="45720">
            <a:spAutoFit/>
          </a:bodyPr>
          <a:lstStyle/>
          <a:p>
            <a:pPr algn="l"/>
            <a:r>
              <a:rPr sz="1100" b="1" i="0">
                <a:solidFill>
                  <a:srgbClr val="64748B"/>
                </a:solidFill>
                <a:latin typeface="Calibri"/>
              </a:rPr>
              <a:t>1 · CÂU HỎI NGHIỆP VỤ</a:t>
            </a:r>
          </a:p>
        </p:txBody>
      </p:sp>
      <p:sp>
        <p:nvSpPr>
          <p:cNvPr id="4" name="TextBox 3"/>
          <p:cNvSpPr txBox="1"/>
          <p:nvPr/>
        </p:nvSpPr>
        <p:spPr>
          <a:xfrm>
            <a:off x="10271455" y="6446520"/>
            <a:ext cx="1371600" cy="274320"/>
          </a:xfrm>
          <a:prstGeom prst="rect">
            <a:avLst/>
          </a:prstGeom>
          <a:noFill/>
        </p:spPr>
        <p:txBody>
          <a:bodyPr wrap="square" anchor="t" lIns="45720" rIns="45720">
            <a:spAutoFit/>
          </a:bodyPr>
          <a:lstStyle/>
          <a:p>
            <a:pPr algn="r"/>
            <a:r>
              <a:rPr sz="1100" b="0" i="0">
                <a:solidFill>
                  <a:srgbClr val="64748B"/>
                </a:solidFill>
                <a:latin typeface="Calibri"/>
              </a:rPr>
              <a:t>2 / 15</a:t>
            </a:r>
          </a:p>
        </p:txBody>
      </p:sp>
      <p:sp>
        <p:nvSpPr>
          <p:cNvPr id="5" name="Rounded Rectangle 4"/>
          <p:cNvSpPr/>
          <p:nvPr/>
        </p:nvSpPr>
        <p:spPr>
          <a:xfrm>
            <a:off x="548640" y="1417320"/>
            <a:ext cx="6035040" cy="4480560"/>
          </a:xfrm>
          <a:prstGeom prst="roundRect">
            <a:avLst>
              <a:gd name="adj" fmla="val 6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91640"/>
            <a:ext cx="5486400" cy="1280160"/>
          </a:xfrm>
          <a:prstGeom prst="rect">
            <a:avLst/>
          </a:prstGeom>
          <a:noFill/>
        </p:spPr>
        <p:txBody>
          <a:bodyPr wrap="square" anchor="t" lIns="45720" rIns="45720">
            <a:spAutoFit/>
          </a:bodyPr>
          <a:lstStyle/>
          <a:p>
            <a:pPr algn="l"/>
            <a:r>
              <a:rPr sz="2600" b="1" i="1">
                <a:solidFill>
                  <a:srgbClr val="1F2A37"/>
                </a:solidFill>
                <a:latin typeface="Cambria"/>
              </a:rPr>
              <a:t>“Giờ tới, tại trạm X, PM2.5 có ≥ 115 µg/m³ không?”</a:t>
            </a:r>
          </a:p>
        </p:txBody>
      </p:sp>
      <p:sp>
        <p:nvSpPr>
          <p:cNvPr id="7" name="TextBox 6"/>
          <p:cNvSpPr txBox="1"/>
          <p:nvPr/>
        </p:nvSpPr>
        <p:spPr>
          <a:xfrm>
            <a:off x="868680" y="3154680"/>
            <a:ext cx="5486400" cy="2560320"/>
          </a:xfrm>
          <a:prstGeom prst="rect">
            <a:avLst/>
          </a:prstGeom>
          <a:noFill/>
        </p:spPr>
        <p:txBody>
          <a:bodyPr wrap="square">
            <a:spAutoFit/>
          </a:bodyPr>
          <a:lstStyle/>
          <a:p>
            <a:pPr>
              <a:spcAft>
                <a:spcPts val="800"/>
              </a:spcAft>
            </a:pPr>
            <a:r>
              <a:rPr sz="1700" b="1">
                <a:solidFill>
                  <a:srgbClr val="EA580C"/>
                </a:solidFill>
                <a:latin typeface="Calibri"/>
              </a:rPr>
              <a:t>▸  </a:t>
            </a:r>
            <a:r>
              <a:rPr sz="1700" b="1" i="0">
                <a:solidFill>
                  <a:srgbClr val="1F2A37"/>
                </a:solidFill>
                <a:latin typeface="Calibri"/>
              </a:rPr>
              <a:t>Ai dùng: </a:t>
            </a:r>
            <a:r>
              <a:rPr sz="1700" b="0" i="0">
                <a:solidFill>
                  <a:srgbClr val="1F2A37"/>
                </a:solidFill>
                <a:latin typeface="Calibri"/>
              </a:rPr>
              <a:t>trung tâm quan trắc, trường học, bệnh viện</a:t>
            </a:r>
          </a:p>
          <a:p>
            <a:pPr>
              <a:spcAft>
                <a:spcPts val="800"/>
              </a:spcAft>
            </a:pPr>
            <a:r>
              <a:rPr sz="1700" b="1">
                <a:solidFill>
                  <a:srgbClr val="EA580C"/>
                </a:solidFill>
                <a:latin typeface="Calibri"/>
              </a:rPr>
              <a:t>▸  </a:t>
            </a:r>
            <a:r>
              <a:rPr sz="1700" b="1" i="0">
                <a:solidFill>
                  <a:srgbClr val="1F2A37"/>
                </a:solidFill>
                <a:latin typeface="Calibri"/>
              </a:rPr>
              <a:t>Quyết định: </a:t>
            </a:r>
            <a:r>
              <a:rPr sz="1700" b="0" i="0">
                <a:solidFill>
                  <a:srgbClr val="1F2A37"/>
                </a:solidFill>
                <a:latin typeface="Calibri"/>
              </a:rPr>
              <a:t>cho/không cho hoạt động ngoài trời</a:t>
            </a:r>
          </a:p>
          <a:p>
            <a:pPr>
              <a:spcAft>
                <a:spcPts val="800"/>
              </a:spcAft>
            </a:pPr>
            <a:r>
              <a:rPr sz="1700" b="1">
                <a:solidFill>
                  <a:srgbClr val="EA580C"/>
                </a:solidFill>
                <a:latin typeface="Calibri"/>
              </a:rPr>
              <a:t>▸  </a:t>
            </a:r>
            <a:r>
              <a:rPr sz="1700" b="1" i="0">
                <a:solidFill>
                  <a:srgbClr val="1F2A37"/>
                </a:solidFill>
                <a:latin typeface="Calibri"/>
              </a:rPr>
              <a:t>Hiện tại: </a:t>
            </a:r>
            <a:r>
              <a:rPr sz="1700" b="0" i="0">
                <a:solidFill>
                  <a:srgbClr val="1F2A37"/>
                </a:solidFill>
                <a:latin typeface="Calibri"/>
              </a:rPr>
              <a:t>chờ số đo vượt ngưỡng rồi mới báo, luôn trễ 1 giờ</a:t>
            </a:r>
          </a:p>
        </p:txBody>
      </p:sp>
      <p:sp>
        <p:nvSpPr>
          <p:cNvPr id="8" name="Rounded Rectangle 7"/>
          <p:cNvSpPr/>
          <p:nvPr/>
        </p:nvSpPr>
        <p:spPr>
          <a:xfrm>
            <a:off x="6949440" y="1417320"/>
            <a:ext cx="4690872" cy="141732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0" y="1527048"/>
            <a:ext cx="4325112" cy="777240"/>
          </a:xfrm>
          <a:prstGeom prst="rect">
            <a:avLst/>
          </a:prstGeom>
          <a:noFill/>
        </p:spPr>
        <p:txBody>
          <a:bodyPr wrap="square" anchor="t" lIns="45720" rIns="45720">
            <a:spAutoFit/>
          </a:bodyPr>
          <a:lstStyle/>
          <a:p>
            <a:pPr algn="l"/>
            <a:r>
              <a:rPr sz="4000" b="1" i="0">
                <a:solidFill>
                  <a:srgbClr val="EA580C"/>
                </a:solidFill>
                <a:latin typeface="Cambria"/>
              </a:rPr>
              <a:t>79,8 µg/m³</a:t>
            </a:r>
          </a:p>
        </p:txBody>
      </p:sp>
      <p:sp>
        <p:nvSpPr>
          <p:cNvPr id="10" name="TextBox 9"/>
          <p:cNvSpPr txBox="1"/>
          <p:nvPr/>
        </p:nvSpPr>
        <p:spPr>
          <a:xfrm>
            <a:off x="7132320" y="2258568"/>
            <a:ext cx="4325112" cy="548640"/>
          </a:xfrm>
          <a:prstGeom prst="rect">
            <a:avLst/>
          </a:prstGeom>
          <a:noFill/>
        </p:spPr>
        <p:txBody>
          <a:bodyPr wrap="square" anchor="t" lIns="45720" rIns="45720">
            <a:spAutoFit/>
          </a:bodyPr>
          <a:lstStyle/>
          <a:p>
            <a:pPr algn="l"/>
            <a:r>
              <a:rPr sz="1300" b="0" i="0">
                <a:solidFill>
                  <a:srgbClr val="64748B"/>
                </a:solidFill>
                <a:latin typeface="Calibri"/>
              </a:rPr>
              <a:t>PM2.5 trung bình 2013–2017 trên 12 trạm</a:t>
            </a:r>
          </a:p>
        </p:txBody>
      </p:sp>
      <p:sp>
        <p:nvSpPr>
          <p:cNvPr id="11" name="Rounded Rectangle 10"/>
          <p:cNvSpPr/>
          <p:nvPr/>
        </p:nvSpPr>
        <p:spPr>
          <a:xfrm>
            <a:off x="6949440" y="2926080"/>
            <a:ext cx="4690872" cy="141732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0" y="3035808"/>
            <a:ext cx="4325112" cy="777240"/>
          </a:xfrm>
          <a:prstGeom prst="rect">
            <a:avLst/>
          </a:prstGeom>
          <a:noFill/>
        </p:spPr>
        <p:txBody>
          <a:bodyPr wrap="square" anchor="t" lIns="45720" rIns="45720">
            <a:spAutoFit/>
          </a:bodyPr>
          <a:lstStyle/>
          <a:p>
            <a:pPr algn="l"/>
            <a:r>
              <a:rPr sz="4000" b="1" i="0">
                <a:solidFill>
                  <a:srgbClr val="EA580C"/>
                </a:solidFill>
                <a:latin typeface="Cambria"/>
              </a:rPr>
              <a:t>≈ 1/4</a:t>
            </a:r>
          </a:p>
        </p:txBody>
      </p:sp>
      <p:sp>
        <p:nvSpPr>
          <p:cNvPr id="13" name="TextBox 12"/>
          <p:cNvSpPr txBox="1"/>
          <p:nvPr/>
        </p:nvSpPr>
        <p:spPr>
          <a:xfrm>
            <a:off x="7132320" y="3767328"/>
            <a:ext cx="4325112" cy="548640"/>
          </a:xfrm>
          <a:prstGeom prst="rect">
            <a:avLst/>
          </a:prstGeom>
          <a:noFill/>
        </p:spPr>
        <p:txBody>
          <a:bodyPr wrap="square" anchor="t" lIns="45720" rIns="45720">
            <a:spAutoFit/>
          </a:bodyPr>
          <a:lstStyle/>
          <a:p>
            <a:pPr algn="l"/>
            <a:r>
              <a:rPr sz="1300" b="0" i="0">
                <a:solidFill>
                  <a:srgbClr val="64748B"/>
                </a:solidFill>
                <a:latin typeface="Calibri"/>
              </a:rPr>
              <a:t>số giờ có PM2.5 ≥ 115 µg/m³ (ngưỡng "ô nhiễm trung bình" theo AQI Trung Quốc)</a:t>
            </a:r>
          </a:p>
        </p:txBody>
      </p:sp>
      <p:sp>
        <p:nvSpPr>
          <p:cNvPr id="14" name="Rounded Rectangle 13"/>
          <p:cNvSpPr/>
          <p:nvPr/>
        </p:nvSpPr>
        <p:spPr>
          <a:xfrm>
            <a:off x="6949440" y="4434840"/>
            <a:ext cx="4690872" cy="141732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0" y="4544568"/>
            <a:ext cx="4325112" cy="777240"/>
          </a:xfrm>
          <a:prstGeom prst="rect">
            <a:avLst/>
          </a:prstGeom>
          <a:noFill/>
        </p:spPr>
        <p:txBody>
          <a:bodyPr wrap="square" anchor="t" lIns="45720" rIns="45720">
            <a:spAutoFit/>
          </a:bodyPr>
          <a:lstStyle/>
          <a:p>
            <a:pPr algn="l"/>
            <a:r>
              <a:rPr sz="4000" b="1" i="0">
                <a:solidFill>
                  <a:srgbClr val="1F2A37"/>
                </a:solidFill>
                <a:latin typeface="Cambria"/>
              </a:rPr>
              <a:t>0%</a:t>
            </a:r>
          </a:p>
        </p:txBody>
      </p:sp>
      <p:sp>
        <p:nvSpPr>
          <p:cNvPr id="16" name="TextBox 15"/>
          <p:cNvSpPr txBox="1"/>
          <p:nvPr/>
        </p:nvSpPr>
        <p:spPr>
          <a:xfrm>
            <a:off x="7132320" y="5276088"/>
            <a:ext cx="4325112" cy="548640"/>
          </a:xfrm>
          <a:prstGeom prst="rect">
            <a:avLst/>
          </a:prstGeom>
          <a:noFill/>
        </p:spPr>
        <p:txBody>
          <a:bodyPr wrap="square" anchor="t" lIns="45720" rIns="45720">
            <a:spAutoFit/>
          </a:bodyPr>
          <a:lstStyle/>
          <a:p>
            <a:pPr algn="l"/>
            <a:r>
              <a:rPr sz="1300" b="0" i="0">
                <a:solidFill>
                  <a:srgbClr val="64748B"/>
                </a:solidFill>
                <a:latin typeface="Calibri"/>
              </a:rPr>
              <a:t>số lần bắt đầu đợt ô nhiễm mà cách làm hiện tại báo trước được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415" cy="868680"/>
          </a:xfrm>
        </p:spPr>
        <p:txBody>
          <a:bodyPr wrap="square" anchor="ctr"/>
          <a:lstStyle/>
          <a:p>
            <a:pPr algn="l"/>
            <a:r>
              <a:rPr sz="3400" b="1">
                <a:solidFill>
                  <a:srgbClr val="1F2A37"/>
                </a:solidFill>
                <a:latin typeface="Cambria"/>
              </a:rPr>
              <a:t>Dữ liệu: 420 768 giờ đo, nguồn mở, có giấy phép</a:t>
            </a:r>
          </a:p>
        </p:txBody>
      </p:sp>
      <p:sp>
        <p:nvSpPr>
          <p:cNvPr id="3" name="TextBox 2"/>
          <p:cNvSpPr txBox="1"/>
          <p:nvPr/>
        </p:nvSpPr>
        <p:spPr>
          <a:xfrm>
            <a:off x="548640" y="109728"/>
            <a:ext cx="5486400" cy="274320"/>
          </a:xfrm>
          <a:prstGeom prst="rect">
            <a:avLst/>
          </a:prstGeom>
          <a:noFill/>
        </p:spPr>
        <p:txBody>
          <a:bodyPr wrap="square" anchor="t" lIns="45720" rIns="45720">
            <a:spAutoFit/>
          </a:bodyPr>
          <a:lstStyle/>
          <a:p>
            <a:pPr algn="l"/>
            <a:r>
              <a:rPr sz="1100" b="1" i="0">
                <a:solidFill>
                  <a:srgbClr val="64748B"/>
                </a:solidFill>
                <a:latin typeface="Calibri"/>
              </a:rPr>
              <a:t>2 · DỮ LIỆU</a:t>
            </a:r>
          </a:p>
        </p:txBody>
      </p:sp>
      <p:sp>
        <p:nvSpPr>
          <p:cNvPr id="4" name="TextBox 3"/>
          <p:cNvSpPr txBox="1"/>
          <p:nvPr/>
        </p:nvSpPr>
        <p:spPr>
          <a:xfrm>
            <a:off x="10271455" y="6446520"/>
            <a:ext cx="1371600" cy="274320"/>
          </a:xfrm>
          <a:prstGeom prst="rect">
            <a:avLst/>
          </a:prstGeom>
          <a:noFill/>
        </p:spPr>
        <p:txBody>
          <a:bodyPr wrap="square" anchor="t" lIns="45720" rIns="45720">
            <a:spAutoFit/>
          </a:bodyPr>
          <a:lstStyle/>
          <a:p>
            <a:pPr algn="r"/>
            <a:r>
              <a:rPr sz="1100" b="0" i="0">
                <a:solidFill>
                  <a:srgbClr val="64748B"/>
                </a:solidFill>
                <a:latin typeface="Calibri"/>
              </a:rPr>
              <a:t>3 / 15</a:t>
            </a:r>
          </a:p>
        </p:txBody>
      </p:sp>
      <p:sp>
        <p:nvSpPr>
          <p:cNvPr id="5" name="Rounded Rectangle 4"/>
          <p:cNvSpPr/>
          <p:nvPr/>
        </p:nvSpPr>
        <p:spPr>
          <a:xfrm>
            <a:off x="548640" y="1417320"/>
            <a:ext cx="2606040" cy="128016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527048"/>
            <a:ext cx="2240280" cy="777240"/>
          </a:xfrm>
          <a:prstGeom prst="rect">
            <a:avLst/>
          </a:prstGeom>
          <a:noFill/>
        </p:spPr>
        <p:txBody>
          <a:bodyPr wrap="square" anchor="t" lIns="45720" rIns="45720">
            <a:spAutoFit/>
          </a:bodyPr>
          <a:lstStyle/>
          <a:p>
            <a:pPr algn="l"/>
            <a:r>
              <a:rPr sz="4000" b="1" i="0">
                <a:solidFill>
                  <a:srgbClr val="EA580C"/>
                </a:solidFill>
                <a:latin typeface="Cambria"/>
              </a:rPr>
              <a:t>420 768</a:t>
            </a:r>
          </a:p>
        </p:txBody>
      </p:sp>
      <p:sp>
        <p:nvSpPr>
          <p:cNvPr id="7" name="TextBox 6"/>
          <p:cNvSpPr txBox="1"/>
          <p:nvPr/>
        </p:nvSpPr>
        <p:spPr>
          <a:xfrm>
            <a:off x="731520" y="2258568"/>
            <a:ext cx="2240280" cy="411480"/>
          </a:xfrm>
          <a:prstGeom prst="rect">
            <a:avLst/>
          </a:prstGeom>
          <a:noFill/>
        </p:spPr>
        <p:txBody>
          <a:bodyPr wrap="square" anchor="t" lIns="45720" rIns="45720">
            <a:spAutoFit/>
          </a:bodyPr>
          <a:lstStyle/>
          <a:p>
            <a:pPr algn="l"/>
            <a:r>
              <a:rPr sz="1300" b="0" i="0">
                <a:solidFill>
                  <a:srgbClr val="64748B"/>
                </a:solidFill>
                <a:latin typeface="Calibri"/>
              </a:rPr>
              <a:t>bản ghi giờ</a:t>
            </a:r>
          </a:p>
        </p:txBody>
      </p:sp>
      <p:sp>
        <p:nvSpPr>
          <p:cNvPr id="8" name="Rounded Rectangle 7"/>
          <p:cNvSpPr/>
          <p:nvPr/>
        </p:nvSpPr>
        <p:spPr>
          <a:xfrm>
            <a:off x="3364992" y="1417320"/>
            <a:ext cx="2606040" cy="128016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47872" y="1527048"/>
            <a:ext cx="2240280" cy="777240"/>
          </a:xfrm>
          <a:prstGeom prst="rect">
            <a:avLst/>
          </a:prstGeom>
          <a:noFill/>
        </p:spPr>
        <p:txBody>
          <a:bodyPr wrap="square" anchor="t" lIns="45720" rIns="45720">
            <a:spAutoFit/>
          </a:bodyPr>
          <a:lstStyle/>
          <a:p>
            <a:pPr algn="l"/>
            <a:r>
              <a:rPr sz="4000" b="1" i="0">
                <a:solidFill>
                  <a:srgbClr val="1F2A37"/>
                </a:solidFill>
                <a:latin typeface="Cambria"/>
              </a:rPr>
              <a:t>12</a:t>
            </a:r>
          </a:p>
        </p:txBody>
      </p:sp>
      <p:sp>
        <p:nvSpPr>
          <p:cNvPr id="10" name="TextBox 9"/>
          <p:cNvSpPr txBox="1"/>
          <p:nvPr/>
        </p:nvSpPr>
        <p:spPr>
          <a:xfrm>
            <a:off x="3547872" y="2258568"/>
            <a:ext cx="2240280" cy="411480"/>
          </a:xfrm>
          <a:prstGeom prst="rect">
            <a:avLst/>
          </a:prstGeom>
          <a:noFill/>
        </p:spPr>
        <p:txBody>
          <a:bodyPr wrap="square" anchor="t" lIns="45720" rIns="45720">
            <a:spAutoFit/>
          </a:bodyPr>
          <a:lstStyle/>
          <a:p>
            <a:pPr algn="l"/>
            <a:r>
              <a:rPr sz="1300" b="0" i="0">
                <a:solidFill>
                  <a:srgbClr val="64748B"/>
                </a:solidFill>
                <a:latin typeface="Calibri"/>
              </a:rPr>
              <a:t>trạm quan trắc</a:t>
            </a:r>
          </a:p>
        </p:txBody>
      </p:sp>
      <p:sp>
        <p:nvSpPr>
          <p:cNvPr id="11" name="Rounded Rectangle 10"/>
          <p:cNvSpPr/>
          <p:nvPr/>
        </p:nvSpPr>
        <p:spPr>
          <a:xfrm>
            <a:off x="6181344" y="1417320"/>
            <a:ext cx="2606040" cy="128016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64224" y="1527048"/>
            <a:ext cx="2240280" cy="777240"/>
          </a:xfrm>
          <a:prstGeom prst="rect">
            <a:avLst/>
          </a:prstGeom>
          <a:noFill/>
        </p:spPr>
        <p:txBody>
          <a:bodyPr wrap="square" anchor="t" lIns="45720" rIns="45720">
            <a:spAutoFit/>
          </a:bodyPr>
          <a:lstStyle/>
          <a:p>
            <a:pPr algn="l"/>
            <a:r>
              <a:rPr sz="4000" b="1" i="0">
                <a:solidFill>
                  <a:srgbClr val="1F2A37"/>
                </a:solidFill>
                <a:latin typeface="Cambria"/>
              </a:rPr>
              <a:t>4 năm</a:t>
            </a:r>
          </a:p>
        </p:txBody>
      </p:sp>
      <p:sp>
        <p:nvSpPr>
          <p:cNvPr id="13" name="TextBox 12"/>
          <p:cNvSpPr txBox="1"/>
          <p:nvPr/>
        </p:nvSpPr>
        <p:spPr>
          <a:xfrm>
            <a:off x="6364224" y="2258568"/>
            <a:ext cx="2240280" cy="411480"/>
          </a:xfrm>
          <a:prstGeom prst="rect">
            <a:avLst/>
          </a:prstGeom>
          <a:noFill/>
        </p:spPr>
        <p:txBody>
          <a:bodyPr wrap="square" anchor="t" lIns="45720" rIns="45720">
            <a:spAutoFit/>
          </a:bodyPr>
          <a:lstStyle/>
          <a:p>
            <a:pPr algn="l"/>
            <a:r>
              <a:rPr sz="1300" b="0" i="0">
                <a:solidFill>
                  <a:srgbClr val="64748B"/>
                </a:solidFill>
                <a:latin typeface="Calibri"/>
              </a:rPr>
              <a:t>03/2013 – 02/2017</a:t>
            </a:r>
          </a:p>
        </p:txBody>
      </p:sp>
      <p:sp>
        <p:nvSpPr>
          <p:cNvPr id="14" name="Rounded Rectangle 13"/>
          <p:cNvSpPr/>
          <p:nvPr/>
        </p:nvSpPr>
        <p:spPr>
          <a:xfrm>
            <a:off x="8997696" y="1417320"/>
            <a:ext cx="2606040" cy="128016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80576" y="1527048"/>
            <a:ext cx="2240280" cy="777240"/>
          </a:xfrm>
          <a:prstGeom prst="rect">
            <a:avLst/>
          </a:prstGeom>
          <a:noFill/>
        </p:spPr>
        <p:txBody>
          <a:bodyPr wrap="square" anchor="t" lIns="45720" rIns="45720">
            <a:spAutoFit/>
          </a:bodyPr>
          <a:lstStyle/>
          <a:p>
            <a:pPr algn="l"/>
            <a:r>
              <a:rPr sz="4000" b="1" i="0">
                <a:solidFill>
                  <a:srgbClr val="1F2A37"/>
                </a:solidFill>
                <a:latin typeface="Cambria"/>
              </a:rPr>
              <a:t>12</a:t>
            </a:r>
          </a:p>
        </p:txBody>
      </p:sp>
      <p:sp>
        <p:nvSpPr>
          <p:cNvPr id="16" name="TextBox 15"/>
          <p:cNvSpPr txBox="1"/>
          <p:nvPr/>
        </p:nvSpPr>
        <p:spPr>
          <a:xfrm>
            <a:off x="9180576" y="2258568"/>
            <a:ext cx="2240280" cy="411480"/>
          </a:xfrm>
          <a:prstGeom prst="rect">
            <a:avLst/>
          </a:prstGeom>
          <a:noFill/>
        </p:spPr>
        <p:txBody>
          <a:bodyPr wrap="square" anchor="t" lIns="45720" rIns="45720">
            <a:spAutoFit/>
          </a:bodyPr>
          <a:lstStyle/>
          <a:p>
            <a:pPr algn="l"/>
            <a:r>
              <a:rPr sz="1300" b="0" i="0">
                <a:solidFill>
                  <a:srgbClr val="64748B"/>
                </a:solidFill>
                <a:latin typeface="Calibri"/>
              </a:rPr>
              <a:t>thuộc tính đo</a:t>
            </a:r>
          </a:p>
        </p:txBody>
      </p:sp>
      <p:sp>
        <p:nvSpPr>
          <p:cNvPr id="17" name="Rounded Rectangle 16"/>
          <p:cNvSpPr/>
          <p:nvPr/>
        </p:nvSpPr>
        <p:spPr>
          <a:xfrm>
            <a:off x="548640" y="2971800"/>
            <a:ext cx="5394960" cy="251460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108960"/>
            <a:ext cx="4937760" cy="457200"/>
          </a:xfrm>
          <a:prstGeom prst="rect">
            <a:avLst/>
          </a:prstGeom>
          <a:noFill/>
        </p:spPr>
        <p:txBody>
          <a:bodyPr wrap="square" anchor="t" lIns="45720" rIns="45720">
            <a:spAutoFit/>
          </a:bodyPr>
          <a:lstStyle/>
          <a:p>
            <a:pPr algn="l"/>
            <a:r>
              <a:rPr sz="1900" b="1" i="0">
                <a:solidFill>
                  <a:srgbClr val="0F766E"/>
                </a:solidFill>
                <a:latin typeface="Calibri"/>
              </a:rPr>
              <a:t>UCI Beijing Multi-Site Air Quality</a:t>
            </a:r>
          </a:p>
        </p:txBody>
      </p:sp>
      <p:sp>
        <p:nvSpPr>
          <p:cNvPr id="19" name="TextBox 18"/>
          <p:cNvSpPr txBox="1"/>
          <p:nvPr/>
        </p:nvSpPr>
        <p:spPr>
          <a:xfrm>
            <a:off x="822960" y="3611880"/>
            <a:ext cx="4937760" cy="2286000"/>
          </a:xfrm>
          <a:prstGeom prst="rect">
            <a:avLst/>
          </a:prstGeom>
          <a:noFill/>
        </p:spPr>
        <p:txBody>
          <a:bodyPr wrap="square">
            <a:spAutoFit/>
          </a:bodyPr>
          <a:lstStyle/>
          <a:p>
            <a:pPr>
              <a:spcAft>
                <a:spcPts val="800"/>
              </a:spcAft>
            </a:pPr>
            <a:r>
              <a:rPr sz="1600" b="1">
                <a:solidFill>
                  <a:srgbClr val="EA580C"/>
                </a:solidFill>
                <a:latin typeface="Calibri"/>
              </a:rPr>
              <a:t>▸  </a:t>
            </a:r>
            <a:r>
              <a:rPr sz="1600" b="0" i="0">
                <a:solidFill>
                  <a:srgbClr val="1F2A37"/>
                </a:solidFill>
                <a:latin typeface="Calibri"/>
              </a:rPr>
              <a:t>PM2.5, PM10, SO2, NO2, CO, O3 + 5 biến khí tượng + hướng gió</a:t>
            </a:r>
          </a:p>
          <a:p>
            <a:pPr>
              <a:spcAft>
                <a:spcPts val="800"/>
              </a:spcAft>
            </a:pPr>
            <a:r>
              <a:rPr sz="1600" b="1">
                <a:solidFill>
                  <a:srgbClr val="EA580C"/>
                </a:solidFill>
                <a:latin typeface="Calibri"/>
              </a:rPr>
              <a:t>▸  </a:t>
            </a:r>
            <a:r>
              <a:rPr sz="1600" b="0" i="0">
                <a:solidFill>
                  <a:srgbClr val="1F2A37"/>
                </a:solidFill>
                <a:latin typeface="Calibri"/>
              </a:rPr>
              <a:t>Chen, S. (2017) · DOI 10.24432/C5RK5G</a:t>
            </a:r>
          </a:p>
          <a:p>
            <a:pPr>
              <a:spcAft>
                <a:spcPts val="800"/>
              </a:spcAft>
            </a:pPr>
            <a:r>
              <a:rPr sz="1600" b="1">
                <a:solidFill>
                  <a:srgbClr val="EA580C"/>
                </a:solidFill>
                <a:latin typeface="Calibri"/>
              </a:rPr>
              <a:t>▸  </a:t>
            </a:r>
            <a:r>
              <a:rPr sz="1600" b="1" i="0">
                <a:solidFill>
                  <a:srgbClr val="1F2A37"/>
                </a:solidFill>
                <a:latin typeface="Calibri"/>
              </a:rPr>
              <a:t>Giấy phép CC BY 4.0</a:t>
            </a:r>
          </a:p>
        </p:txBody>
      </p:sp>
      <p:sp>
        <p:nvSpPr>
          <p:cNvPr id="20" name="Rounded Rectangle 19"/>
          <p:cNvSpPr/>
          <p:nvPr/>
        </p:nvSpPr>
        <p:spPr>
          <a:xfrm>
            <a:off x="6245352" y="2971800"/>
            <a:ext cx="5394960" cy="251460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19672" y="3108960"/>
            <a:ext cx="4937760" cy="457200"/>
          </a:xfrm>
          <a:prstGeom prst="rect">
            <a:avLst/>
          </a:prstGeom>
          <a:noFill/>
        </p:spPr>
        <p:txBody>
          <a:bodyPr wrap="square" anchor="t" lIns="45720" rIns="45720">
            <a:spAutoFit/>
          </a:bodyPr>
          <a:lstStyle/>
          <a:p>
            <a:pPr algn="l"/>
            <a:r>
              <a:rPr sz="1900" b="1" i="0">
                <a:solidFill>
                  <a:srgbClr val="0F766E"/>
                </a:solidFill>
                <a:latin typeface="Calibri"/>
              </a:rPr>
              <a:t>Open-Meteo Historical Weather</a:t>
            </a:r>
          </a:p>
        </p:txBody>
      </p:sp>
      <p:sp>
        <p:nvSpPr>
          <p:cNvPr id="22" name="TextBox 21"/>
          <p:cNvSpPr txBox="1"/>
          <p:nvPr/>
        </p:nvSpPr>
        <p:spPr>
          <a:xfrm>
            <a:off x="6519672" y="3611880"/>
            <a:ext cx="4937760" cy="2286000"/>
          </a:xfrm>
          <a:prstGeom prst="rect">
            <a:avLst/>
          </a:prstGeom>
          <a:noFill/>
        </p:spPr>
        <p:txBody>
          <a:bodyPr wrap="square">
            <a:spAutoFit/>
          </a:bodyPr>
          <a:lstStyle/>
          <a:p>
            <a:pPr>
              <a:spcAft>
                <a:spcPts val="800"/>
              </a:spcAft>
            </a:pPr>
            <a:r>
              <a:rPr sz="1600" b="1">
                <a:solidFill>
                  <a:srgbClr val="EA580C"/>
                </a:solidFill>
                <a:latin typeface="Calibri"/>
              </a:rPr>
              <a:t>▸  </a:t>
            </a:r>
            <a:r>
              <a:rPr sz="1600" b="0" i="0">
                <a:solidFill>
                  <a:srgbClr val="1F2A37"/>
                </a:solidFill>
                <a:latin typeface="Calibri"/>
              </a:rPr>
              <a:t>Lấp chỗ thiếu thời tiết + thêm độ che phủ mây</a:t>
            </a:r>
          </a:p>
          <a:p>
            <a:pPr>
              <a:spcAft>
                <a:spcPts val="800"/>
              </a:spcAft>
            </a:pPr>
            <a:r>
              <a:rPr sz="1600" b="1">
                <a:solidFill>
                  <a:srgbClr val="EA580C"/>
                </a:solidFill>
                <a:latin typeface="Calibri"/>
              </a:rPr>
              <a:t>▸  </a:t>
            </a:r>
            <a:r>
              <a:rPr sz="1600" b="0" i="0">
                <a:solidFill>
                  <a:srgbClr val="1F2A37"/>
                </a:solidFill>
                <a:latin typeface="Calibri"/>
              </a:rPr>
              <a:t>Tái phân tích ERA5, theo giờ, cùng 12 toạ độ</a:t>
            </a:r>
          </a:p>
          <a:p>
            <a:pPr>
              <a:spcAft>
                <a:spcPts val="800"/>
              </a:spcAft>
            </a:pPr>
            <a:r>
              <a:rPr sz="1600" b="1">
                <a:solidFill>
                  <a:srgbClr val="EA580C"/>
                </a:solidFill>
                <a:latin typeface="Calibri"/>
              </a:rPr>
              <a:t>▸  </a:t>
            </a:r>
            <a:r>
              <a:rPr sz="1600" b="1" i="0">
                <a:solidFill>
                  <a:srgbClr val="1F2A37"/>
                </a:solidFill>
                <a:latin typeface="Calibri"/>
              </a:rPr>
              <a:t>CC BY 4.0, phi thương mại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415" cy="868680"/>
          </a:xfrm>
        </p:spPr>
        <p:txBody>
          <a:bodyPr wrap="square" anchor="ctr"/>
          <a:lstStyle/>
          <a:p>
            <a:pPr algn="l"/>
            <a:r>
              <a:rPr sz="3400" b="1">
                <a:solidFill>
                  <a:srgbClr val="1F2A37"/>
                </a:solidFill>
                <a:latin typeface="Cambria"/>
              </a:rPr>
              <a:t>Làm sạch: giữ NULL cho chất ô nhiễm, lấp thời tiết</a:t>
            </a:r>
          </a:p>
        </p:txBody>
      </p:sp>
      <p:sp>
        <p:nvSpPr>
          <p:cNvPr id="3" name="TextBox 2"/>
          <p:cNvSpPr txBox="1"/>
          <p:nvPr/>
        </p:nvSpPr>
        <p:spPr>
          <a:xfrm>
            <a:off x="548640" y="109728"/>
            <a:ext cx="5486400" cy="274320"/>
          </a:xfrm>
          <a:prstGeom prst="rect">
            <a:avLst/>
          </a:prstGeom>
          <a:noFill/>
        </p:spPr>
        <p:txBody>
          <a:bodyPr wrap="square" anchor="t" lIns="45720" rIns="45720">
            <a:spAutoFit/>
          </a:bodyPr>
          <a:lstStyle/>
          <a:p>
            <a:pPr algn="l"/>
            <a:r>
              <a:rPr sz="1100" b="1" i="0">
                <a:solidFill>
                  <a:srgbClr val="64748B"/>
                </a:solidFill>
                <a:latin typeface="Calibri"/>
              </a:rPr>
              <a:t>2 · DỮ LIỆU</a:t>
            </a:r>
          </a:p>
        </p:txBody>
      </p:sp>
      <p:sp>
        <p:nvSpPr>
          <p:cNvPr id="4" name="TextBox 3"/>
          <p:cNvSpPr txBox="1"/>
          <p:nvPr/>
        </p:nvSpPr>
        <p:spPr>
          <a:xfrm>
            <a:off x="10271455" y="6446520"/>
            <a:ext cx="1371600" cy="274320"/>
          </a:xfrm>
          <a:prstGeom prst="rect">
            <a:avLst/>
          </a:prstGeom>
          <a:noFill/>
        </p:spPr>
        <p:txBody>
          <a:bodyPr wrap="square" anchor="t" lIns="45720" rIns="45720">
            <a:spAutoFit/>
          </a:bodyPr>
          <a:lstStyle/>
          <a:p>
            <a:pPr algn="r"/>
            <a:r>
              <a:rPr sz="1100" b="0" i="0">
                <a:solidFill>
                  <a:srgbClr val="64748B"/>
                </a:solidFill>
                <a:latin typeface="Calibri"/>
              </a:rPr>
              <a:t>4 / 15</a:t>
            </a:r>
          </a:p>
        </p:txBody>
      </p:sp>
      <p:graphicFrame>
        <p:nvGraphicFramePr>
          <p:cNvPr id="5" name="Chart 4"/>
          <p:cNvGraphicFramePr>
            <a:graphicFrameLocks noGrp="1"/>
          </p:cNvGraphicFramePr>
          <p:nvPr/>
        </p:nvGraphicFramePr>
        <p:xfrm>
          <a:off x="548640" y="1325880"/>
          <a:ext cx="5852160" cy="4846320"/>
        </p:xfrm>
        <a:graphic>
          <a:graphicData uri="http://schemas.openxmlformats.org/drawingml/2006/chart">
            <c:chart xmlns:c="http://schemas.openxmlformats.org/drawingml/2006/chart" r:id="rId3"/>
          </a:graphicData>
        </a:graphic>
      </p:graphicFrame>
      <p:sp>
        <p:nvSpPr>
          <p:cNvPr id="6" name="TextBox 5"/>
          <p:cNvSpPr txBox="1"/>
          <p:nvPr/>
        </p:nvSpPr>
        <p:spPr>
          <a:xfrm>
            <a:off x="6675120" y="1463040"/>
            <a:ext cx="4937760" cy="4572000"/>
          </a:xfrm>
          <a:prstGeom prst="rect">
            <a:avLst/>
          </a:prstGeom>
          <a:noFill/>
        </p:spPr>
        <p:txBody>
          <a:bodyPr wrap="square">
            <a:spAutoFit/>
          </a:bodyPr>
          <a:lstStyle/>
          <a:p>
            <a:pPr>
              <a:spcAft>
                <a:spcPts val="1200"/>
              </a:spcAft>
            </a:pPr>
            <a:r>
              <a:rPr sz="1600" b="1">
                <a:solidFill>
                  <a:srgbClr val="EA580C"/>
                </a:solidFill>
                <a:latin typeface="Calibri"/>
              </a:rPr>
              <a:t>▸  </a:t>
            </a:r>
            <a:r>
              <a:rPr sz="1600" b="1" i="0">
                <a:solidFill>
                  <a:srgbClr val="1F2A37"/>
                </a:solidFill>
                <a:latin typeface="Calibri"/>
              </a:rPr>
              <a:t>Chất ô nhiễm: </a:t>
            </a:r>
            <a:r>
              <a:rPr sz="1600" b="0" i="0">
                <a:solidFill>
                  <a:srgbClr val="1F2A37"/>
                </a:solidFill>
                <a:latin typeface="Calibri"/>
              </a:rPr>
              <a:t>giữ NULL + cờ chất lượng; chuỗi thiếu dài tới 343–1 517 giờ, không nội suy</a:t>
            </a:r>
          </a:p>
          <a:p>
            <a:pPr>
              <a:spcAft>
                <a:spcPts val="1200"/>
              </a:spcAft>
            </a:pPr>
            <a:r>
              <a:rPr sz="1600" b="1">
                <a:solidFill>
                  <a:srgbClr val="EA580C"/>
                </a:solidFill>
                <a:latin typeface="Calibri"/>
              </a:rPr>
              <a:t>▸  </a:t>
            </a:r>
            <a:r>
              <a:rPr sz="1600" b="1" i="0">
                <a:solidFill>
                  <a:srgbClr val="1F2A37"/>
                </a:solidFill>
                <a:latin typeface="Calibri"/>
              </a:rPr>
              <a:t>Thời tiết, hướng gió: </a:t>
            </a:r>
            <a:r>
              <a:rPr sz="1600" b="0" i="0">
                <a:solidFill>
                  <a:srgbClr val="1F2A37"/>
                </a:solidFill>
                <a:latin typeface="Calibri"/>
              </a:rPr>
              <a:t>lấp từ Open-Meteo, ghi nguồn; còn 0 ô thiếu</a:t>
            </a:r>
          </a:p>
          <a:p>
            <a:pPr>
              <a:spcAft>
                <a:spcPts val="1200"/>
              </a:spcAft>
            </a:pPr>
            <a:r>
              <a:rPr sz="1600" b="1">
                <a:solidFill>
                  <a:srgbClr val="EA580C"/>
                </a:solidFill>
                <a:latin typeface="Calibri"/>
              </a:rPr>
              <a:t>▸  </a:t>
            </a:r>
            <a:r>
              <a:rPr sz="1600" b="1" i="0">
                <a:solidFill>
                  <a:srgbClr val="1F2A37"/>
                </a:solidFill>
                <a:latin typeface="Calibri"/>
              </a:rPr>
              <a:t>Trần thiết bị </a:t>
            </a:r>
            <a:r>
              <a:rPr sz="1600" b="0" i="0">
                <a:solidFill>
                  <a:srgbClr val="1F2A37"/>
                </a:solidFill>
                <a:latin typeface="Calibri"/>
              </a:rPr>
              <a:t>(999, 10 000): giữ lại, gắn cờ SUSPECT_CAP (60 dòng)</a:t>
            </a:r>
          </a:p>
          <a:p>
            <a:pPr>
              <a:spcAft>
                <a:spcPts val="1200"/>
              </a:spcAft>
            </a:pPr>
            <a:r>
              <a:rPr sz="1600" b="1">
                <a:solidFill>
                  <a:srgbClr val="EA580C"/>
                </a:solidFill>
                <a:latin typeface="Calibri"/>
              </a:rPr>
              <a:t>▸  </a:t>
            </a:r>
            <a:r>
              <a:rPr sz="1600" b="1" i="0">
                <a:solidFill>
                  <a:srgbClr val="1F2A37"/>
                </a:solidFill>
                <a:latin typeface="Calibri"/>
              </a:rPr>
              <a:t>Rời rạc hoá: </a:t>
            </a:r>
            <a:r>
              <a:rPr sz="1600" b="0" i="0">
                <a:solidFill>
                  <a:srgbClr val="1F2A37"/>
                </a:solidFill>
                <a:latin typeface="Calibri"/>
              </a:rPr>
              <a:t>giờ → buổi · ngày → mùa · 16 hướng → 4 phần tư → bắc/nam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415" cy="868680"/>
          </a:xfrm>
        </p:spPr>
        <p:txBody>
          <a:bodyPr wrap="square" anchor="ctr"/>
          <a:lstStyle/>
          <a:p>
            <a:pPr algn="l"/>
            <a:r>
              <a:rPr sz="3400" b="1">
                <a:solidFill>
                  <a:srgbClr val="1F2A37"/>
                </a:solidFill>
                <a:latin typeface="Cambria"/>
              </a:rPr>
              <a:t>Toàn bộ chuỗi chạy lại được bằng một lệnh</a:t>
            </a:r>
          </a:p>
        </p:txBody>
      </p:sp>
      <p:sp>
        <p:nvSpPr>
          <p:cNvPr id="3" name="TextBox 2"/>
          <p:cNvSpPr txBox="1"/>
          <p:nvPr/>
        </p:nvSpPr>
        <p:spPr>
          <a:xfrm>
            <a:off x="548640" y="109728"/>
            <a:ext cx="5486400" cy="274320"/>
          </a:xfrm>
          <a:prstGeom prst="rect">
            <a:avLst/>
          </a:prstGeom>
          <a:noFill/>
        </p:spPr>
        <p:txBody>
          <a:bodyPr wrap="square" anchor="t" lIns="45720" rIns="45720">
            <a:spAutoFit/>
          </a:bodyPr>
          <a:lstStyle/>
          <a:p>
            <a:pPr algn="l"/>
            <a:r>
              <a:rPr sz="1100" b="1" i="0">
                <a:solidFill>
                  <a:srgbClr val="64748B"/>
                </a:solidFill>
                <a:latin typeface="Calibri"/>
              </a:rPr>
              <a:t>2 · DỮ LIỆU</a:t>
            </a:r>
          </a:p>
        </p:txBody>
      </p:sp>
      <p:sp>
        <p:nvSpPr>
          <p:cNvPr id="4" name="TextBox 3"/>
          <p:cNvSpPr txBox="1"/>
          <p:nvPr/>
        </p:nvSpPr>
        <p:spPr>
          <a:xfrm>
            <a:off x="10271455" y="6446520"/>
            <a:ext cx="1371600" cy="274320"/>
          </a:xfrm>
          <a:prstGeom prst="rect">
            <a:avLst/>
          </a:prstGeom>
          <a:noFill/>
        </p:spPr>
        <p:txBody>
          <a:bodyPr wrap="square" anchor="t" lIns="45720" rIns="45720">
            <a:spAutoFit/>
          </a:bodyPr>
          <a:lstStyle/>
          <a:p>
            <a:pPr algn="r"/>
            <a:r>
              <a:rPr sz="1100" b="0" i="0">
                <a:solidFill>
                  <a:srgbClr val="64748B"/>
                </a:solidFill>
                <a:latin typeface="Calibri"/>
              </a:rPr>
              <a:t>5 / 15</a:t>
            </a:r>
          </a:p>
        </p:txBody>
      </p:sp>
      <p:pic>
        <p:nvPicPr>
          <p:cNvPr id="5" name="Picture 4" descr="architecture.png"/>
          <p:cNvPicPr>
            <a:picLocks noChangeAspect="1"/>
          </p:cNvPicPr>
          <p:nvPr/>
        </p:nvPicPr>
        <p:blipFill>
          <a:blip r:embed="rId3"/>
          <a:stretch>
            <a:fillRect/>
          </a:stretch>
        </p:blipFill>
        <p:spPr>
          <a:xfrm>
            <a:off x="548640" y="1325880"/>
            <a:ext cx="11064240" cy="3900174"/>
          </a:xfrm>
          <a:prstGeom prst="rect">
            <a:avLst/>
          </a:prstGeom>
        </p:spPr>
      </p:pic>
      <p:sp>
        <p:nvSpPr>
          <p:cNvPr id="6" name="Rounded Rectangle 5"/>
          <p:cNvSpPr/>
          <p:nvPr/>
        </p:nvSpPr>
        <p:spPr>
          <a:xfrm>
            <a:off x="548640" y="5257800"/>
            <a:ext cx="4937760" cy="868680"/>
          </a:xfrm>
          <a:prstGeom prst="roundRect">
            <a:avLst>
              <a:gd name="adj" fmla="val 6000"/>
            </a:avLst>
          </a:prstGeom>
          <a:solidFill>
            <a:srgbClr val="1F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5349240"/>
            <a:ext cx="4572000" cy="685800"/>
          </a:xfrm>
          <a:prstGeom prst="rect">
            <a:avLst/>
          </a:prstGeom>
          <a:noFill/>
        </p:spPr>
        <p:txBody>
          <a:bodyPr wrap="square" anchor="ctr" lIns="45720" rIns="45720">
            <a:spAutoFit/>
          </a:bodyPr>
          <a:lstStyle/>
          <a:p>
            <a:pPr algn="l"/>
            <a:r>
              <a:rPr sz="2000" b="1" i="0">
                <a:solidFill>
                  <a:srgbClr val="FFFFFF"/>
                </a:solidFill>
                <a:latin typeface="Courier New"/>
              </a:rPr>
              <a:t>python scripts/run_all.py</a:t>
            </a:r>
          </a:p>
        </p:txBody>
      </p:sp>
      <p:sp>
        <p:nvSpPr>
          <p:cNvPr id="8" name="TextBox 7"/>
          <p:cNvSpPr txBox="1"/>
          <p:nvPr/>
        </p:nvSpPr>
        <p:spPr>
          <a:xfrm>
            <a:off x="5577840" y="5349240"/>
            <a:ext cx="6035040" cy="685800"/>
          </a:xfrm>
          <a:prstGeom prst="rect">
            <a:avLst/>
          </a:prstGeom>
          <a:noFill/>
        </p:spPr>
        <p:txBody>
          <a:bodyPr wrap="square" anchor="ctr" lIns="45720" rIns="45720">
            <a:spAutoFit/>
          </a:bodyPr>
          <a:lstStyle/>
          <a:p>
            <a:pPr algn="l"/>
            <a:r>
              <a:rPr sz="1700" b="0" i="0">
                <a:solidFill>
                  <a:srgbClr val="1F2A37"/>
                </a:solidFill>
                <a:latin typeface="Calibri"/>
              </a:rPr>
              <a:t>14/14 bước · 11,2 phút từ trạng thái trống · 130/130 dbt test pass · idempotent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415" cy="868680"/>
          </a:xfrm>
        </p:spPr>
        <p:txBody>
          <a:bodyPr wrap="square" anchor="ctr"/>
          <a:lstStyle/>
          <a:p>
            <a:pPr algn="l"/>
            <a:r>
              <a:rPr sz="3400" b="1">
                <a:solidFill>
                  <a:srgbClr val="1F2A37"/>
                </a:solidFill>
                <a:latin typeface="Cambria"/>
              </a:rPr>
              <a:t>Lược đồ hình sao: độ mịn trạm × giờ, 4 chiều</a:t>
            </a:r>
          </a:p>
        </p:txBody>
      </p:sp>
      <p:sp>
        <p:nvSpPr>
          <p:cNvPr id="3" name="TextBox 2"/>
          <p:cNvSpPr txBox="1"/>
          <p:nvPr/>
        </p:nvSpPr>
        <p:spPr>
          <a:xfrm>
            <a:off x="548640" y="109728"/>
            <a:ext cx="5486400" cy="274320"/>
          </a:xfrm>
          <a:prstGeom prst="rect">
            <a:avLst/>
          </a:prstGeom>
          <a:noFill/>
        </p:spPr>
        <p:txBody>
          <a:bodyPr wrap="square" anchor="t" lIns="45720" rIns="45720">
            <a:spAutoFit/>
          </a:bodyPr>
          <a:lstStyle/>
          <a:p>
            <a:pPr algn="l"/>
            <a:r>
              <a:rPr sz="1100" b="1" i="0">
                <a:solidFill>
                  <a:srgbClr val="64748B"/>
                </a:solidFill>
                <a:latin typeface="Calibri"/>
              </a:rPr>
              <a:t>3 · KHO DỮ LIỆU &amp; OLAP</a:t>
            </a:r>
          </a:p>
        </p:txBody>
      </p:sp>
      <p:sp>
        <p:nvSpPr>
          <p:cNvPr id="4" name="TextBox 3"/>
          <p:cNvSpPr txBox="1"/>
          <p:nvPr/>
        </p:nvSpPr>
        <p:spPr>
          <a:xfrm>
            <a:off x="10271455" y="6446520"/>
            <a:ext cx="1371600" cy="274320"/>
          </a:xfrm>
          <a:prstGeom prst="rect">
            <a:avLst/>
          </a:prstGeom>
          <a:noFill/>
        </p:spPr>
        <p:txBody>
          <a:bodyPr wrap="square" anchor="t" lIns="45720" rIns="45720">
            <a:spAutoFit/>
          </a:bodyPr>
          <a:lstStyle/>
          <a:p>
            <a:pPr algn="r"/>
            <a:r>
              <a:rPr sz="1100" b="0" i="0">
                <a:solidFill>
                  <a:srgbClr val="64748B"/>
                </a:solidFill>
                <a:latin typeface="Calibri"/>
              </a:rPr>
              <a:t>6 / 15</a:t>
            </a:r>
          </a:p>
        </p:txBody>
      </p:sp>
      <p:pic>
        <p:nvPicPr>
          <p:cNvPr id="5" name="Picture 4" descr="star_schema.png"/>
          <p:cNvPicPr>
            <a:picLocks noChangeAspect="1"/>
          </p:cNvPicPr>
          <p:nvPr/>
        </p:nvPicPr>
        <p:blipFill>
          <a:blip r:embed="rId3"/>
          <a:stretch>
            <a:fillRect/>
          </a:stretch>
        </p:blipFill>
        <p:spPr>
          <a:xfrm>
            <a:off x="548640" y="1280160"/>
            <a:ext cx="7940958" cy="4846320"/>
          </a:xfrm>
          <a:prstGeom prst="rect">
            <a:avLst/>
          </a:prstGeom>
        </p:spPr>
      </p:pic>
      <p:sp>
        <p:nvSpPr>
          <p:cNvPr id="6" name="TextBox 5"/>
          <p:cNvSpPr txBox="1"/>
          <p:nvPr/>
        </p:nvSpPr>
        <p:spPr>
          <a:xfrm>
            <a:off x="8549640" y="1463040"/>
            <a:ext cx="3108960" cy="4572000"/>
          </a:xfrm>
          <a:prstGeom prst="rect">
            <a:avLst/>
          </a:prstGeom>
          <a:noFill/>
        </p:spPr>
        <p:txBody>
          <a:bodyPr wrap="square">
            <a:spAutoFit/>
          </a:bodyPr>
          <a:lstStyle/>
          <a:p>
            <a:pPr>
              <a:spcAft>
                <a:spcPts val="1400"/>
              </a:spcAft>
            </a:pPr>
            <a:r>
              <a:rPr sz="1500" b="1">
                <a:solidFill>
                  <a:srgbClr val="EA580C"/>
                </a:solidFill>
                <a:latin typeface="Calibri"/>
              </a:rPr>
              <a:t>▸  </a:t>
            </a:r>
            <a:r>
              <a:rPr sz="1500" b="1" i="0">
                <a:solidFill>
                  <a:srgbClr val="1F2A37"/>
                </a:solidFill>
                <a:latin typeface="Calibri"/>
              </a:rPr>
              <a:t>Độ mịn trạm × giờ: </a:t>
            </a:r>
            <a:r>
              <a:rPr sz="1500" b="0" i="0">
                <a:solidFill>
                  <a:srgbClr val="1F2A37"/>
                </a:solidFill>
                <a:latin typeface="Calibri"/>
              </a:rPr>
              <a:t>độ mịn gốc, cuộn lên được mọi mức</a:t>
            </a:r>
          </a:p>
          <a:p>
            <a:pPr>
              <a:spcAft>
                <a:spcPts val="1400"/>
              </a:spcAft>
            </a:pPr>
            <a:r>
              <a:rPr sz="1500" b="1">
                <a:solidFill>
                  <a:srgbClr val="EA580C"/>
                </a:solidFill>
                <a:latin typeface="Calibri"/>
              </a:rPr>
              <a:t>▸  </a:t>
            </a:r>
            <a:r>
              <a:rPr sz="1500" b="1" i="0">
                <a:solidFill>
                  <a:srgbClr val="1F2A37"/>
                </a:solidFill>
                <a:latin typeface="Calibri"/>
              </a:rPr>
              <a:t>4 phân cấp: </a:t>
            </a:r>
            <a:r>
              <a:rPr sz="1500" b="0" i="0">
                <a:solidFill>
                  <a:srgbClr val="1F2A37"/>
                </a:solidFill>
                <a:latin typeface="Calibri"/>
              </a:rPr>
              <a:t>ngày→tháng→quý→năm · giờ→buổi · trạm→quận · hướng→phần tư→bắc/nam</a:t>
            </a:r>
          </a:p>
          <a:p>
            <a:pPr>
              <a:spcAft>
                <a:spcPts val="1400"/>
              </a:spcAft>
            </a:pPr>
            <a:r>
              <a:rPr sz="1500" b="1">
                <a:solidFill>
                  <a:srgbClr val="EA580C"/>
                </a:solidFill>
                <a:latin typeface="Calibri"/>
              </a:rPr>
              <a:t>▸  </a:t>
            </a:r>
            <a:r>
              <a:rPr sz="1500" b="1" i="0">
                <a:solidFill>
                  <a:srgbClr val="1F2A37"/>
                </a:solidFill>
                <a:latin typeface="Calibri"/>
              </a:rPr>
              <a:t>Số khối con: </a:t>
            </a:r>
            <a:r>
              <a:rPr sz="1500" b="0" i="0">
                <a:solidFill>
                  <a:srgbClr val="1F2A37"/>
                </a:solidFill>
                <a:latin typeface="Calibri"/>
              </a:rPr>
              <a:t>T = 5·3·3·4 = 180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415" cy="868680"/>
          </a:xfrm>
        </p:spPr>
        <p:txBody>
          <a:bodyPr wrap="square" anchor="ctr"/>
          <a:lstStyle/>
          <a:p>
            <a:pPr algn="l"/>
            <a:r>
              <a:rPr sz="3400" b="1">
                <a:solidFill>
                  <a:srgbClr val="1F2A37"/>
                </a:solidFill>
                <a:latin typeface="Cambria"/>
              </a:rPr>
              <a:t>Ba khối tính trước, kiểm chứng 100% ô</a:t>
            </a:r>
          </a:p>
        </p:txBody>
      </p:sp>
      <p:sp>
        <p:nvSpPr>
          <p:cNvPr id="3" name="TextBox 2"/>
          <p:cNvSpPr txBox="1"/>
          <p:nvPr/>
        </p:nvSpPr>
        <p:spPr>
          <a:xfrm>
            <a:off x="548640" y="109728"/>
            <a:ext cx="5486400" cy="274320"/>
          </a:xfrm>
          <a:prstGeom prst="rect">
            <a:avLst/>
          </a:prstGeom>
          <a:noFill/>
        </p:spPr>
        <p:txBody>
          <a:bodyPr wrap="square" anchor="t" lIns="45720" rIns="45720">
            <a:spAutoFit/>
          </a:bodyPr>
          <a:lstStyle/>
          <a:p>
            <a:pPr algn="l"/>
            <a:r>
              <a:rPr sz="1100" b="1" i="0">
                <a:solidFill>
                  <a:srgbClr val="64748B"/>
                </a:solidFill>
                <a:latin typeface="Calibri"/>
              </a:rPr>
              <a:t>3 · KHO DỮ LIỆU &amp; OLAP</a:t>
            </a:r>
          </a:p>
        </p:txBody>
      </p:sp>
      <p:sp>
        <p:nvSpPr>
          <p:cNvPr id="4" name="TextBox 3"/>
          <p:cNvSpPr txBox="1"/>
          <p:nvPr/>
        </p:nvSpPr>
        <p:spPr>
          <a:xfrm>
            <a:off x="10271455" y="6446520"/>
            <a:ext cx="1371600" cy="274320"/>
          </a:xfrm>
          <a:prstGeom prst="rect">
            <a:avLst/>
          </a:prstGeom>
          <a:noFill/>
        </p:spPr>
        <p:txBody>
          <a:bodyPr wrap="square" anchor="t" lIns="45720" rIns="45720">
            <a:spAutoFit/>
          </a:bodyPr>
          <a:lstStyle/>
          <a:p>
            <a:pPr algn="r"/>
            <a:r>
              <a:rPr sz="1100" b="0" i="0">
                <a:solidFill>
                  <a:srgbClr val="64748B"/>
                </a:solidFill>
                <a:latin typeface="Calibri"/>
              </a:rPr>
              <a:t>7 / 15</a:t>
            </a:r>
          </a:p>
        </p:txBody>
      </p:sp>
      <p:graphicFrame>
        <p:nvGraphicFramePr>
          <p:cNvPr id="5" name="Table 4"/>
          <p:cNvGraphicFramePr>
            <a:graphicFrameLocks noGrp="1"/>
          </p:cNvGraphicFramePr>
          <p:nvPr/>
        </p:nvGraphicFramePr>
        <p:xfrm>
          <a:off x="548640" y="1417320"/>
          <a:ext cx="7498080" cy="2926080"/>
        </p:xfrm>
        <a:graphic>
          <a:graphicData uri="http://schemas.openxmlformats.org/drawingml/2006/table">
            <a:tbl>
              <a:tblPr firstRow="1" bandRow="1">
                <a:tableStyleId>{5C22544A-7EE6-4342-B048-85BDC9FD1C3A}</a:tableStyleId>
              </a:tblPr>
              <a:tblGrid>
                <a:gridCol w="2103120"/>
                <a:gridCol w="2468880"/>
                <a:gridCol w="1280160"/>
                <a:gridCol w="1645920"/>
              </a:tblGrid>
              <a:tr h="731520">
                <a:tc>
                  <a:txBody>
                    <a:bodyPr/>
                    <a:lstStyle/>
                    <a:p>
                      <a:r>
                        <a:rPr sz="1400" b="1">
                          <a:solidFill>
                            <a:srgbClr val="FFFFFF"/>
                          </a:solidFill>
                          <a:latin typeface="Calibri"/>
                        </a:rPr>
                        <a:t>Khối</a:t>
                      </a:r>
                    </a:p>
                  </a:txBody>
                  <a:tcPr>
                    <a:solidFill>
                      <a:srgbClr val="1F2A37"/>
                    </a:solidFill>
                  </a:tcPr>
                </a:tc>
                <a:tc>
                  <a:txBody>
                    <a:bodyPr/>
                    <a:lstStyle/>
                    <a:p>
                      <a:r>
                        <a:rPr sz="1400" b="1">
                          <a:solidFill>
                            <a:srgbClr val="FFFFFF"/>
                          </a:solidFill>
                          <a:latin typeface="Calibri"/>
                        </a:rPr>
                        <a:t>Khối con</a:t>
                      </a:r>
                    </a:p>
                  </a:txBody>
                  <a:tcPr>
                    <a:solidFill>
                      <a:srgbClr val="1F2A37"/>
                    </a:solidFill>
                  </a:tcPr>
                </a:tc>
                <a:tc>
                  <a:txBody>
                    <a:bodyPr/>
                    <a:lstStyle/>
                    <a:p>
                      <a:r>
                        <a:rPr sz="1400" b="1">
                          <a:solidFill>
                            <a:srgbClr val="FFFFFF"/>
                          </a:solidFill>
                          <a:latin typeface="Calibri"/>
                        </a:rPr>
                        <a:t>Số ô</a:t>
                      </a:r>
                    </a:p>
                  </a:txBody>
                  <a:tcPr>
                    <a:solidFill>
                      <a:srgbClr val="1F2A37"/>
                    </a:solidFill>
                  </a:tcPr>
                </a:tc>
                <a:tc>
                  <a:txBody>
                    <a:bodyPr/>
                    <a:lstStyle/>
                    <a:p>
                      <a:r>
                        <a:rPr sz="1400" b="1">
                          <a:solidFill>
                            <a:srgbClr val="FFFFFF"/>
                          </a:solidFill>
                          <a:latin typeface="Calibri"/>
                        </a:rPr>
                        <a:t>Vì sao chọn</a:t>
                      </a:r>
                    </a:p>
                  </a:txBody>
                  <a:tcPr>
                    <a:solidFill>
                      <a:srgbClr val="1F2A37"/>
                    </a:solidFill>
                  </a:tcPr>
                </a:tc>
              </a:tr>
              <a:tr h="731520">
                <a:tc>
                  <a:txBody>
                    <a:bodyPr/>
                    <a:lstStyle/>
                    <a:p>
                      <a:r>
                        <a:rPr sz="1300" b="0">
                          <a:solidFill>
                            <a:srgbClr val="1F2A37"/>
                          </a:solidFill>
                          <a:latin typeface="Calibri"/>
                        </a:rPr>
                        <a:t>mart_station_daily</a:t>
                      </a:r>
                    </a:p>
                  </a:txBody>
                  <a:tcPr>
                    <a:solidFill>
                      <a:srgbClr val="F1F5F9"/>
                    </a:solidFill>
                  </a:tcPr>
                </a:tc>
                <a:tc>
                  <a:txBody>
                    <a:bodyPr/>
                    <a:lstStyle/>
                    <a:p>
                      <a:r>
                        <a:rPr sz="1300" b="0">
                          <a:solidFill>
                            <a:srgbClr val="1F2A37"/>
                          </a:solidFill>
                          <a:latin typeface="Calibri"/>
                        </a:rPr>
                        <a:t>(trạm, ngày)</a:t>
                      </a:r>
                    </a:p>
                  </a:txBody>
                  <a:tcPr>
                    <a:solidFill>
                      <a:srgbClr val="F1F5F9"/>
                    </a:solidFill>
                  </a:tcPr>
                </a:tc>
                <a:tc>
                  <a:txBody>
                    <a:bodyPr/>
                    <a:lstStyle/>
                    <a:p>
                      <a:r>
                        <a:rPr sz="1300" b="0">
                          <a:solidFill>
                            <a:srgbClr val="1F2A37"/>
                          </a:solidFill>
                          <a:latin typeface="Calibri"/>
                        </a:rPr>
                        <a:t>17 532</a:t>
                      </a:r>
                    </a:p>
                  </a:txBody>
                  <a:tcPr>
                    <a:solidFill>
                      <a:srgbClr val="F1F5F9"/>
                    </a:solidFill>
                  </a:tcPr>
                </a:tc>
                <a:tc>
                  <a:txBody>
                    <a:bodyPr/>
                    <a:lstStyle/>
                    <a:p>
                      <a:r>
                        <a:rPr sz="1300" b="0">
                          <a:solidFill>
                            <a:srgbClr val="1F2A37"/>
                          </a:solidFill>
                          <a:latin typeface="Calibri"/>
                        </a:rPr>
                        <a:t>dashboard xu hướng; nhỏ hơn fact 24 lần</a:t>
                      </a:r>
                    </a:p>
                  </a:txBody>
                  <a:tcPr>
                    <a:solidFill>
                      <a:srgbClr val="F1F5F9"/>
                    </a:solidFill>
                  </a:tcPr>
                </a:tc>
              </a:tr>
              <a:tr h="731520">
                <a:tc>
                  <a:txBody>
                    <a:bodyPr/>
                    <a:lstStyle/>
                    <a:p>
                      <a:r>
                        <a:rPr sz="1300" b="0">
                          <a:solidFill>
                            <a:srgbClr val="1F2A37"/>
                          </a:solidFill>
                          <a:latin typeface="Calibri"/>
                        </a:rPr>
                        <a:t>mart_station_monthly</a:t>
                      </a:r>
                    </a:p>
                  </a:txBody>
                  <a:tcPr>
                    <a:solidFill>
                      <a:srgbClr val="FFFFFF"/>
                    </a:solidFill>
                  </a:tcPr>
                </a:tc>
                <a:tc>
                  <a:txBody>
                    <a:bodyPr/>
                    <a:lstStyle/>
                    <a:p>
                      <a:r>
                        <a:rPr sz="1300" b="0">
                          <a:solidFill>
                            <a:srgbClr val="1F2A37"/>
                          </a:solidFill>
                          <a:latin typeface="Calibri"/>
                        </a:rPr>
                        <a:t>(trạm, tháng)</a:t>
                      </a:r>
                    </a:p>
                  </a:txBody>
                  <a:tcPr>
                    <a:solidFill>
                      <a:srgbClr val="FFFFFF"/>
                    </a:solidFill>
                  </a:tcPr>
                </a:tc>
                <a:tc>
                  <a:txBody>
                    <a:bodyPr/>
                    <a:lstStyle/>
                    <a:p>
                      <a:r>
                        <a:rPr sz="1300" b="0">
                          <a:solidFill>
                            <a:srgbClr val="1F2A37"/>
                          </a:solidFill>
                          <a:latin typeface="Calibri"/>
                        </a:rPr>
                        <a:t>576</a:t>
                      </a:r>
                    </a:p>
                  </a:txBody>
                  <a:tcPr>
                    <a:solidFill>
                      <a:srgbClr val="FFFFFF"/>
                    </a:solidFill>
                  </a:tcPr>
                </a:tc>
                <a:tc>
                  <a:txBody>
                    <a:bodyPr/>
                    <a:lstStyle/>
                    <a:p>
                      <a:r>
                        <a:rPr sz="1300" b="0">
                          <a:solidFill>
                            <a:srgbClr val="1F2A37"/>
                          </a:solidFill>
                          <a:latin typeface="Calibri"/>
                        </a:rPr>
                        <a:t>báo cáo tháng/mùa; nhỏ hơn fact 730 lần</a:t>
                      </a:r>
                    </a:p>
                  </a:txBody>
                  <a:tcPr>
                    <a:solidFill>
                      <a:srgbClr val="FFFFFF"/>
                    </a:solidFill>
                  </a:tcPr>
                </a:tc>
              </a:tr>
              <a:tr h="731520">
                <a:tc>
                  <a:txBody>
                    <a:bodyPr/>
                    <a:lstStyle/>
                    <a:p>
                      <a:r>
                        <a:rPr sz="1300" b="0">
                          <a:solidFill>
                            <a:srgbClr val="1F2A37"/>
                          </a:solidFill>
                          <a:latin typeface="Calibri"/>
                        </a:rPr>
                        <a:t>mart_olap_cube</a:t>
                      </a:r>
                    </a:p>
                  </a:txBody>
                  <a:tcPr>
                    <a:solidFill>
                      <a:srgbClr val="F1F5F9"/>
                    </a:solidFill>
                  </a:tcPr>
                </a:tc>
                <a:tc>
                  <a:txBody>
                    <a:bodyPr/>
                    <a:lstStyle/>
                    <a:p>
                      <a:r>
                        <a:rPr sz="1300" b="0">
                          <a:solidFill>
                            <a:srgbClr val="1F2A37"/>
                          </a:solidFill>
                          <a:latin typeface="Calibri"/>
                        </a:rPr>
                        <a:t>CUBE(năm, mùa, quận, buổi, hướng gió)</a:t>
                      </a:r>
                    </a:p>
                  </a:txBody>
                  <a:tcPr>
                    <a:solidFill>
                      <a:srgbClr val="F1F5F9"/>
                    </a:solidFill>
                  </a:tcPr>
                </a:tc>
                <a:tc>
                  <a:txBody>
                    <a:bodyPr/>
                    <a:lstStyle/>
                    <a:p>
                      <a:r>
                        <a:rPr sz="1300" b="0">
                          <a:solidFill>
                            <a:srgbClr val="1F2A37"/>
                          </a:solidFill>
                          <a:latin typeface="Calibri"/>
                        </a:rPr>
                        <a:t>6 075 · 32 khối</a:t>
                      </a:r>
                    </a:p>
                  </a:txBody>
                  <a:tcPr>
                    <a:solidFill>
                      <a:srgbClr val="F1F5F9"/>
                    </a:solidFill>
                  </a:tcPr>
                </a:tc>
                <a:tc>
                  <a:txBody>
                    <a:bodyPr/>
                    <a:lstStyle/>
                    <a:p>
                      <a:r>
                        <a:rPr sz="1300" b="0">
                          <a:solidFill>
                            <a:srgbClr val="1F2A37"/>
                          </a:solidFill>
                          <a:latin typeface="Calibri"/>
                        </a:rPr>
                        <a:t>trang OLAP đọc trong vài ms</a:t>
                      </a:r>
                    </a:p>
                  </a:txBody>
                  <a:tcPr>
                    <a:solidFill>
                      <a:srgbClr val="F1F5F9"/>
                    </a:solidFill>
                  </a:tcPr>
                </a:tc>
              </a:tr>
            </a:tbl>
          </a:graphicData>
        </a:graphic>
      </p:graphicFrame>
      <p:sp>
        <p:nvSpPr>
          <p:cNvPr id="6" name="Rounded Rectangle 5"/>
          <p:cNvSpPr/>
          <p:nvPr/>
        </p:nvSpPr>
        <p:spPr>
          <a:xfrm>
            <a:off x="8321040" y="1417320"/>
            <a:ext cx="3319272" cy="1737360"/>
          </a:xfrm>
          <a:prstGeom prst="roundRect">
            <a:avLst>
              <a:gd name="adj" fmla="val 6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0" y="1527048"/>
            <a:ext cx="2953512" cy="777240"/>
          </a:xfrm>
          <a:prstGeom prst="rect">
            <a:avLst/>
          </a:prstGeom>
          <a:noFill/>
        </p:spPr>
        <p:txBody>
          <a:bodyPr wrap="square" anchor="t" lIns="45720" rIns="45720">
            <a:spAutoFit/>
          </a:bodyPr>
          <a:lstStyle/>
          <a:p>
            <a:pPr algn="l"/>
            <a:r>
              <a:rPr sz="4800" b="1" i="0">
                <a:solidFill>
                  <a:srgbClr val="0F766E"/>
                </a:solidFill>
                <a:latin typeface="Cambria"/>
              </a:rPr>
              <a:t>100%</a:t>
            </a:r>
          </a:p>
        </p:txBody>
      </p:sp>
      <p:sp>
        <p:nvSpPr>
          <p:cNvPr id="8" name="TextBox 7"/>
          <p:cNvSpPr txBox="1"/>
          <p:nvPr/>
        </p:nvSpPr>
        <p:spPr>
          <a:xfrm>
            <a:off x="8503920" y="2258568"/>
            <a:ext cx="2953512" cy="868680"/>
          </a:xfrm>
          <a:prstGeom prst="rect">
            <a:avLst/>
          </a:prstGeom>
          <a:noFill/>
        </p:spPr>
        <p:txBody>
          <a:bodyPr wrap="square" anchor="t" lIns="45720" rIns="45720">
            <a:spAutoFit/>
          </a:bodyPr>
          <a:lstStyle/>
          <a:p>
            <a:pPr algn="l"/>
            <a:r>
              <a:rPr sz="1300" b="0" i="0">
                <a:solidFill>
                  <a:srgbClr val="64748B"/>
                </a:solidFill>
                <a:latin typeface="Calibri"/>
              </a:rPr>
              <a:t>24.759/24.759 ô của 35 khối khớp khi tính lại từ fact</a:t>
            </a:r>
          </a:p>
        </p:txBody>
      </p:sp>
      <p:sp>
        <p:nvSpPr>
          <p:cNvPr id="9" name="Rounded Rectangle 8"/>
          <p:cNvSpPr/>
          <p:nvPr/>
        </p:nvSpPr>
        <p:spPr>
          <a:xfrm>
            <a:off x="8321040" y="3337560"/>
            <a:ext cx="3319272" cy="146304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0" y="3447288"/>
            <a:ext cx="2953512" cy="777240"/>
          </a:xfrm>
          <a:prstGeom prst="rect">
            <a:avLst/>
          </a:prstGeom>
          <a:noFill/>
        </p:spPr>
        <p:txBody>
          <a:bodyPr wrap="square" anchor="t" lIns="45720" rIns="45720">
            <a:spAutoFit/>
          </a:bodyPr>
          <a:lstStyle/>
          <a:p>
            <a:pPr algn="l"/>
            <a:r>
              <a:rPr sz="4000" b="1" i="0">
                <a:solidFill>
                  <a:srgbClr val="1F2A37"/>
                </a:solidFill>
                <a:latin typeface="Cambria"/>
              </a:rPr>
              <a:t>130/130</a:t>
            </a:r>
          </a:p>
        </p:txBody>
      </p:sp>
      <p:sp>
        <p:nvSpPr>
          <p:cNvPr id="11" name="TextBox 10"/>
          <p:cNvSpPr txBox="1"/>
          <p:nvPr/>
        </p:nvSpPr>
        <p:spPr>
          <a:xfrm>
            <a:off x="8503920" y="4178808"/>
            <a:ext cx="2953512" cy="594360"/>
          </a:xfrm>
          <a:prstGeom prst="rect">
            <a:avLst/>
          </a:prstGeom>
          <a:noFill/>
        </p:spPr>
        <p:txBody>
          <a:bodyPr wrap="square" anchor="t" lIns="45720" rIns="45720">
            <a:spAutoFit/>
          </a:bodyPr>
          <a:lstStyle/>
          <a:p>
            <a:pPr algn="l"/>
            <a:r>
              <a:rPr sz="1300" b="0" i="0">
                <a:solidFill>
                  <a:srgbClr val="64748B"/>
                </a:solidFill>
                <a:latin typeface="Calibri"/>
              </a:rPr>
              <a:t>dbt test pass: khoá, độ mịn, khoá ngoại, cube phân hoạch fact</a:t>
            </a:r>
          </a:p>
        </p:txBody>
      </p:sp>
      <p:sp>
        <p:nvSpPr>
          <p:cNvPr id="12" name="TextBox 11"/>
          <p:cNvSpPr txBox="1"/>
          <p:nvPr/>
        </p:nvSpPr>
        <p:spPr>
          <a:xfrm>
            <a:off x="548640" y="4663440"/>
            <a:ext cx="7498079" cy="1097280"/>
          </a:xfrm>
          <a:prstGeom prst="rect">
            <a:avLst/>
          </a:prstGeom>
          <a:noFill/>
        </p:spPr>
        <p:txBody>
          <a:bodyPr wrap="square" anchor="t" lIns="45720" rIns="45720">
            <a:spAutoFit/>
          </a:bodyPr>
          <a:lstStyle/>
          <a:p>
            <a:pPr algn="l"/>
            <a:r>
              <a:rPr sz="1600" b="0" i="1">
                <a:solidFill>
                  <a:srgbClr val="64748B"/>
                </a:solidFill>
                <a:latin typeface="Calibri"/>
              </a:rPr>
              <a:t>Truy vấn được viết lại theo khối: nếu mọi thuộc tính truy vấn nằm trong cube → đọc mart_olap_cube (2–6 ms), nếu không → quét fact (130–400 ms).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415" cy="868680"/>
          </a:xfrm>
        </p:spPr>
        <p:txBody>
          <a:bodyPr wrap="square" anchor="ctr"/>
          <a:lstStyle/>
          <a:p>
            <a:pPr algn="l"/>
            <a:r>
              <a:rPr sz="3400" b="1">
                <a:solidFill>
                  <a:srgbClr val="1F2A37"/>
                </a:solidFill>
                <a:latin typeface="Cambria"/>
              </a:rPr>
              <a:t>OLAP trực tiếp: roll-up, drill-down, slice, dice, pivot</a:t>
            </a:r>
          </a:p>
        </p:txBody>
      </p:sp>
      <p:sp>
        <p:nvSpPr>
          <p:cNvPr id="3" name="TextBox 2"/>
          <p:cNvSpPr txBox="1"/>
          <p:nvPr/>
        </p:nvSpPr>
        <p:spPr>
          <a:xfrm>
            <a:off x="548640" y="109728"/>
            <a:ext cx="5486400" cy="274320"/>
          </a:xfrm>
          <a:prstGeom prst="rect">
            <a:avLst/>
          </a:prstGeom>
          <a:noFill/>
        </p:spPr>
        <p:txBody>
          <a:bodyPr wrap="square" anchor="t" lIns="45720" rIns="45720">
            <a:spAutoFit/>
          </a:bodyPr>
          <a:lstStyle/>
          <a:p>
            <a:pPr algn="l"/>
            <a:r>
              <a:rPr sz="1100" b="1" i="0">
                <a:solidFill>
                  <a:srgbClr val="64748B"/>
                </a:solidFill>
                <a:latin typeface="Calibri"/>
              </a:rPr>
              <a:t>3 · KHO DỮ LIỆU &amp; OLAP</a:t>
            </a:r>
          </a:p>
        </p:txBody>
      </p:sp>
      <p:sp>
        <p:nvSpPr>
          <p:cNvPr id="4" name="TextBox 3"/>
          <p:cNvSpPr txBox="1"/>
          <p:nvPr/>
        </p:nvSpPr>
        <p:spPr>
          <a:xfrm>
            <a:off x="10271455" y="6446520"/>
            <a:ext cx="1371600" cy="274320"/>
          </a:xfrm>
          <a:prstGeom prst="rect">
            <a:avLst/>
          </a:prstGeom>
          <a:noFill/>
        </p:spPr>
        <p:txBody>
          <a:bodyPr wrap="square" anchor="t" lIns="45720" rIns="45720">
            <a:spAutoFit/>
          </a:bodyPr>
          <a:lstStyle/>
          <a:p>
            <a:pPr algn="r"/>
            <a:r>
              <a:rPr sz="1100" b="0" i="0">
                <a:solidFill>
                  <a:srgbClr val="64748B"/>
                </a:solidFill>
                <a:latin typeface="Calibri"/>
              </a:rPr>
              <a:t>8 / 15</a:t>
            </a:r>
          </a:p>
        </p:txBody>
      </p:sp>
      <p:pic>
        <p:nvPicPr>
          <p:cNvPr id="5" name="Picture 4" descr="olap_dice_tram_x_thang.png"/>
          <p:cNvPicPr>
            <a:picLocks noChangeAspect="1"/>
          </p:cNvPicPr>
          <p:nvPr/>
        </p:nvPicPr>
        <p:blipFill>
          <a:blip r:embed="rId3"/>
          <a:stretch>
            <a:fillRect/>
          </a:stretch>
        </p:blipFill>
        <p:spPr>
          <a:xfrm>
            <a:off x="548640" y="2011680"/>
            <a:ext cx="6949440" cy="3309257"/>
          </a:xfrm>
          <a:prstGeom prst="rect">
            <a:avLst/>
          </a:prstGeom>
        </p:spPr>
      </p:pic>
      <p:sp>
        <p:nvSpPr>
          <p:cNvPr id="6" name="Oval 5"/>
          <p:cNvSpPr/>
          <p:nvPr/>
        </p:nvSpPr>
        <p:spPr>
          <a:xfrm>
            <a:off x="7726679" y="1371600"/>
            <a:ext cx="457200" cy="457200"/>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7" name="TextBox 6"/>
          <p:cNvSpPr txBox="1"/>
          <p:nvPr/>
        </p:nvSpPr>
        <p:spPr>
          <a:xfrm>
            <a:off x="8321040" y="1325880"/>
            <a:ext cx="3291840" cy="365760"/>
          </a:xfrm>
          <a:prstGeom prst="rect">
            <a:avLst/>
          </a:prstGeom>
          <a:noFill/>
        </p:spPr>
        <p:txBody>
          <a:bodyPr wrap="square" anchor="t" lIns="45720" rIns="45720">
            <a:spAutoFit/>
          </a:bodyPr>
          <a:lstStyle/>
          <a:p>
            <a:pPr algn="l"/>
            <a:r>
              <a:rPr sz="1800" b="1" i="0">
                <a:solidFill>
                  <a:srgbClr val="1F2A37"/>
                </a:solidFill>
                <a:latin typeface="Calibri"/>
              </a:rPr>
              <a:t>Roll-up</a:t>
            </a:r>
          </a:p>
        </p:txBody>
      </p:sp>
      <p:sp>
        <p:nvSpPr>
          <p:cNvPr id="8" name="TextBox 7"/>
          <p:cNvSpPr txBox="1"/>
          <p:nvPr/>
        </p:nvSpPr>
        <p:spPr>
          <a:xfrm>
            <a:off x="8321040" y="1691640"/>
            <a:ext cx="3291840" cy="457200"/>
          </a:xfrm>
          <a:prstGeom prst="rect">
            <a:avLst/>
          </a:prstGeom>
          <a:noFill/>
        </p:spPr>
        <p:txBody>
          <a:bodyPr wrap="square" anchor="t" lIns="45720" rIns="45720">
            <a:spAutoFit/>
          </a:bodyPr>
          <a:lstStyle/>
          <a:p>
            <a:pPr algn="l"/>
            <a:r>
              <a:rPr sz="1400" b="0" i="0">
                <a:solidFill>
                  <a:srgbClr val="64748B"/>
                </a:solidFill>
                <a:latin typeface="Calibri"/>
              </a:rPr>
              <a:t>tháng → quý → năm, trạm → quận</a:t>
            </a:r>
          </a:p>
        </p:txBody>
      </p:sp>
      <p:sp>
        <p:nvSpPr>
          <p:cNvPr id="9" name="Oval 8"/>
          <p:cNvSpPr/>
          <p:nvPr/>
        </p:nvSpPr>
        <p:spPr>
          <a:xfrm>
            <a:off x="7726679" y="2331720"/>
            <a:ext cx="457200" cy="457200"/>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10" name="TextBox 9"/>
          <p:cNvSpPr txBox="1"/>
          <p:nvPr/>
        </p:nvSpPr>
        <p:spPr>
          <a:xfrm>
            <a:off x="8321040" y="2286000"/>
            <a:ext cx="3291840" cy="365760"/>
          </a:xfrm>
          <a:prstGeom prst="rect">
            <a:avLst/>
          </a:prstGeom>
          <a:noFill/>
        </p:spPr>
        <p:txBody>
          <a:bodyPr wrap="square" anchor="t" lIns="45720" rIns="45720">
            <a:spAutoFit/>
          </a:bodyPr>
          <a:lstStyle/>
          <a:p>
            <a:pPr algn="l"/>
            <a:r>
              <a:rPr sz="1800" b="1" i="0">
                <a:solidFill>
                  <a:srgbClr val="1F2A37"/>
                </a:solidFill>
                <a:latin typeface="Calibri"/>
              </a:rPr>
              <a:t>Drill-down</a:t>
            </a:r>
          </a:p>
        </p:txBody>
      </p:sp>
      <p:sp>
        <p:nvSpPr>
          <p:cNvPr id="11" name="TextBox 10"/>
          <p:cNvSpPr txBox="1"/>
          <p:nvPr/>
        </p:nvSpPr>
        <p:spPr>
          <a:xfrm>
            <a:off x="8321040" y="2651760"/>
            <a:ext cx="3291840" cy="457200"/>
          </a:xfrm>
          <a:prstGeom prst="rect">
            <a:avLst/>
          </a:prstGeom>
          <a:noFill/>
        </p:spPr>
        <p:txBody>
          <a:bodyPr wrap="square" anchor="t" lIns="45720" rIns="45720">
            <a:spAutoFit/>
          </a:bodyPr>
          <a:lstStyle/>
          <a:p>
            <a:pPr algn="l"/>
            <a:r>
              <a:rPr sz="1400" b="0" i="0">
                <a:solidFill>
                  <a:srgbClr val="64748B"/>
                </a:solidFill>
                <a:latin typeface="Calibri"/>
              </a:rPr>
              <a:t>bấm tên hàng/cột để khoan xuống</a:t>
            </a:r>
          </a:p>
        </p:txBody>
      </p:sp>
      <p:sp>
        <p:nvSpPr>
          <p:cNvPr id="12" name="Oval 11"/>
          <p:cNvSpPr/>
          <p:nvPr/>
        </p:nvSpPr>
        <p:spPr>
          <a:xfrm>
            <a:off x="7726679" y="3291840"/>
            <a:ext cx="457200" cy="457200"/>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3" name="TextBox 12"/>
          <p:cNvSpPr txBox="1"/>
          <p:nvPr/>
        </p:nvSpPr>
        <p:spPr>
          <a:xfrm>
            <a:off x="8321040" y="3246120"/>
            <a:ext cx="3291840" cy="365760"/>
          </a:xfrm>
          <a:prstGeom prst="rect">
            <a:avLst/>
          </a:prstGeom>
          <a:noFill/>
        </p:spPr>
        <p:txBody>
          <a:bodyPr wrap="square" anchor="t" lIns="45720" rIns="45720">
            <a:spAutoFit/>
          </a:bodyPr>
          <a:lstStyle/>
          <a:p>
            <a:pPr algn="l"/>
            <a:r>
              <a:rPr sz="1800" b="1" i="0">
                <a:solidFill>
                  <a:srgbClr val="1F2A37"/>
                </a:solidFill>
                <a:latin typeface="Calibri"/>
              </a:rPr>
              <a:t>Slice</a:t>
            </a:r>
          </a:p>
        </p:txBody>
      </p:sp>
      <p:sp>
        <p:nvSpPr>
          <p:cNvPr id="14" name="TextBox 13"/>
          <p:cNvSpPr txBox="1"/>
          <p:nvPr/>
        </p:nvSpPr>
        <p:spPr>
          <a:xfrm>
            <a:off x="8321040" y="3611880"/>
            <a:ext cx="3291840" cy="457200"/>
          </a:xfrm>
          <a:prstGeom prst="rect">
            <a:avLst/>
          </a:prstGeom>
          <a:noFill/>
        </p:spPr>
        <p:txBody>
          <a:bodyPr wrap="square" anchor="t" lIns="45720" rIns="45720">
            <a:spAutoFit/>
          </a:bodyPr>
          <a:lstStyle/>
          <a:p>
            <a:pPr algn="l"/>
            <a:r>
              <a:rPr sz="1400" b="0" i="0">
                <a:solidFill>
                  <a:srgbClr val="64748B"/>
                </a:solidFill>
                <a:latin typeface="Calibri"/>
              </a:rPr>
              <a:t>một giá trị: quận = Dongcheng</a:t>
            </a:r>
          </a:p>
        </p:txBody>
      </p:sp>
      <p:sp>
        <p:nvSpPr>
          <p:cNvPr id="15" name="Oval 14"/>
          <p:cNvSpPr/>
          <p:nvPr/>
        </p:nvSpPr>
        <p:spPr>
          <a:xfrm>
            <a:off x="7726679" y="4251960"/>
            <a:ext cx="457200" cy="457200"/>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4</a:t>
            </a:r>
          </a:p>
        </p:txBody>
      </p:sp>
      <p:sp>
        <p:nvSpPr>
          <p:cNvPr id="16" name="TextBox 15"/>
          <p:cNvSpPr txBox="1"/>
          <p:nvPr/>
        </p:nvSpPr>
        <p:spPr>
          <a:xfrm>
            <a:off x="8321040" y="4206240"/>
            <a:ext cx="3291840" cy="365760"/>
          </a:xfrm>
          <a:prstGeom prst="rect">
            <a:avLst/>
          </a:prstGeom>
          <a:noFill/>
        </p:spPr>
        <p:txBody>
          <a:bodyPr wrap="square" anchor="t" lIns="45720" rIns="45720">
            <a:spAutoFit/>
          </a:bodyPr>
          <a:lstStyle/>
          <a:p>
            <a:pPr algn="l"/>
            <a:r>
              <a:rPr sz="1800" b="1" i="0">
                <a:solidFill>
                  <a:srgbClr val="1F2A37"/>
                </a:solidFill>
                <a:latin typeface="Calibri"/>
              </a:rPr>
              <a:t>Dice</a:t>
            </a:r>
          </a:p>
        </p:txBody>
      </p:sp>
      <p:sp>
        <p:nvSpPr>
          <p:cNvPr id="17" name="TextBox 16"/>
          <p:cNvSpPr txBox="1"/>
          <p:nvPr/>
        </p:nvSpPr>
        <p:spPr>
          <a:xfrm>
            <a:off x="8321040" y="4572000"/>
            <a:ext cx="3291840" cy="457200"/>
          </a:xfrm>
          <a:prstGeom prst="rect">
            <a:avLst/>
          </a:prstGeom>
          <a:noFill/>
        </p:spPr>
        <p:txBody>
          <a:bodyPr wrap="square" anchor="t" lIns="45720" rIns="45720">
            <a:spAutoFit/>
          </a:bodyPr>
          <a:lstStyle/>
          <a:p>
            <a:pPr algn="l"/>
            <a:r>
              <a:rPr sz="1400" b="0" i="0">
                <a:solidFill>
                  <a:srgbClr val="64748B"/>
                </a:solidFill>
                <a:latin typeface="Calibri"/>
              </a:rPr>
              <a:t>nhiều chiều: quận × năm × mùa</a:t>
            </a:r>
          </a:p>
        </p:txBody>
      </p:sp>
      <p:sp>
        <p:nvSpPr>
          <p:cNvPr id="18" name="Oval 17"/>
          <p:cNvSpPr/>
          <p:nvPr/>
        </p:nvSpPr>
        <p:spPr>
          <a:xfrm>
            <a:off x="7726679" y="5212080"/>
            <a:ext cx="457200" cy="457200"/>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5</a:t>
            </a:r>
          </a:p>
        </p:txBody>
      </p:sp>
      <p:sp>
        <p:nvSpPr>
          <p:cNvPr id="19" name="TextBox 18"/>
          <p:cNvSpPr txBox="1"/>
          <p:nvPr/>
        </p:nvSpPr>
        <p:spPr>
          <a:xfrm>
            <a:off x="8321040" y="5166360"/>
            <a:ext cx="3291840" cy="365760"/>
          </a:xfrm>
          <a:prstGeom prst="rect">
            <a:avLst/>
          </a:prstGeom>
          <a:noFill/>
        </p:spPr>
        <p:txBody>
          <a:bodyPr wrap="square" anchor="t" lIns="45720" rIns="45720">
            <a:spAutoFit/>
          </a:bodyPr>
          <a:lstStyle/>
          <a:p>
            <a:pPr algn="l"/>
            <a:r>
              <a:rPr sz="1800" b="1" i="0">
                <a:solidFill>
                  <a:srgbClr val="1F2A37"/>
                </a:solidFill>
                <a:latin typeface="Calibri"/>
              </a:rPr>
              <a:t>Pivot</a:t>
            </a:r>
          </a:p>
        </p:txBody>
      </p:sp>
      <p:sp>
        <p:nvSpPr>
          <p:cNvPr id="20" name="TextBox 19"/>
          <p:cNvSpPr txBox="1"/>
          <p:nvPr/>
        </p:nvSpPr>
        <p:spPr>
          <a:xfrm>
            <a:off x="8321040" y="5532120"/>
            <a:ext cx="3291840" cy="457200"/>
          </a:xfrm>
          <a:prstGeom prst="rect">
            <a:avLst/>
          </a:prstGeom>
          <a:noFill/>
        </p:spPr>
        <p:txBody>
          <a:bodyPr wrap="square" anchor="t" lIns="45720" rIns="45720">
            <a:spAutoFit/>
          </a:bodyPr>
          <a:lstStyle/>
          <a:p>
            <a:pPr algn="l"/>
            <a:r>
              <a:rPr sz="1400" b="0" i="0">
                <a:solidFill>
                  <a:srgbClr val="64748B"/>
                </a:solidFill>
                <a:latin typeface="Calibri"/>
              </a:rPr>
              <a:t>đổi hàng ↔ cột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415" cy="868680"/>
          </a:xfrm>
        </p:spPr>
        <p:txBody>
          <a:bodyPr wrap="square" anchor="ctr"/>
          <a:lstStyle/>
          <a:p>
            <a:pPr algn="l"/>
            <a:r>
              <a:rPr sz="3400" b="1">
                <a:solidFill>
                  <a:srgbClr val="1F2A37"/>
                </a:solidFill>
                <a:latin typeface="Cambria"/>
              </a:rPr>
              <a:t>Dice cho thấy gió nam làm PM2.5 mùa đông tăng ~60%</a:t>
            </a:r>
          </a:p>
        </p:txBody>
      </p:sp>
      <p:sp>
        <p:nvSpPr>
          <p:cNvPr id="3" name="TextBox 2"/>
          <p:cNvSpPr txBox="1"/>
          <p:nvPr/>
        </p:nvSpPr>
        <p:spPr>
          <a:xfrm>
            <a:off x="548640" y="109728"/>
            <a:ext cx="5486400" cy="274320"/>
          </a:xfrm>
          <a:prstGeom prst="rect">
            <a:avLst/>
          </a:prstGeom>
          <a:noFill/>
        </p:spPr>
        <p:txBody>
          <a:bodyPr wrap="square" anchor="t" lIns="45720" rIns="45720">
            <a:spAutoFit/>
          </a:bodyPr>
          <a:lstStyle/>
          <a:p>
            <a:pPr algn="l"/>
            <a:r>
              <a:rPr sz="1100" b="1" i="0">
                <a:solidFill>
                  <a:srgbClr val="64748B"/>
                </a:solidFill>
                <a:latin typeface="Calibri"/>
              </a:rPr>
              <a:t>3 · KHO DỮ LIỆU &amp; OLAP</a:t>
            </a:r>
          </a:p>
        </p:txBody>
      </p:sp>
      <p:sp>
        <p:nvSpPr>
          <p:cNvPr id="4" name="TextBox 3"/>
          <p:cNvSpPr txBox="1"/>
          <p:nvPr/>
        </p:nvSpPr>
        <p:spPr>
          <a:xfrm>
            <a:off x="10271455" y="6446520"/>
            <a:ext cx="1371600" cy="274320"/>
          </a:xfrm>
          <a:prstGeom prst="rect">
            <a:avLst/>
          </a:prstGeom>
          <a:noFill/>
        </p:spPr>
        <p:txBody>
          <a:bodyPr wrap="square" anchor="t" lIns="45720" rIns="45720">
            <a:spAutoFit/>
          </a:bodyPr>
          <a:lstStyle/>
          <a:p>
            <a:pPr algn="r"/>
            <a:r>
              <a:rPr sz="1100" b="0" i="0">
                <a:solidFill>
                  <a:srgbClr val="64748B"/>
                </a:solidFill>
                <a:latin typeface="Calibri"/>
              </a:rPr>
              <a:t>9 / 15</a:t>
            </a:r>
          </a:p>
        </p:txBody>
      </p:sp>
      <p:graphicFrame>
        <p:nvGraphicFramePr>
          <p:cNvPr id="5" name="Chart 4"/>
          <p:cNvGraphicFramePr>
            <a:graphicFrameLocks noGrp="1"/>
          </p:cNvGraphicFramePr>
          <p:nvPr/>
        </p:nvGraphicFramePr>
        <p:xfrm>
          <a:off x="548640" y="1325880"/>
          <a:ext cx="7315200" cy="4846320"/>
        </p:xfrm>
        <a:graphic>
          <a:graphicData uri="http://schemas.openxmlformats.org/drawingml/2006/chart">
            <c:chart xmlns:c="http://schemas.openxmlformats.org/drawingml/2006/chart" r:id="rId3"/>
          </a:graphicData>
        </a:graphic>
      </p:graphicFrame>
      <p:sp>
        <p:nvSpPr>
          <p:cNvPr id="6" name="Rounded Rectangle 5"/>
          <p:cNvSpPr/>
          <p:nvPr/>
        </p:nvSpPr>
        <p:spPr>
          <a:xfrm>
            <a:off x="8138160" y="1417320"/>
            <a:ext cx="3502152" cy="141732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21040" y="1527048"/>
            <a:ext cx="3136392" cy="777240"/>
          </a:xfrm>
          <a:prstGeom prst="rect">
            <a:avLst/>
          </a:prstGeom>
          <a:noFill/>
        </p:spPr>
        <p:txBody>
          <a:bodyPr wrap="square" anchor="t" lIns="45720" rIns="45720">
            <a:spAutoFit/>
          </a:bodyPr>
          <a:lstStyle/>
          <a:p>
            <a:pPr algn="l"/>
            <a:r>
              <a:rPr sz="3400" b="1" i="0">
                <a:solidFill>
                  <a:srgbClr val="EA580C"/>
                </a:solidFill>
                <a:latin typeface="Cambria"/>
              </a:rPr>
              <a:t>84 → 133</a:t>
            </a:r>
          </a:p>
        </p:txBody>
      </p:sp>
      <p:sp>
        <p:nvSpPr>
          <p:cNvPr id="8" name="TextBox 7"/>
          <p:cNvSpPr txBox="1"/>
          <p:nvPr/>
        </p:nvSpPr>
        <p:spPr>
          <a:xfrm>
            <a:off x="8321040" y="2258568"/>
            <a:ext cx="3136392" cy="548640"/>
          </a:xfrm>
          <a:prstGeom prst="rect">
            <a:avLst/>
          </a:prstGeom>
          <a:noFill/>
        </p:spPr>
        <p:txBody>
          <a:bodyPr wrap="square" anchor="t" lIns="45720" rIns="45720">
            <a:spAutoFit/>
          </a:bodyPr>
          <a:lstStyle/>
          <a:p>
            <a:pPr algn="l"/>
            <a:r>
              <a:rPr sz="1300" b="0" i="0">
                <a:solidFill>
                  <a:srgbClr val="64748B"/>
                </a:solidFill>
                <a:latin typeface="Calibri"/>
              </a:rPr>
              <a:t>µg/m³ — Dongcheng mùa đông, gió bắc → gió nam</a:t>
            </a:r>
          </a:p>
        </p:txBody>
      </p:sp>
      <p:sp>
        <p:nvSpPr>
          <p:cNvPr id="9" name="TextBox 8"/>
          <p:cNvSpPr txBox="1"/>
          <p:nvPr/>
        </p:nvSpPr>
        <p:spPr>
          <a:xfrm>
            <a:off x="8138160" y="3108960"/>
            <a:ext cx="3502152" cy="2743200"/>
          </a:xfrm>
          <a:prstGeom prst="rect">
            <a:avLst/>
          </a:prstGeom>
          <a:noFill/>
        </p:spPr>
        <p:txBody>
          <a:bodyPr wrap="square">
            <a:spAutoFit/>
          </a:bodyPr>
          <a:lstStyle/>
          <a:p>
            <a:pPr>
              <a:spcAft>
                <a:spcPts val="800"/>
              </a:spcAft>
            </a:pPr>
            <a:r>
              <a:rPr sz="1600" b="1">
                <a:solidFill>
                  <a:srgbClr val="EA580C"/>
                </a:solidFill>
                <a:latin typeface="Calibri"/>
              </a:rPr>
              <a:t>▸  </a:t>
            </a:r>
            <a:r>
              <a:rPr sz="1600" b="0" i="0">
                <a:solidFill>
                  <a:srgbClr val="1F2A37"/>
                </a:solidFill>
                <a:latin typeface="Calibri"/>
              </a:rPr>
              <a:t>Tỷ lệ giờ vượt ngưỡng: ~28% → ~43%</a:t>
            </a:r>
          </a:p>
          <a:p>
            <a:pPr>
              <a:spcAft>
                <a:spcPts val="800"/>
              </a:spcAft>
            </a:pPr>
            <a:r>
              <a:rPr sz="1600" b="1">
                <a:solidFill>
                  <a:srgbClr val="EA580C"/>
                </a:solidFill>
                <a:latin typeface="Calibri"/>
              </a:rPr>
              <a:t>▸  </a:t>
            </a:r>
            <a:r>
              <a:rPr sz="1600" b="0" i="0">
                <a:solidFill>
                  <a:srgbClr val="1F2A37"/>
                </a:solidFill>
                <a:latin typeface="Calibri"/>
              </a:rPr>
              <a:t>Hướng gió là chiều "vì sao" của kho</a:t>
            </a:r>
          </a:p>
          <a:p>
            <a:pPr>
              <a:spcAft>
                <a:spcPts val="800"/>
              </a:spcAft>
            </a:pPr>
            <a:r>
              <a:rPr sz="1600" b="1">
                <a:solidFill>
                  <a:srgbClr val="EA580C"/>
                </a:solidFill>
                <a:latin typeface="Calibri"/>
              </a:rPr>
              <a:t>▸  </a:t>
            </a:r>
            <a:r>
              <a:rPr sz="1600" b="0" i="0">
                <a:solidFill>
                  <a:srgbClr val="1F2A37"/>
                </a:solidFill>
                <a:latin typeface="Calibri"/>
              </a:rPr>
              <a:t>→ ưu tiên cảnh báo khi dự báo có gió nam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415" cy="868680"/>
          </a:xfrm>
        </p:spPr>
        <p:txBody>
          <a:bodyPr wrap="square" anchor="ctr"/>
          <a:lstStyle/>
          <a:p>
            <a:pPr algn="l"/>
            <a:r>
              <a:rPr sz="3400" b="1">
                <a:solidFill>
                  <a:srgbClr val="1F2A37"/>
                </a:solidFill>
                <a:latin typeface="Cambria"/>
              </a:rPr>
              <a:t>Phân loại: nhãn, đặc trưng, chia tập theo thời gian</a:t>
            </a:r>
          </a:p>
        </p:txBody>
      </p:sp>
      <p:sp>
        <p:nvSpPr>
          <p:cNvPr id="3" name="TextBox 2"/>
          <p:cNvSpPr txBox="1"/>
          <p:nvPr/>
        </p:nvSpPr>
        <p:spPr>
          <a:xfrm>
            <a:off x="548640" y="109728"/>
            <a:ext cx="5486400" cy="274320"/>
          </a:xfrm>
          <a:prstGeom prst="rect">
            <a:avLst/>
          </a:prstGeom>
          <a:noFill/>
        </p:spPr>
        <p:txBody>
          <a:bodyPr wrap="square" anchor="t" lIns="45720" rIns="45720">
            <a:spAutoFit/>
          </a:bodyPr>
          <a:lstStyle/>
          <a:p>
            <a:pPr algn="l"/>
            <a:r>
              <a:rPr sz="1100" b="1" i="0">
                <a:solidFill>
                  <a:srgbClr val="64748B"/>
                </a:solidFill>
                <a:latin typeface="Calibri"/>
              </a:rPr>
              <a:t>4 · KHAI PHÁ</a:t>
            </a:r>
          </a:p>
        </p:txBody>
      </p:sp>
      <p:sp>
        <p:nvSpPr>
          <p:cNvPr id="4" name="TextBox 3"/>
          <p:cNvSpPr txBox="1"/>
          <p:nvPr/>
        </p:nvSpPr>
        <p:spPr>
          <a:xfrm>
            <a:off x="10271455" y="6446520"/>
            <a:ext cx="1371600" cy="274320"/>
          </a:xfrm>
          <a:prstGeom prst="rect">
            <a:avLst/>
          </a:prstGeom>
          <a:noFill/>
        </p:spPr>
        <p:txBody>
          <a:bodyPr wrap="square" anchor="t" lIns="45720" rIns="45720">
            <a:spAutoFit/>
          </a:bodyPr>
          <a:lstStyle/>
          <a:p>
            <a:pPr algn="r"/>
            <a:r>
              <a:rPr sz="1100" b="0" i="0">
                <a:solidFill>
                  <a:srgbClr val="64748B"/>
                </a:solidFill>
                <a:latin typeface="Calibri"/>
              </a:rPr>
              <a:t>10 / 15</a:t>
            </a:r>
          </a:p>
        </p:txBody>
      </p:sp>
      <p:sp>
        <p:nvSpPr>
          <p:cNvPr id="5" name="Rounded Rectangle 4"/>
          <p:cNvSpPr/>
          <p:nvPr/>
        </p:nvSpPr>
        <p:spPr>
          <a:xfrm>
            <a:off x="548640" y="1417320"/>
            <a:ext cx="6510528" cy="1051560"/>
          </a:xfrm>
          <a:prstGeom prst="roundRect">
            <a:avLst>
              <a:gd name="adj" fmla="val 12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463040"/>
            <a:ext cx="6309360" cy="411480"/>
          </a:xfrm>
          <a:prstGeom prst="rect">
            <a:avLst/>
          </a:prstGeom>
          <a:noFill/>
        </p:spPr>
        <p:txBody>
          <a:bodyPr wrap="square" anchor="t" lIns="45720" rIns="45720">
            <a:spAutoFit/>
          </a:bodyPr>
          <a:lstStyle/>
          <a:p>
            <a:pPr algn="l"/>
            <a:r>
              <a:rPr sz="1600" b="1" i="0">
                <a:solidFill>
                  <a:srgbClr val="FFFFFF"/>
                </a:solidFill>
                <a:latin typeface="Calibri"/>
              </a:rPr>
              <a:t>train  ·  03/2013 – 12/2015</a:t>
            </a:r>
          </a:p>
        </p:txBody>
      </p:sp>
      <p:sp>
        <p:nvSpPr>
          <p:cNvPr id="7" name="TextBox 6"/>
          <p:cNvSpPr txBox="1"/>
          <p:nvPr/>
        </p:nvSpPr>
        <p:spPr>
          <a:xfrm>
            <a:off x="685800" y="1920240"/>
            <a:ext cx="6309360" cy="411480"/>
          </a:xfrm>
          <a:prstGeom prst="rect">
            <a:avLst/>
          </a:prstGeom>
          <a:noFill/>
        </p:spPr>
        <p:txBody>
          <a:bodyPr wrap="square" anchor="t" lIns="45720" rIns="45720">
            <a:spAutoFit/>
          </a:bodyPr>
          <a:lstStyle/>
          <a:p>
            <a:pPr algn="l"/>
            <a:r>
              <a:rPr sz="1400" b="0" i="0">
                <a:solidFill>
                  <a:srgbClr val="FFFFFF"/>
                </a:solidFill>
                <a:latin typeface="Calibri"/>
              </a:rPr>
              <a:t>276.380 mẫu · 25% nhãn 1</a:t>
            </a:r>
          </a:p>
        </p:txBody>
      </p:sp>
      <p:sp>
        <p:nvSpPr>
          <p:cNvPr id="8" name="Rounded Rectangle 7"/>
          <p:cNvSpPr/>
          <p:nvPr/>
        </p:nvSpPr>
        <p:spPr>
          <a:xfrm>
            <a:off x="7132320" y="1417320"/>
            <a:ext cx="2121408" cy="1051560"/>
          </a:xfrm>
          <a:prstGeom prst="roundRect">
            <a:avLst>
              <a:gd name="adj" fmla="val 12000"/>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69480" y="1463040"/>
            <a:ext cx="1920240" cy="411480"/>
          </a:xfrm>
          <a:prstGeom prst="rect">
            <a:avLst/>
          </a:prstGeom>
          <a:noFill/>
        </p:spPr>
        <p:txBody>
          <a:bodyPr wrap="square" anchor="t" lIns="45720" rIns="45720">
            <a:spAutoFit/>
          </a:bodyPr>
          <a:lstStyle/>
          <a:p>
            <a:pPr algn="l"/>
            <a:r>
              <a:rPr sz="1600" b="1" i="0">
                <a:solidFill>
                  <a:srgbClr val="FFFFFF"/>
                </a:solidFill>
                <a:latin typeface="Calibri"/>
              </a:rPr>
              <a:t>val  ·  01–06/2016</a:t>
            </a:r>
          </a:p>
        </p:txBody>
      </p:sp>
      <p:sp>
        <p:nvSpPr>
          <p:cNvPr id="10" name="TextBox 9"/>
          <p:cNvSpPr txBox="1"/>
          <p:nvPr/>
        </p:nvSpPr>
        <p:spPr>
          <a:xfrm>
            <a:off x="7269480" y="1920240"/>
            <a:ext cx="1920240" cy="411480"/>
          </a:xfrm>
          <a:prstGeom prst="rect">
            <a:avLst/>
          </a:prstGeom>
          <a:noFill/>
        </p:spPr>
        <p:txBody>
          <a:bodyPr wrap="square" anchor="t" lIns="45720" rIns="45720">
            <a:spAutoFit/>
          </a:bodyPr>
          <a:lstStyle/>
          <a:p>
            <a:pPr algn="l"/>
            <a:r>
              <a:rPr sz="1400" b="0" i="0">
                <a:solidFill>
                  <a:srgbClr val="FFFFFF"/>
                </a:solidFill>
                <a:latin typeface="Calibri"/>
              </a:rPr>
              <a:t>47.338 mẫu · 16% nhãn 1</a:t>
            </a:r>
          </a:p>
        </p:txBody>
      </p:sp>
      <p:sp>
        <p:nvSpPr>
          <p:cNvPr id="11" name="Rounded Rectangle 10"/>
          <p:cNvSpPr/>
          <p:nvPr/>
        </p:nvSpPr>
        <p:spPr>
          <a:xfrm>
            <a:off x="9326880" y="1417320"/>
            <a:ext cx="2212848" cy="1051560"/>
          </a:xfrm>
          <a:prstGeom prst="roundRect">
            <a:avLst>
              <a:gd name="adj" fmla="val 12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64040" y="1463040"/>
            <a:ext cx="2011680" cy="411480"/>
          </a:xfrm>
          <a:prstGeom prst="rect">
            <a:avLst/>
          </a:prstGeom>
          <a:noFill/>
        </p:spPr>
        <p:txBody>
          <a:bodyPr wrap="square" anchor="t" lIns="45720" rIns="45720">
            <a:spAutoFit/>
          </a:bodyPr>
          <a:lstStyle/>
          <a:p>
            <a:pPr algn="l"/>
            <a:r>
              <a:rPr sz="1600" b="1" i="0">
                <a:solidFill>
                  <a:srgbClr val="FFFFFF"/>
                </a:solidFill>
                <a:latin typeface="Calibri"/>
              </a:rPr>
              <a:t>test  ·  07–12/2016</a:t>
            </a:r>
          </a:p>
        </p:txBody>
      </p:sp>
      <p:sp>
        <p:nvSpPr>
          <p:cNvPr id="13" name="TextBox 12"/>
          <p:cNvSpPr txBox="1"/>
          <p:nvPr/>
        </p:nvSpPr>
        <p:spPr>
          <a:xfrm>
            <a:off x="9464040" y="1920240"/>
            <a:ext cx="2011680" cy="411480"/>
          </a:xfrm>
          <a:prstGeom prst="rect">
            <a:avLst/>
          </a:prstGeom>
          <a:noFill/>
        </p:spPr>
        <p:txBody>
          <a:bodyPr wrap="square" anchor="t" lIns="45720" rIns="45720">
            <a:spAutoFit/>
          </a:bodyPr>
          <a:lstStyle/>
          <a:p>
            <a:pPr algn="l"/>
            <a:r>
              <a:rPr sz="1400" b="0" i="0">
                <a:solidFill>
                  <a:srgbClr val="FFFFFF"/>
                </a:solidFill>
                <a:latin typeface="Calibri"/>
              </a:rPr>
              <a:t>48.781 mẫu · 24% nhãn 1</a:t>
            </a:r>
          </a:p>
        </p:txBody>
      </p:sp>
      <p:sp>
        <p:nvSpPr>
          <p:cNvPr id="14" name="Rounded Rectangle 13"/>
          <p:cNvSpPr/>
          <p:nvPr/>
        </p:nvSpPr>
        <p:spPr>
          <a:xfrm>
            <a:off x="548640" y="2743200"/>
            <a:ext cx="5394960" cy="265176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2880360"/>
            <a:ext cx="4846320" cy="457200"/>
          </a:xfrm>
          <a:prstGeom prst="rect">
            <a:avLst/>
          </a:prstGeom>
          <a:noFill/>
        </p:spPr>
        <p:txBody>
          <a:bodyPr wrap="square" anchor="t" lIns="45720" rIns="45720">
            <a:spAutoFit/>
          </a:bodyPr>
          <a:lstStyle/>
          <a:p>
            <a:pPr algn="l"/>
            <a:r>
              <a:rPr sz="1900" b="1" i="0">
                <a:solidFill>
                  <a:srgbClr val="0F766E"/>
                </a:solidFill>
                <a:latin typeface="Calibri"/>
              </a:rPr>
              <a:t>Nhãn &amp; đặc trưng</a:t>
            </a:r>
          </a:p>
        </p:txBody>
      </p:sp>
      <p:sp>
        <p:nvSpPr>
          <p:cNvPr id="16" name="TextBox 15"/>
          <p:cNvSpPr txBox="1"/>
          <p:nvPr/>
        </p:nvSpPr>
        <p:spPr>
          <a:xfrm>
            <a:off x="822960" y="3383280"/>
            <a:ext cx="4937760" cy="2560320"/>
          </a:xfrm>
          <a:prstGeom prst="rect">
            <a:avLst/>
          </a:prstGeom>
          <a:noFill/>
        </p:spPr>
        <p:txBody>
          <a:bodyPr wrap="square">
            <a:spAutoFit/>
          </a:bodyPr>
          <a:lstStyle/>
          <a:p>
            <a:pPr>
              <a:spcAft>
                <a:spcPts val="800"/>
              </a:spcAft>
            </a:pPr>
            <a:r>
              <a:rPr sz="1600" b="1">
                <a:solidFill>
                  <a:srgbClr val="EA580C"/>
                </a:solidFill>
                <a:latin typeface="Calibri"/>
              </a:rPr>
              <a:t>▸  </a:t>
            </a:r>
            <a:r>
              <a:rPr sz="1600" b="1" i="0">
                <a:solidFill>
                  <a:srgbClr val="1F2A37"/>
                </a:solidFill>
                <a:latin typeface="Calibri"/>
              </a:rPr>
              <a:t>y = 1 </a:t>
            </a:r>
            <a:r>
              <a:rPr sz="1600" b="0" i="0">
                <a:solidFill>
                  <a:srgbClr val="1F2A37"/>
                </a:solidFill>
                <a:latin typeface="Calibri"/>
              </a:rPr>
              <a:t>nếu PM2.5(t+1) ≥ 115 µg/m³</a:t>
            </a:r>
          </a:p>
          <a:p>
            <a:pPr>
              <a:spcAft>
                <a:spcPts val="800"/>
              </a:spcAft>
            </a:pPr>
            <a:r>
              <a:rPr sz="1600" b="1">
                <a:solidFill>
                  <a:srgbClr val="EA580C"/>
                </a:solidFill>
                <a:latin typeface="Calibri"/>
              </a:rPr>
              <a:t>▸  </a:t>
            </a:r>
            <a:r>
              <a:rPr sz="1600" b="0" i="0">
                <a:solidFill>
                  <a:srgbClr val="1F2A37"/>
                </a:solidFill>
                <a:latin typeface="Calibri"/>
              </a:rPr>
              <a:t>PM2.5 hiện tại, độ trễ 1–24 giờ, xu hướng</a:t>
            </a:r>
          </a:p>
          <a:p>
            <a:pPr>
              <a:spcAft>
                <a:spcPts val="800"/>
              </a:spcAft>
            </a:pPr>
            <a:r>
              <a:rPr sz="1600" b="1">
                <a:solidFill>
                  <a:srgbClr val="EA580C"/>
                </a:solidFill>
                <a:latin typeface="Calibri"/>
              </a:rPr>
              <a:t>▸  </a:t>
            </a:r>
            <a:r>
              <a:rPr sz="1600" b="0" i="0">
                <a:solidFill>
                  <a:srgbClr val="1F2A37"/>
                </a:solidFill>
                <a:latin typeface="Calibri"/>
              </a:rPr>
              <a:t>PM10, CO, NO2 · nhiệt độ, độ ẩm, gió</a:t>
            </a:r>
          </a:p>
          <a:p>
            <a:pPr>
              <a:spcAft>
                <a:spcPts val="800"/>
              </a:spcAft>
            </a:pPr>
            <a:r>
              <a:rPr sz="1600" b="1">
                <a:solidFill>
                  <a:srgbClr val="EA580C"/>
                </a:solidFill>
                <a:latin typeface="Calibri"/>
              </a:rPr>
              <a:t>▸  </a:t>
            </a:r>
            <a:r>
              <a:rPr sz="1600" b="0" i="0">
                <a:solidFill>
                  <a:srgbClr val="1F2A37"/>
                </a:solidFill>
                <a:latin typeface="Calibri"/>
              </a:rPr>
              <a:t>giờ, tháng, mùa, trạm, cụm trạm</a:t>
            </a:r>
          </a:p>
        </p:txBody>
      </p:sp>
      <p:sp>
        <p:nvSpPr>
          <p:cNvPr id="17" name="Rounded Rectangle 16"/>
          <p:cNvSpPr/>
          <p:nvPr/>
        </p:nvSpPr>
        <p:spPr>
          <a:xfrm>
            <a:off x="6245352" y="2743200"/>
            <a:ext cx="5394960" cy="265176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19672" y="2880360"/>
            <a:ext cx="4846320" cy="457200"/>
          </a:xfrm>
          <a:prstGeom prst="rect">
            <a:avLst/>
          </a:prstGeom>
          <a:noFill/>
        </p:spPr>
        <p:txBody>
          <a:bodyPr wrap="square" anchor="t" lIns="45720" rIns="45720">
            <a:spAutoFit/>
          </a:bodyPr>
          <a:lstStyle/>
          <a:p>
            <a:pPr algn="l"/>
            <a:r>
              <a:rPr sz="1900" b="1" i="0">
                <a:solidFill>
                  <a:srgbClr val="0F766E"/>
                </a:solidFill>
                <a:latin typeface="Calibri"/>
              </a:rPr>
              <a:t>Mô hình</a:t>
            </a:r>
          </a:p>
        </p:txBody>
      </p:sp>
      <p:sp>
        <p:nvSpPr>
          <p:cNvPr id="19" name="TextBox 18"/>
          <p:cNvSpPr txBox="1"/>
          <p:nvPr/>
        </p:nvSpPr>
        <p:spPr>
          <a:xfrm>
            <a:off x="6519672" y="3383280"/>
            <a:ext cx="4937760" cy="2560320"/>
          </a:xfrm>
          <a:prstGeom prst="rect">
            <a:avLst/>
          </a:prstGeom>
          <a:noFill/>
        </p:spPr>
        <p:txBody>
          <a:bodyPr wrap="square">
            <a:spAutoFit/>
          </a:bodyPr>
          <a:lstStyle/>
          <a:p>
            <a:pPr>
              <a:spcAft>
                <a:spcPts val="800"/>
              </a:spcAft>
            </a:pPr>
            <a:r>
              <a:rPr sz="1600" b="1">
                <a:solidFill>
                  <a:srgbClr val="EA580C"/>
                </a:solidFill>
                <a:latin typeface="Calibri"/>
              </a:rPr>
              <a:t>▸  </a:t>
            </a:r>
            <a:r>
              <a:rPr sz="1600" b="1" i="0">
                <a:solidFill>
                  <a:srgbClr val="1F2A37"/>
                </a:solidFill>
                <a:latin typeface="Calibri"/>
              </a:rPr>
              <a:t>Cơ sở: </a:t>
            </a:r>
            <a:r>
              <a:rPr sz="1600" b="0" i="0">
                <a:solidFill>
                  <a:srgbClr val="1F2A37"/>
                </a:solidFill>
                <a:latin typeface="Calibri"/>
              </a:rPr>
              <a:t>majority · persistence (cách hiện tại)</a:t>
            </a:r>
          </a:p>
          <a:p>
            <a:pPr>
              <a:spcAft>
                <a:spcPts val="800"/>
              </a:spcAft>
            </a:pPr>
            <a:r>
              <a:rPr sz="1600" b="1">
                <a:solidFill>
                  <a:srgbClr val="EA580C"/>
                </a:solidFill>
                <a:latin typeface="Calibri"/>
              </a:rPr>
              <a:t>▸  </a:t>
            </a:r>
            <a:r>
              <a:rPr sz="1600" b="1" i="0">
                <a:solidFill>
                  <a:srgbClr val="1F2A37"/>
                </a:solidFill>
                <a:latin typeface="Calibri"/>
              </a:rPr>
              <a:t>Cây quyết định </a:t>
            </a:r>
            <a:r>
              <a:rPr sz="1600" b="0" i="0">
                <a:solidFill>
                  <a:srgbClr val="1F2A37"/>
                </a:solidFill>
                <a:latin typeface="Calibri"/>
              </a:rPr>
              <a:t>entropy, độ sâu 6 (chọn trên val)</a:t>
            </a:r>
          </a:p>
          <a:p>
            <a:pPr>
              <a:spcAft>
                <a:spcPts val="800"/>
              </a:spcAft>
            </a:pPr>
            <a:r>
              <a:rPr sz="1600" b="1">
                <a:solidFill>
                  <a:srgbClr val="EA580C"/>
                </a:solidFill>
                <a:latin typeface="Calibri"/>
              </a:rPr>
              <a:t>▸  </a:t>
            </a:r>
            <a:r>
              <a:rPr sz="1600" b="1" i="0">
                <a:solidFill>
                  <a:srgbClr val="1F2A37"/>
                </a:solidFill>
                <a:latin typeface="Calibri"/>
              </a:rPr>
              <a:t>HistGradientBoosting </a:t>
            </a:r>
            <a:r>
              <a:rPr sz="1600" b="0" i="0">
                <a:solidFill>
                  <a:srgbClr val="1F2A37"/>
                </a:solidFill>
                <a:latin typeface="Calibri"/>
              </a:rPr>
              <a:t>ngưỡng 0,50</a:t>
            </a:r>
          </a:p>
          <a:p>
            <a:pPr>
              <a:spcAft>
                <a:spcPts val="800"/>
              </a:spcAft>
            </a:pPr>
            <a:r>
              <a:rPr sz="1600" b="1">
                <a:solidFill>
                  <a:srgbClr val="EA580C"/>
                </a:solidFill>
                <a:latin typeface="Calibri"/>
              </a:rPr>
              <a:t>▸  </a:t>
            </a:r>
            <a:r>
              <a:rPr sz="1600" b="0" i="0">
                <a:solidFill>
                  <a:srgbClr val="1F2A37"/>
                </a:solidFill>
                <a:latin typeface="Calibri"/>
              </a:rPr>
              <a:t>Khoá mô hình có F1 trên val cao nhất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415" cy="868680"/>
          </a:xfrm>
        </p:spPr>
        <p:txBody>
          <a:bodyPr wrap="square" anchor="ctr"/>
          <a:lstStyle/>
          <a:p>
            <a:pPr algn="l"/>
            <a:r>
              <a:rPr sz="3400" b="1">
                <a:solidFill>
                  <a:srgbClr val="1F2A37"/>
                </a:solidFill>
                <a:latin typeface="Cambria"/>
              </a:rPr>
              <a:t>Mô hình bỏ sót ít hơn và báo nhầm ít hơn cách hiện tại</a:t>
            </a:r>
          </a:p>
        </p:txBody>
      </p:sp>
      <p:sp>
        <p:nvSpPr>
          <p:cNvPr id="3" name="TextBox 2"/>
          <p:cNvSpPr txBox="1"/>
          <p:nvPr/>
        </p:nvSpPr>
        <p:spPr>
          <a:xfrm>
            <a:off x="548640" y="109728"/>
            <a:ext cx="5486400" cy="274320"/>
          </a:xfrm>
          <a:prstGeom prst="rect">
            <a:avLst/>
          </a:prstGeom>
          <a:noFill/>
        </p:spPr>
        <p:txBody>
          <a:bodyPr wrap="square" anchor="t" lIns="45720" rIns="45720">
            <a:spAutoFit/>
          </a:bodyPr>
          <a:lstStyle/>
          <a:p>
            <a:pPr algn="l"/>
            <a:r>
              <a:rPr sz="1100" b="1" i="0">
                <a:solidFill>
                  <a:srgbClr val="64748B"/>
                </a:solidFill>
                <a:latin typeface="Calibri"/>
              </a:rPr>
              <a:t>4 · KHAI PHÁ</a:t>
            </a:r>
          </a:p>
        </p:txBody>
      </p:sp>
      <p:sp>
        <p:nvSpPr>
          <p:cNvPr id="4" name="TextBox 3"/>
          <p:cNvSpPr txBox="1"/>
          <p:nvPr/>
        </p:nvSpPr>
        <p:spPr>
          <a:xfrm>
            <a:off x="10271455" y="6446520"/>
            <a:ext cx="1371600" cy="274320"/>
          </a:xfrm>
          <a:prstGeom prst="rect">
            <a:avLst/>
          </a:prstGeom>
          <a:noFill/>
        </p:spPr>
        <p:txBody>
          <a:bodyPr wrap="square" anchor="t" lIns="45720" rIns="45720">
            <a:spAutoFit/>
          </a:bodyPr>
          <a:lstStyle/>
          <a:p>
            <a:pPr algn="r"/>
            <a:r>
              <a:rPr sz="1100" b="0" i="0">
                <a:solidFill>
                  <a:srgbClr val="64748B"/>
                </a:solidFill>
                <a:latin typeface="Calibri"/>
              </a:rPr>
              <a:t>11 / 15</a:t>
            </a:r>
          </a:p>
        </p:txBody>
      </p:sp>
      <p:pic>
        <p:nvPicPr>
          <p:cNvPr id="5" name="Picture 4" descr="confusion_matrices_test.png"/>
          <p:cNvPicPr>
            <a:picLocks noChangeAspect="1"/>
          </p:cNvPicPr>
          <p:nvPr/>
        </p:nvPicPr>
        <p:blipFill>
          <a:blip r:embed="rId3"/>
          <a:stretch>
            <a:fillRect/>
          </a:stretch>
        </p:blipFill>
        <p:spPr>
          <a:xfrm>
            <a:off x="548640" y="1371600"/>
            <a:ext cx="11064240" cy="2634343"/>
          </a:xfrm>
          <a:prstGeom prst="rect">
            <a:avLst/>
          </a:prstGeom>
        </p:spPr>
      </p:pic>
      <p:sp>
        <p:nvSpPr>
          <p:cNvPr id="6" name="Rounded Rectangle 5"/>
          <p:cNvSpPr/>
          <p:nvPr/>
        </p:nvSpPr>
        <p:spPr>
          <a:xfrm>
            <a:off x="548640" y="4343400"/>
            <a:ext cx="2606040" cy="160020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453128"/>
            <a:ext cx="2240280" cy="777240"/>
          </a:xfrm>
          <a:prstGeom prst="rect">
            <a:avLst/>
          </a:prstGeom>
          <a:noFill/>
        </p:spPr>
        <p:txBody>
          <a:bodyPr wrap="square" anchor="t" lIns="45720" rIns="45720">
            <a:spAutoFit/>
          </a:bodyPr>
          <a:lstStyle/>
          <a:p>
            <a:pPr algn="l"/>
            <a:r>
              <a:rPr sz="2400" b="1" i="0">
                <a:solidFill>
                  <a:srgbClr val="EA580C"/>
                </a:solidFill>
                <a:latin typeface="Cambria"/>
              </a:rPr>
              <a:t>0,927</a:t>
            </a:r>
          </a:p>
        </p:txBody>
      </p:sp>
      <p:sp>
        <p:nvSpPr>
          <p:cNvPr id="8" name="TextBox 7"/>
          <p:cNvSpPr txBox="1"/>
          <p:nvPr/>
        </p:nvSpPr>
        <p:spPr>
          <a:xfrm>
            <a:off x="731520" y="5184648"/>
            <a:ext cx="2240280" cy="731520"/>
          </a:xfrm>
          <a:prstGeom prst="rect">
            <a:avLst/>
          </a:prstGeom>
          <a:noFill/>
        </p:spPr>
        <p:txBody>
          <a:bodyPr wrap="square" anchor="t" lIns="45720" rIns="45720">
            <a:spAutoFit/>
          </a:bodyPr>
          <a:lstStyle/>
          <a:p>
            <a:pPr algn="l"/>
            <a:r>
              <a:rPr sz="1300" b="0" i="0">
                <a:solidFill>
                  <a:srgbClr val="64748B"/>
                </a:solidFill>
                <a:latin typeface="Calibri"/>
              </a:rPr>
              <a:t>F1 của HistGB (persistence 0,914)</a:t>
            </a:r>
          </a:p>
        </p:txBody>
      </p:sp>
      <p:sp>
        <p:nvSpPr>
          <p:cNvPr id="9" name="Rounded Rectangle 8"/>
          <p:cNvSpPr/>
          <p:nvPr/>
        </p:nvSpPr>
        <p:spPr>
          <a:xfrm>
            <a:off x="3364992" y="4343400"/>
            <a:ext cx="2606040" cy="160020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7872" y="4453128"/>
            <a:ext cx="2240280" cy="777240"/>
          </a:xfrm>
          <a:prstGeom prst="rect">
            <a:avLst/>
          </a:prstGeom>
          <a:noFill/>
        </p:spPr>
        <p:txBody>
          <a:bodyPr wrap="square" anchor="t" lIns="45720" rIns="45720">
            <a:spAutoFit/>
          </a:bodyPr>
          <a:lstStyle/>
          <a:p>
            <a:pPr algn="l"/>
            <a:r>
              <a:rPr sz="2400" b="1" i="0">
                <a:solidFill>
                  <a:srgbClr val="1F2A37"/>
                </a:solidFill>
                <a:latin typeface="Cambria"/>
              </a:rPr>
              <a:t>1.000 → 838</a:t>
            </a:r>
          </a:p>
        </p:txBody>
      </p:sp>
      <p:sp>
        <p:nvSpPr>
          <p:cNvPr id="11" name="TextBox 10"/>
          <p:cNvSpPr txBox="1"/>
          <p:nvPr/>
        </p:nvSpPr>
        <p:spPr>
          <a:xfrm>
            <a:off x="3547872" y="5184648"/>
            <a:ext cx="2240280" cy="731520"/>
          </a:xfrm>
          <a:prstGeom prst="rect">
            <a:avLst/>
          </a:prstGeom>
          <a:noFill/>
        </p:spPr>
        <p:txBody>
          <a:bodyPr wrap="square" anchor="t" lIns="45720" rIns="45720">
            <a:spAutoFit/>
          </a:bodyPr>
          <a:lstStyle/>
          <a:p>
            <a:pPr algn="l"/>
            <a:r>
              <a:rPr sz="1300" b="0" i="0">
                <a:solidFill>
                  <a:srgbClr val="64748B"/>
                </a:solidFill>
                <a:latin typeface="Calibri"/>
              </a:rPr>
              <a:t>giờ ô nhiễm bị bỏ sót (FN)</a:t>
            </a:r>
          </a:p>
        </p:txBody>
      </p:sp>
      <p:sp>
        <p:nvSpPr>
          <p:cNvPr id="12" name="Rounded Rectangle 11"/>
          <p:cNvSpPr/>
          <p:nvPr/>
        </p:nvSpPr>
        <p:spPr>
          <a:xfrm>
            <a:off x="6181344" y="4343400"/>
            <a:ext cx="2606040" cy="160020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64224" y="4453128"/>
            <a:ext cx="2240280" cy="777240"/>
          </a:xfrm>
          <a:prstGeom prst="rect">
            <a:avLst/>
          </a:prstGeom>
          <a:noFill/>
        </p:spPr>
        <p:txBody>
          <a:bodyPr wrap="square" anchor="t" lIns="45720" rIns="45720">
            <a:spAutoFit/>
          </a:bodyPr>
          <a:lstStyle/>
          <a:p>
            <a:pPr algn="l"/>
            <a:r>
              <a:rPr sz="2400" b="1" i="0">
                <a:solidFill>
                  <a:srgbClr val="1F2A37"/>
                </a:solidFill>
                <a:latin typeface="Cambria"/>
              </a:rPr>
              <a:t>999 → 865</a:t>
            </a:r>
          </a:p>
        </p:txBody>
      </p:sp>
      <p:sp>
        <p:nvSpPr>
          <p:cNvPr id="14" name="TextBox 13"/>
          <p:cNvSpPr txBox="1"/>
          <p:nvPr/>
        </p:nvSpPr>
        <p:spPr>
          <a:xfrm>
            <a:off x="6364224" y="5184648"/>
            <a:ext cx="2240280" cy="731520"/>
          </a:xfrm>
          <a:prstGeom prst="rect">
            <a:avLst/>
          </a:prstGeom>
          <a:noFill/>
        </p:spPr>
        <p:txBody>
          <a:bodyPr wrap="square" anchor="t" lIns="45720" rIns="45720">
            <a:spAutoFit/>
          </a:bodyPr>
          <a:lstStyle/>
          <a:p>
            <a:pPr algn="l"/>
            <a:r>
              <a:rPr sz="1300" b="0" i="0">
                <a:solidFill>
                  <a:srgbClr val="64748B"/>
                </a:solidFill>
                <a:latin typeface="Calibri"/>
              </a:rPr>
              <a:t>cảnh báo nhầm (FP)</a:t>
            </a:r>
          </a:p>
        </p:txBody>
      </p:sp>
      <p:sp>
        <p:nvSpPr>
          <p:cNvPr id="15" name="Rounded Rectangle 14"/>
          <p:cNvSpPr/>
          <p:nvPr/>
        </p:nvSpPr>
        <p:spPr>
          <a:xfrm>
            <a:off x="8997696" y="4343400"/>
            <a:ext cx="2606040" cy="160020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80576" y="4453128"/>
            <a:ext cx="2240280" cy="777240"/>
          </a:xfrm>
          <a:prstGeom prst="rect">
            <a:avLst/>
          </a:prstGeom>
          <a:noFill/>
        </p:spPr>
        <p:txBody>
          <a:bodyPr wrap="square" anchor="t" lIns="45720" rIns="45720">
            <a:spAutoFit/>
          </a:bodyPr>
          <a:lstStyle/>
          <a:p>
            <a:pPr algn="l"/>
            <a:r>
              <a:rPr sz="2400" b="1" i="0">
                <a:solidFill>
                  <a:srgbClr val="64748B"/>
                </a:solidFill>
                <a:latin typeface="Cambria"/>
              </a:rPr>
              <a:t>0,76</a:t>
            </a:r>
          </a:p>
        </p:txBody>
      </p:sp>
      <p:sp>
        <p:nvSpPr>
          <p:cNvPr id="17" name="TextBox 16"/>
          <p:cNvSpPr txBox="1"/>
          <p:nvPr/>
        </p:nvSpPr>
        <p:spPr>
          <a:xfrm>
            <a:off x="9180576" y="5184648"/>
            <a:ext cx="2240280" cy="731520"/>
          </a:xfrm>
          <a:prstGeom prst="rect">
            <a:avLst/>
          </a:prstGeom>
          <a:noFill/>
        </p:spPr>
        <p:txBody>
          <a:bodyPr wrap="square" anchor="t" lIns="45720" rIns="45720">
            <a:spAutoFit/>
          </a:bodyPr>
          <a:lstStyle/>
          <a:p>
            <a:pPr algn="l"/>
            <a:r>
              <a:rPr sz="1300" b="0" i="0">
                <a:solidFill>
                  <a:srgbClr val="64748B"/>
                </a:solidFill>
                <a:latin typeface="Calibri"/>
              </a:rPr>
              <a:t>accuracy của majority — dù recall = 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415" cy="868680"/>
          </a:xfrm>
        </p:spPr>
        <p:txBody>
          <a:bodyPr wrap="square" anchor="ctr"/>
          <a:lstStyle/>
          <a:p>
            <a:pPr algn="l"/>
            <a:r>
              <a:rPr sz="3400" b="1">
                <a:solidFill>
                  <a:srgbClr val="1F2A37"/>
                </a:solidFill>
                <a:latin typeface="Cambria"/>
              </a:rPr>
              <a:t>Báo trước được 30% số lần ô nhiễm bắt đầu</a:t>
            </a:r>
          </a:p>
        </p:txBody>
      </p:sp>
      <p:sp>
        <p:nvSpPr>
          <p:cNvPr id="3" name="TextBox 2"/>
          <p:cNvSpPr txBox="1"/>
          <p:nvPr/>
        </p:nvSpPr>
        <p:spPr>
          <a:xfrm>
            <a:off x="548640" y="109728"/>
            <a:ext cx="5486400" cy="274320"/>
          </a:xfrm>
          <a:prstGeom prst="rect">
            <a:avLst/>
          </a:prstGeom>
          <a:noFill/>
        </p:spPr>
        <p:txBody>
          <a:bodyPr wrap="square" anchor="t" lIns="45720" rIns="45720">
            <a:spAutoFit/>
          </a:bodyPr>
          <a:lstStyle/>
          <a:p>
            <a:pPr algn="l"/>
            <a:r>
              <a:rPr sz="1100" b="1" i="0">
                <a:solidFill>
                  <a:srgbClr val="64748B"/>
                </a:solidFill>
                <a:latin typeface="Calibri"/>
              </a:rPr>
              <a:t>4 · KHAI PHÁ</a:t>
            </a:r>
          </a:p>
        </p:txBody>
      </p:sp>
      <p:sp>
        <p:nvSpPr>
          <p:cNvPr id="4" name="TextBox 3"/>
          <p:cNvSpPr txBox="1"/>
          <p:nvPr/>
        </p:nvSpPr>
        <p:spPr>
          <a:xfrm>
            <a:off x="10271455" y="6446520"/>
            <a:ext cx="1371600" cy="274320"/>
          </a:xfrm>
          <a:prstGeom prst="rect">
            <a:avLst/>
          </a:prstGeom>
          <a:noFill/>
        </p:spPr>
        <p:txBody>
          <a:bodyPr wrap="square" anchor="t" lIns="45720" rIns="45720">
            <a:spAutoFit/>
          </a:bodyPr>
          <a:lstStyle/>
          <a:p>
            <a:pPr algn="r"/>
            <a:r>
              <a:rPr sz="1100" b="0" i="0">
                <a:solidFill>
                  <a:srgbClr val="64748B"/>
                </a:solidFill>
                <a:latin typeface="Calibri"/>
              </a:rPr>
              <a:t>12 / 15</a:t>
            </a:r>
          </a:p>
        </p:txBody>
      </p:sp>
      <p:sp>
        <p:nvSpPr>
          <p:cNvPr id="5" name="Rounded Rectangle 4"/>
          <p:cNvSpPr/>
          <p:nvPr/>
        </p:nvSpPr>
        <p:spPr>
          <a:xfrm>
            <a:off x="548640" y="1417320"/>
            <a:ext cx="3840480" cy="146304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527048"/>
            <a:ext cx="3474720" cy="777240"/>
          </a:xfrm>
          <a:prstGeom prst="rect">
            <a:avLst/>
          </a:prstGeom>
          <a:noFill/>
        </p:spPr>
        <p:txBody>
          <a:bodyPr wrap="square" anchor="t" lIns="45720" rIns="45720">
            <a:spAutoFit/>
          </a:bodyPr>
          <a:lstStyle/>
          <a:p>
            <a:pPr algn="l"/>
            <a:r>
              <a:rPr sz="4000" b="1" i="0">
                <a:solidFill>
                  <a:srgbClr val="EA580C"/>
                </a:solidFill>
                <a:latin typeface="Cambria"/>
              </a:rPr>
              <a:t>304 / 1.000</a:t>
            </a:r>
          </a:p>
        </p:txBody>
      </p:sp>
      <p:sp>
        <p:nvSpPr>
          <p:cNvPr id="7" name="TextBox 6"/>
          <p:cNvSpPr txBox="1"/>
          <p:nvPr/>
        </p:nvSpPr>
        <p:spPr>
          <a:xfrm>
            <a:off x="731520" y="2258568"/>
            <a:ext cx="3474720" cy="594360"/>
          </a:xfrm>
          <a:prstGeom prst="rect">
            <a:avLst/>
          </a:prstGeom>
          <a:noFill/>
        </p:spPr>
        <p:txBody>
          <a:bodyPr wrap="square" anchor="t" lIns="45720" rIns="45720">
            <a:spAutoFit/>
          </a:bodyPr>
          <a:lstStyle/>
          <a:p>
            <a:pPr algn="l"/>
            <a:r>
              <a:rPr sz="1300" b="0" i="0">
                <a:solidFill>
                  <a:srgbClr val="64748B"/>
                </a:solidFill>
                <a:latin typeface="Calibri"/>
              </a:rPr>
              <a:t>lần ô nhiễm bắt đầu được báo trước (persistence: 0)</a:t>
            </a:r>
          </a:p>
        </p:txBody>
      </p:sp>
      <p:sp>
        <p:nvSpPr>
          <p:cNvPr id="8" name="Rounded Rectangle 7"/>
          <p:cNvSpPr/>
          <p:nvPr/>
        </p:nvSpPr>
        <p:spPr>
          <a:xfrm>
            <a:off x="548640" y="3063240"/>
            <a:ext cx="3840480" cy="146304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172968"/>
            <a:ext cx="3474720" cy="777240"/>
          </a:xfrm>
          <a:prstGeom prst="rect">
            <a:avLst/>
          </a:prstGeom>
          <a:noFill/>
        </p:spPr>
        <p:txBody>
          <a:bodyPr wrap="square" anchor="t" lIns="45720" rIns="45720">
            <a:spAutoFit/>
          </a:bodyPr>
          <a:lstStyle/>
          <a:p>
            <a:pPr algn="l"/>
            <a:r>
              <a:rPr sz="3200" b="1" i="0">
                <a:solidFill>
                  <a:srgbClr val="1F2A37"/>
                </a:solidFill>
                <a:latin typeface="Cambria"/>
              </a:rPr>
              <a:t>p = 5×10⁻²³</a:t>
            </a:r>
          </a:p>
        </p:txBody>
      </p:sp>
      <p:sp>
        <p:nvSpPr>
          <p:cNvPr id="10" name="TextBox 9"/>
          <p:cNvSpPr txBox="1"/>
          <p:nvPr/>
        </p:nvSpPr>
        <p:spPr>
          <a:xfrm>
            <a:off x="731520" y="3904488"/>
            <a:ext cx="3474720" cy="594360"/>
          </a:xfrm>
          <a:prstGeom prst="rect">
            <a:avLst/>
          </a:prstGeom>
          <a:noFill/>
        </p:spPr>
        <p:txBody>
          <a:bodyPr wrap="square" anchor="t" lIns="45720" rIns="45720">
            <a:spAutoFit/>
          </a:bodyPr>
          <a:lstStyle/>
          <a:p>
            <a:pPr algn="l"/>
            <a:r>
              <a:rPr sz="1300" b="0" i="0">
                <a:solidFill>
                  <a:srgbClr val="64748B"/>
                </a:solidFill>
                <a:latin typeface="Calibri"/>
              </a:rPr>
              <a:t>McNemar: 594 giờ chỉ mô hình đúng, 298 giờ chỉ persistence đúng</a:t>
            </a:r>
          </a:p>
        </p:txBody>
      </p:sp>
      <p:sp>
        <p:nvSpPr>
          <p:cNvPr id="11" name="Rounded Rectangle 10"/>
          <p:cNvSpPr/>
          <p:nvPr/>
        </p:nvSpPr>
        <p:spPr>
          <a:xfrm>
            <a:off x="548640" y="4709160"/>
            <a:ext cx="3840480" cy="137160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818888"/>
            <a:ext cx="3474720" cy="777240"/>
          </a:xfrm>
          <a:prstGeom prst="rect">
            <a:avLst/>
          </a:prstGeom>
          <a:noFill/>
        </p:spPr>
        <p:txBody>
          <a:bodyPr wrap="square" anchor="t" lIns="45720" rIns="45720">
            <a:spAutoFit/>
          </a:bodyPr>
          <a:lstStyle/>
          <a:p>
            <a:pPr algn="l"/>
            <a:r>
              <a:rPr sz="4000" b="1" i="0">
                <a:solidFill>
                  <a:srgbClr val="0F766E"/>
                </a:solidFill>
                <a:latin typeface="Cambria"/>
              </a:rPr>
              <a:t>12/12</a:t>
            </a:r>
          </a:p>
        </p:txBody>
      </p:sp>
      <p:sp>
        <p:nvSpPr>
          <p:cNvPr id="13" name="TextBox 12"/>
          <p:cNvSpPr txBox="1"/>
          <p:nvPr/>
        </p:nvSpPr>
        <p:spPr>
          <a:xfrm>
            <a:off x="731520" y="5550408"/>
            <a:ext cx="3474720" cy="502920"/>
          </a:xfrm>
          <a:prstGeom prst="rect">
            <a:avLst/>
          </a:prstGeom>
          <a:noFill/>
        </p:spPr>
        <p:txBody>
          <a:bodyPr wrap="square" anchor="t" lIns="45720" rIns="45720">
            <a:spAutoFit/>
          </a:bodyPr>
          <a:lstStyle/>
          <a:p>
            <a:pPr algn="l"/>
            <a:r>
              <a:rPr sz="1300" b="0" i="0">
                <a:solidFill>
                  <a:srgbClr val="64748B"/>
                </a:solidFill>
                <a:latin typeface="Calibri"/>
              </a:rPr>
              <a:t>trạm có F1 cao hơn persistence</a:t>
            </a:r>
          </a:p>
        </p:txBody>
      </p:sp>
      <p:graphicFrame>
        <p:nvGraphicFramePr>
          <p:cNvPr id="14" name="Chart 13"/>
          <p:cNvGraphicFramePr>
            <a:graphicFrameLocks noGrp="1"/>
          </p:cNvGraphicFramePr>
          <p:nvPr/>
        </p:nvGraphicFramePr>
        <p:xfrm>
          <a:off x="4754880" y="1325880"/>
          <a:ext cx="6885432" cy="4846320"/>
        </p:xfrm>
        <a:graphic>
          <a:graphicData uri="http://schemas.openxmlformats.org/drawingml/2006/chart">
            <c:chart xmlns:c="http://schemas.openxmlformats.org/drawingml/2006/chart" r:id="rId3"/>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415" cy="868680"/>
          </a:xfrm>
        </p:spPr>
        <p:txBody>
          <a:bodyPr wrap="square" anchor="ctr"/>
          <a:lstStyle/>
          <a:p>
            <a:pPr algn="l"/>
            <a:r>
              <a:rPr sz="3400" b="1">
                <a:solidFill>
                  <a:srgbClr val="1F2A37"/>
                </a:solidFill>
                <a:latin typeface="Cambria"/>
              </a:rPr>
              <a:t>Ứng dụng: trang Cảnh báo cho người vận hành</a:t>
            </a:r>
          </a:p>
        </p:txBody>
      </p:sp>
      <p:sp>
        <p:nvSpPr>
          <p:cNvPr id="3" name="TextBox 2"/>
          <p:cNvSpPr txBox="1"/>
          <p:nvPr/>
        </p:nvSpPr>
        <p:spPr>
          <a:xfrm>
            <a:off x="548640" y="109728"/>
            <a:ext cx="5486400" cy="274320"/>
          </a:xfrm>
          <a:prstGeom prst="rect">
            <a:avLst/>
          </a:prstGeom>
          <a:noFill/>
        </p:spPr>
        <p:txBody>
          <a:bodyPr wrap="square" anchor="t" lIns="45720" rIns="45720">
            <a:spAutoFit/>
          </a:bodyPr>
          <a:lstStyle/>
          <a:p>
            <a:pPr algn="l"/>
            <a:r>
              <a:rPr sz="1100" b="1" i="0">
                <a:solidFill>
                  <a:srgbClr val="64748B"/>
                </a:solidFill>
                <a:latin typeface="Calibri"/>
              </a:rPr>
              <a:t>4 · KHAI PHÁ</a:t>
            </a:r>
          </a:p>
        </p:txBody>
      </p:sp>
      <p:sp>
        <p:nvSpPr>
          <p:cNvPr id="4" name="TextBox 3"/>
          <p:cNvSpPr txBox="1"/>
          <p:nvPr/>
        </p:nvSpPr>
        <p:spPr>
          <a:xfrm>
            <a:off x="10271455" y="6446520"/>
            <a:ext cx="1371600" cy="274320"/>
          </a:xfrm>
          <a:prstGeom prst="rect">
            <a:avLst/>
          </a:prstGeom>
          <a:noFill/>
        </p:spPr>
        <p:txBody>
          <a:bodyPr wrap="square" anchor="t" lIns="45720" rIns="45720">
            <a:spAutoFit/>
          </a:bodyPr>
          <a:lstStyle/>
          <a:p>
            <a:pPr algn="r"/>
            <a:r>
              <a:rPr sz="1100" b="0" i="0">
                <a:solidFill>
                  <a:srgbClr val="64748B"/>
                </a:solidFill>
                <a:latin typeface="Calibri"/>
              </a:rPr>
              <a:t>13 / 15</a:t>
            </a:r>
          </a:p>
        </p:txBody>
      </p:sp>
      <p:pic>
        <p:nvPicPr>
          <p:cNvPr id="5" name="Picture 4" descr="canh_bao.png"/>
          <p:cNvPicPr>
            <a:picLocks noChangeAspect="1"/>
          </p:cNvPicPr>
          <p:nvPr/>
        </p:nvPicPr>
        <p:blipFill>
          <a:blip r:embed="rId3"/>
          <a:stretch>
            <a:fillRect/>
          </a:stretch>
        </p:blipFill>
        <p:spPr>
          <a:xfrm>
            <a:off x="548640" y="1280160"/>
            <a:ext cx="5688300" cy="4937760"/>
          </a:xfrm>
          <a:prstGeom prst="rect">
            <a:avLst/>
          </a:prstGeom>
        </p:spPr>
      </p:pic>
      <p:sp>
        <p:nvSpPr>
          <p:cNvPr id="6" name="TextBox 5"/>
          <p:cNvSpPr txBox="1"/>
          <p:nvPr/>
        </p:nvSpPr>
        <p:spPr>
          <a:xfrm>
            <a:off x="6629400" y="1463040"/>
            <a:ext cx="5029200" cy="4572000"/>
          </a:xfrm>
          <a:prstGeom prst="rect">
            <a:avLst/>
          </a:prstGeom>
          <a:noFill/>
        </p:spPr>
        <p:txBody>
          <a:bodyPr wrap="square">
            <a:spAutoFit/>
          </a:bodyPr>
          <a:lstStyle/>
          <a:p>
            <a:pPr>
              <a:spcAft>
                <a:spcPts val="1400"/>
              </a:spcAft>
            </a:pPr>
            <a:r>
              <a:rPr sz="1700" b="1">
                <a:solidFill>
                  <a:srgbClr val="EA580C"/>
                </a:solidFill>
                <a:latin typeface="Calibri"/>
              </a:rPr>
              <a:t>▸  </a:t>
            </a:r>
            <a:r>
              <a:rPr sz="1700" b="0" i="0">
                <a:solidFill>
                  <a:srgbClr val="1F2A37"/>
                </a:solidFill>
                <a:latin typeface="Calibri"/>
              </a:rPr>
              <a:t>Ma trận nhầm lẫn: mô hình so với cách hiện tại</a:t>
            </a:r>
          </a:p>
          <a:p>
            <a:pPr>
              <a:spcAft>
                <a:spcPts val="1400"/>
              </a:spcAft>
            </a:pPr>
            <a:r>
              <a:rPr sz="1700" b="1">
                <a:solidFill>
                  <a:srgbClr val="EA580C"/>
                </a:solidFill>
                <a:latin typeface="Calibri"/>
              </a:rPr>
              <a:t>▸  </a:t>
            </a:r>
            <a:r>
              <a:rPr sz="1700" b="0" i="0">
                <a:solidFill>
                  <a:srgbClr val="1F2A37"/>
                </a:solidFill>
                <a:latin typeface="Calibri"/>
              </a:rPr>
              <a:t>Dòng thời gian PM2.5 và cảnh báo theo trạm</a:t>
            </a:r>
          </a:p>
          <a:p>
            <a:pPr>
              <a:spcAft>
                <a:spcPts val="1400"/>
              </a:spcAft>
            </a:pPr>
            <a:r>
              <a:rPr sz="1700" b="1">
                <a:solidFill>
                  <a:srgbClr val="EA580C"/>
                </a:solidFill>
                <a:latin typeface="Calibri"/>
              </a:rPr>
              <a:t>▸  </a:t>
            </a:r>
            <a:r>
              <a:rPr sz="1700" b="0" i="0">
                <a:solidFill>
                  <a:srgbClr val="1F2A37"/>
                </a:solidFill>
                <a:latin typeface="Calibri"/>
              </a:rPr>
              <a:t>Đọc từ mart_pm25_alerts (dbt)</a:t>
            </a:r>
          </a:p>
          <a:p>
            <a:pPr>
              <a:spcAft>
                <a:spcPts val="1400"/>
              </a:spcAft>
            </a:pPr>
            <a:r>
              <a:rPr sz="1700" b="1">
                <a:solidFill>
                  <a:srgbClr val="EA580C"/>
                </a:solidFill>
                <a:latin typeface="Calibri"/>
              </a:rPr>
              <a:t>▸  </a:t>
            </a:r>
            <a:r>
              <a:rPr sz="1700" b="0" i="0">
                <a:solidFill>
                  <a:srgbClr val="1F2A37"/>
                </a:solidFill>
                <a:latin typeface="Calibri"/>
              </a:rPr>
              <a:t>Cùng app: /olap, /du-bao, /ban-do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415" cy="868680"/>
          </a:xfrm>
        </p:spPr>
        <p:txBody>
          <a:bodyPr wrap="square" anchor="ctr"/>
          <a:lstStyle/>
          <a:p>
            <a:pPr algn="l"/>
            <a:r>
              <a:rPr sz="3400" b="1">
                <a:solidFill>
                  <a:srgbClr val="1F2A37"/>
                </a:solidFill>
                <a:latin typeface="Cambria"/>
              </a:rPr>
              <a:t>Khuyến nghị hành động và hạn chế</a:t>
            </a:r>
          </a:p>
        </p:txBody>
      </p:sp>
      <p:sp>
        <p:nvSpPr>
          <p:cNvPr id="3" name="TextBox 2"/>
          <p:cNvSpPr txBox="1"/>
          <p:nvPr/>
        </p:nvSpPr>
        <p:spPr>
          <a:xfrm>
            <a:off x="548640" y="109728"/>
            <a:ext cx="5486400" cy="274320"/>
          </a:xfrm>
          <a:prstGeom prst="rect">
            <a:avLst/>
          </a:prstGeom>
          <a:noFill/>
        </p:spPr>
        <p:txBody>
          <a:bodyPr wrap="square" anchor="t" lIns="45720" rIns="45720">
            <a:spAutoFit/>
          </a:bodyPr>
          <a:lstStyle/>
          <a:p>
            <a:pPr algn="l"/>
            <a:r>
              <a:rPr sz="1100" b="1" i="0">
                <a:solidFill>
                  <a:srgbClr val="64748B"/>
                </a:solidFill>
                <a:latin typeface="Calibri"/>
              </a:rPr>
              <a:t>5 · KẾT LUẬN</a:t>
            </a:r>
          </a:p>
        </p:txBody>
      </p:sp>
      <p:sp>
        <p:nvSpPr>
          <p:cNvPr id="4" name="TextBox 3"/>
          <p:cNvSpPr txBox="1"/>
          <p:nvPr/>
        </p:nvSpPr>
        <p:spPr>
          <a:xfrm>
            <a:off x="10271455" y="6446520"/>
            <a:ext cx="1371600" cy="274320"/>
          </a:xfrm>
          <a:prstGeom prst="rect">
            <a:avLst/>
          </a:prstGeom>
          <a:noFill/>
        </p:spPr>
        <p:txBody>
          <a:bodyPr wrap="square" anchor="t" lIns="45720" rIns="45720">
            <a:spAutoFit/>
          </a:bodyPr>
          <a:lstStyle/>
          <a:p>
            <a:pPr algn="r"/>
            <a:r>
              <a:rPr sz="1100" b="0" i="0">
                <a:solidFill>
                  <a:srgbClr val="64748B"/>
                </a:solidFill>
                <a:latin typeface="Calibri"/>
              </a:rPr>
              <a:t>14 / 15</a:t>
            </a:r>
          </a:p>
        </p:txBody>
      </p:sp>
      <p:sp>
        <p:nvSpPr>
          <p:cNvPr id="5" name="Rounded Rectangle 4"/>
          <p:cNvSpPr/>
          <p:nvPr/>
        </p:nvSpPr>
        <p:spPr>
          <a:xfrm>
            <a:off x="548640" y="1417320"/>
            <a:ext cx="5486400" cy="3291840"/>
          </a:xfrm>
          <a:prstGeom prst="roundRect">
            <a:avLst>
              <a:gd name="adj" fmla="val 6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554480"/>
            <a:ext cx="4937760" cy="457200"/>
          </a:xfrm>
          <a:prstGeom prst="rect">
            <a:avLst/>
          </a:prstGeom>
          <a:noFill/>
        </p:spPr>
        <p:txBody>
          <a:bodyPr wrap="square" anchor="t" lIns="45720" rIns="45720">
            <a:spAutoFit/>
          </a:bodyPr>
          <a:lstStyle/>
          <a:p>
            <a:pPr algn="l"/>
            <a:r>
              <a:rPr sz="2000" b="1" i="0">
                <a:solidFill>
                  <a:srgbClr val="0F766E"/>
                </a:solidFill>
                <a:latin typeface="Calibri"/>
              </a:rPr>
              <a:t>Nên làm</a:t>
            </a:r>
          </a:p>
        </p:txBody>
      </p:sp>
      <p:sp>
        <p:nvSpPr>
          <p:cNvPr id="7" name="TextBox 6"/>
          <p:cNvSpPr txBox="1"/>
          <p:nvPr/>
        </p:nvSpPr>
        <p:spPr>
          <a:xfrm>
            <a:off x="822960" y="2103120"/>
            <a:ext cx="4937760" cy="3749039"/>
          </a:xfrm>
          <a:prstGeom prst="rect">
            <a:avLst/>
          </a:prstGeom>
          <a:noFill/>
        </p:spPr>
        <p:txBody>
          <a:bodyPr wrap="square">
            <a:spAutoFit/>
          </a:bodyPr>
          <a:lstStyle/>
          <a:p>
            <a:pPr>
              <a:spcAft>
                <a:spcPts val="1400"/>
              </a:spcAft>
            </a:pPr>
            <a:r>
              <a:rPr sz="1700" b="1">
                <a:solidFill>
                  <a:srgbClr val="EA580C"/>
                </a:solidFill>
                <a:latin typeface="Calibri"/>
              </a:rPr>
              <a:t>▸  </a:t>
            </a:r>
            <a:r>
              <a:rPr sz="1700" b="0" i="0">
                <a:solidFill>
                  <a:srgbClr val="1F2A37"/>
                </a:solidFill>
                <a:latin typeface="Calibri"/>
              </a:rPr>
              <a:t>Cảnh báo theo xác suất của mô hình, không chờ số đo vượt ngưỡng</a:t>
            </a:r>
          </a:p>
          <a:p>
            <a:pPr>
              <a:spcAft>
                <a:spcPts val="1400"/>
              </a:spcAft>
            </a:pPr>
            <a:r>
              <a:rPr sz="1700" b="1">
                <a:solidFill>
                  <a:srgbClr val="EA580C"/>
                </a:solidFill>
                <a:latin typeface="Calibri"/>
              </a:rPr>
              <a:t>▸  </a:t>
            </a:r>
            <a:r>
              <a:rPr sz="1700" b="0" i="0">
                <a:solidFill>
                  <a:srgbClr val="1F2A37"/>
                </a:solidFill>
                <a:latin typeface="Calibri"/>
              </a:rPr>
              <a:t>Ưu tiên mùa đông, buổi tối/đêm, khi có gió nam</a:t>
            </a:r>
          </a:p>
          <a:p>
            <a:pPr>
              <a:spcAft>
                <a:spcPts val="1400"/>
              </a:spcAft>
            </a:pPr>
            <a:r>
              <a:rPr sz="1700" b="1">
                <a:solidFill>
                  <a:srgbClr val="EA580C"/>
                </a:solidFill>
                <a:latin typeface="Calibri"/>
              </a:rPr>
              <a:t>▸  </a:t>
            </a:r>
            <a:r>
              <a:rPr sz="1700" b="0" i="0">
                <a:solidFill>
                  <a:srgbClr val="1F2A37"/>
                </a:solidFill>
                <a:latin typeface="Calibri"/>
              </a:rPr>
              <a:t>Cần báo sớm 3–6 giờ: chấp nhận thêm báo nhầm để đổi lấy recall cao</a:t>
            </a:r>
          </a:p>
        </p:txBody>
      </p:sp>
      <p:sp>
        <p:nvSpPr>
          <p:cNvPr id="8" name="Rounded Rectangle 7"/>
          <p:cNvSpPr/>
          <p:nvPr/>
        </p:nvSpPr>
        <p:spPr>
          <a:xfrm>
            <a:off x="6153912" y="1417320"/>
            <a:ext cx="5486400" cy="329184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28232" y="1554480"/>
            <a:ext cx="4937760" cy="457200"/>
          </a:xfrm>
          <a:prstGeom prst="rect">
            <a:avLst/>
          </a:prstGeom>
          <a:noFill/>
        </p:spPr>
        <p:txBody>
          <a:bodyPr wrap="square" anchor="t" lIns="45720" rIns="45720">
            <a:spAutoFit/>
          </a:bodyPr>
          <a:lstStyle/>
          <a:p>
            <a:pPr algn="l"/>
            <a:r>
              <a:rPr sz="2000" b="1" i="0">
                <a:solidFill>
                  <a:srgbClr val="EA580C"/>
                </a:solidFill>
                <a:latin typeface="Calibri"/>
              </a:rPr>
              <a:t>Hạn chế</a:t>
            </a:r>
          </a:p>
        </p:txBody>
      </p:sp>
      <p:sp>
        <p:nvSpPr>
          <p:cNvPr id="10" name="TextBox 9"/>
          <p:cNvSpPr txBox="1"/>
          <p:nvPr/>
        </p:nvSpPr>
        <p:spPr>
          <a:xfrm>
            <a:off x="6428232" y="2103120"/>
            <a:ext cx="4937760" cy="3749039"/>
          </a:xfrm>
          <a:prstGeom prst="rect">
            <a:avLst/>
          </a:prstGeom>
          <a:noFill/>
        </p:spPr>
        <p:txBody>
          <a:bodyPr wrap="square">
            <a:spAutoFit/>
          </a:bodyPr>
          <a:lstStyle/>
          <a:p>
            <a:pPr>
              <a:spcAft>
                <a:spcPts val="1400"/>
              </a:spcAft>
            </a:pPr>
            <a:r>
              <a:rPr sz="1700" b="1">
                <a:solidFill>
                  <a:srgbClr val="EA580C"/>
                </a:solidFill>
                <a:latin typeface="Calibri"/>
              </a:rPr>
              <a:t>▸  </a:t>
            </a:r>
            <a:r>
              <a:rPr sz="1700" b="0" i="0">
                <a:solidFill>
                  <a:srgbClr val="1F2A37"/>
                </a:solidFill>
                <a:latin typeface="Calibri"/>
              </a:rPr>
              <a:t>Test chỉ 6 tháng cuối 2016, dữ liệu lịch sử</a:t>
            </a:r>
          </a:p>
          <a:p>
            <a:pPr>
              <a:spcAft>
                <a:spcPts val="1400"/>
              </a:spcAft>
            </a:pPr>
            <a:r>
              <a:rPr sz="1700" b="1">
                <a:solidFill>
                  <a:srgbClr val="EA580C"/>
                </a:solidFill>
                <a:latin typeface="Calibri"/>
              </a:rPr>
              <a:t>▸  </a:t>
            </a:r>
            <a:r>
              <a:rPr sz="1700" b="0" i="0">
                <a:solidFill>
                  <a:srgbClr val="1F2A37"/>
                </a:solidFill>
                <a:latin typeface="Calibri"/>
              </a:rPr>
              <a:t>Tầm 1 giờ còn ngắn cho quyết định lớn</a:t>
            </a:r>
          </a:p>
          <a:p>
            <a:pPr>
              <a:spcAft>
                <a:spcPts val="1400"/>
              </a:spcAft>
            </a:pPr>
            <a:r>
              <a:rPr sz="1700" b="1">
                <a:solidFill>
                  <a:srgbClr val="EA580C"/>
                </a:solidFill>
                <a:latin typeface="Calibri"/>
              </a:rPr>
              <a:t>▸  </a:t>
            </a:r>
            <a:r>
              <a:rPr sz="1700" b="0" i="0">
                <a:solidFill>
                  <a:srgbClr val="1F2A37"/>
                </a:solidFill>
                <a:latin typeface="Calibri"/>
              </a:rPr>
              <a:t>Lợi thế so với persistence khiêm tốn (+0,013 F1 ở 1 giờ)</a:t>
            </a:r>
          </a:p>
          <a:p>
            <a:pPr>
              <a:spcAft>
                <a:spcPts val="1400"/>
              </a:spcAft>
            </a:pPr>
            <a:r>
              <a:rPr sz="1700" b="1">
                <a:solidFill>
                  <a:srgbClr val="EA580C"/>
                </a:solidFill>
                <a:latin typeface="Calibri"/>
              </a:rPr>
              <a:t>▸  </a:t>
            </a:r>
            <a:r>
              <a:rPr sz="1700" b="0" i="0">
                <a:solidFill>
                  <a:srgbClr val="1F2A37"/>
                </a:solidFill>
                <a:latin typeface="Calibri"/>
              </a:rPr>
              <a:t>Ngưỡng 115 là ngưỡng 24 giờ, áp cho từng giờ</a:t>
            </a:r>
          </a:p>
        </p:txBody>
      </p:sp>
      <p:sp>
        <p:nvSpPr>
          <p:cNvPr id="11" name="Rounded Rectangle 10"/>
          <p:cNvSpPr/>
          <p:nvPr/>
        </p:nvSpPr>
        <p:spPr>
          <a:xfrm>
            <a:off x="548640" y="4937760"/>
            <a:ext cx="3520440" cy="123444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5047488"/>
            <a:ext cx="3154680" cy="777240"/>
          </a:xfrm>
          <a:prstGeom prst="rect">
            <a:avLst/>
          </a:prstGeom>
          <a:noFill/>
        </p:spPr>
        <p:txBody>
          <a:bodyPr wrap="square" anchor="t" lIns="45720" rIns="45720">
            <a:spAutoFit/>
          </a:bodyPr>
          <a:lstStyle/>
          <a:p>
            <a:pPr algn="l"/>
            <a:r>
              <a:rPr sz="3000" b="1" i="0">
                <a:solidFill>
                  <a:srgbClr val="EA580C"/>
                </a:solidFill>
                <a:latin typeface="Cambria"/>
              </a:rPr>
              <a:t>0,927 vs 0,914</a:t>
            </a:r>
          </a:p>
        </p:txBody>
      </p:sp>
      <p:sp>
        <p:nvSpPr>
          <p:cNvPr id="13" name="TextBox 12"/>
          <p:cNvSpPr txBox="1"/>
          <p:nvPr/>
        </p:nvSpPr>
        <p:spPr>
          <a:xfrm>
            <a:off x="731520" y="5779008"/>
            <a:ext cx="3154680" cy="365760"/>
          </a:xfrm>
          <a:prstGeom prst="rect">
            <a:avLst/>
          </a:prstGeom>
          <a:noFill/>
        </p:spPr>
        <p:txBody>
          <a:bodyPr wrap="square" anchor="t" lIns="45720" rIns="45720">
            <a:spAutoFit/>
          </a:bodyPr>
          <a:lstStyle/>
          <a:p>
            <a:pPr algn="l"/>
            <a:r>
              <a:rPr sz="1300" b="0" i="0">
                <a:solidFill>
                  <a:srgbClr val="64748B"/>
                </a:solidFill>
                <a:latin typeface="Calibri"/>
              </a:rPr>
              <a:t>F1 mô hình so với cách hiện tại (test)</a:t>
            </a:r>
          </a:p>
        </p:txBody>
      </p:sp>
      <p:sp>
        <p:nvSpPr>
          <p:cNvPr id="14" name="Rounded Rectangle 13"/>
          <p:cNvSpPr/>
          <p:nvPr/>
        </p:nvSpPr>
        <p:spPr>
          <a:xfrm>
            <a:off x="4279392" y="4937760"/>
            <a:ext cx="3520440" cy="123444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62272" y="5047488"/>
            <a:ext cx="3154680" cy="777240"/>
          </a:xfrm>
          <a:prstGeom prst="rect">
            <a:avLst/>
          </a:prstGeom>
          <a:noFill/>
        </p:spPr>
        <p:txBody>
          <a:bodyPr wrap="square" anchor="t" lIns="45720" rIns="45720">
            <a:spAutoFit/>
          </a:bodyPr>
          <a:lstStyle/>
          <a:p>
            <a:pPr algn="l"/>
            <a:r>
              <a:rPr sz="3000" b="1" i="0">
                <a:solidFill>
                  <a:srgbClr val="EA580C"/>
                </a:solidFill>
                <a:latin typeface="Cambria"/>
              </a:rPr>
              <a:t>30%</a:t>
            </a:r>
          </a:p>
        </p:txBody>
      </p:sp>
      <p:sp>
        <p:nvSpPr>
          <p:cNvPr id="16" name="TextBox 15"/>
          <p:cNvSpPr txBox="1"/>
          <p:nvPr/>
        </p:nvSpPr>
        <p:spPr>
          <a:xfrm>
            <a:off x="4462272" y="5779008"/>
            <a:ext cx="3154680" cy="365760"/>
          </a:xfrm>
          <a:prstGeom prst="rect">
            <a:avLst/>
          </a:prstGeom>
          <a:noFill/>
        </p:spPr>
        <p:txBody>
          <a:bodyPr wrap="square" anchor="t" lIns="45720" rIns="45720">
            <a:spAutoFit/>
          </a:bodyPr>
          <a:lstStyle/>
          <a:p>
            <a:pPr algn="l"/>
            <a:r>
              <a:rPr sz="1300" b="0" i="0">
                <a:solidFill>
                  <a:srgbClr val="64748B"/>
                </a:solidFill>
                <a:latin typeface="Calibri"/>
              </a:rPr>
              <a:t>số lần ô nhiễm bắt đầu được báo trước</a:t>
            </a:r>
          </a:p>
        </p:txBody>
      </p:sp>
      <p:sp>
        <p:nvSpPr>
          <p:cNvPr id="17" name="Rounded Rectangle 16"/>
          <p:cNvSpPr/>
          <p:nvPr/>
        </p:nvSpPr>
        <p:spPr>
          <a:xfrm>
            <a:off x="8010144" y="4937760"/>
            <a:ext cx="3520440" cy="123444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93024" y="5047488"/>
            <a:ext cx="3154680" cy="777240"/>
          </a:xfrm>
          <a:prstGeom prst="rect">
            <a:avLst/>
          </a:prstGeom>
          <a:noFill/>
        </p:spPr>
        <p:txBody>
          <a:bodyPr wrap="square" anchor="t" lIns="45720" rIns="45720">
            <a:spAutoFit/>
          </a:bodyPr>
          <a:lstStyle/>
          <a:p>
            <a:pPr algn="l"/>
            <a:r>
              <a:rPr sz="3000" b="1" i="0">
                <a:solidFill>
                  <a:srgbClr val="0F766E"/>
                </a:solidFill>
                <a:latin typeface="Cambria"/>
              </a:rPr>
              <a:t>100%</a:t>
            </a:r>
          </a:p>
        </p:txBody>
      </p:sp>
      <p:sp>
        <p:nvSpPr>
          <p:cNvPr id="19" name="TextBox 18"/>
          <p:cNvSpPr txBox="1"/>
          <p:nvPr/>
        </p:nvSpPr>
        <p:spPr>
          <a:xfrm>
            <a:off x="8193024" y="5779008"/>
            <a:ext cx="3154680" cy="365760"/>
          </a:xfrm>
          <a:prstGeom prst="rect">
            <a:avLst/>
          </a:prstGeom>
          <a:noFill/>
        </p:spPr>
        <p:txBody>
          <a:bodyPr wrap="square" anchor="t" lIns="45720" rIns="45720">
            <a:spAutoFit/>
          </a:bodyPr>
          <a:lstStyle/>
          <a:p>
            <a:pPr algn="l"/>
            <a:r>
              <a:rPr sz="1300" b="0" i="0">
                <a:solidFill>
                  <a:srgbClr val="64748B"/>
                </a:solidFill>
                <a:latin typeface="Calibri"/>
              </a:rPr>
              <a:t>ô khối tính trước kiểm chứng đúng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F2A37"/>
        </a:solidFill>
        <a:effectLst/>
      </p:bgPr>
    </p:bg>
    <p:spTree>
      <p:nvGrpSpPr>
        <p:cNvPr id="1" name=""/>
        <p:cNvGrpSpPr/>
        <p:nvPr/>
      </p:nvGrpSpPr>
      <p:grpSpPr/>
      <p:sp>
        <p:nvSpPr>
          <p:cNvPr id="2" name="TextBox 1"/>
          <p:cNvSpPr txBox="1"/>
          <p:nvPr/>
        </p:nvSpPr>
        <p:spPr>
          <a:xfrm>
            <a:off x="548640" y="1463040"/>
            <a:ext cx="10515600" cy="914400"/>
          </a:xfrm>
          <a:prstGeom prst="rect">
            <a:avLst/>
          </a:prstGeom>
          <a:noFill/>
        </p:spPr>
        <p:txBody>
          <a:bodyPr wrap="square" anchor="t" lIns="45720" rIns="45720">
            <a:spAutoFit/>
          </a:bodyPr>
          <a:lstStyle/>
          <a:p>
            <a:pPr algn="l"/>
            <a:r>
              <a:rPr sz="4200" b="1" i="0">
                <a:solidFill>
                  <a:srgbClr val="FFFFFF"/>
                </a:solidFill>
                <a:latin typeface="Cambria"/>
              </a:rPr>
              <a:t>Cảm ơn thầy/cô và các bạn</a:t>
            </a:r>
          </a:p>
        </p:txBody>
      </p:sp>
      <p:sp>
        <p:nvSpPr>
          <p:cNvPr id="3" name="TextBox 2"/>
          <p:cNvSpPr txBox="1"/>
          <p:nvPr/>
        </p:nvSpPr>
        <p:spPr>
          <a:xfrm>
            <a:off x="548640" y="2377440"/>
            <a:ext cx="10515600" cy="731520"/>
          </a:xfrm>
          <a:prstGeom prst="rect">
            <a:avLst/>
          </a:prstGeom>
          <a:noFill/>
        </p:spPr>
        <p:txBody>
          <a:bodyPr wrap="square" anchor="t" lIns="45720" rIns="45720">
            <a:spAutoFit/>
          </a:bodyPr>
          <a:lstStyle/>
          <a:p>
            <a:pPr algn="l"/>
            <a:r>
              <a:rPr sz="2800" b="0" i="0">
                <a:solidFill>
                  <a:srgbClr val="FDBA74"/>
                </a:solidFill>
                <a:latin typeface="Cambria"/>
              </a:rPr>
              <a:t>Hỏi đáp</a:t>
            </a:r>
          </a:p>
        </p:txBody>
      </p:sp>
      <p:sp>
        <p:nvSpPr>
          <p:cNvPr id="4" name="TextBox 3"/>
          <p:cNvSpPr txBox="1"/>
          <p:nvPr/>
        </p:nvSpPr>
        <p:spPr>
          <a:xfrm>
            <a:off x="548640" y="4206240"/>
            <a:ext cx="10515600" cy="914400"/>
          </a:xfrm>
          <a:prstGeom prst="rect">
            <a:avLst/>
          </a:prstGeom>
          <a:noFill/>
        </p:spPr>
        <p:txBody>
          <a:bodyPr wrap="square" anchor="t" lIns="45720" rIns="45720">
            <a:spAutoFit/>
          </a:bodyPr>
          <a:lstStyle/>
          <a:p>
            <a:pPr algn="l"/>
            <a:r>
              <a:rPr sz="1600" b="0" i="0">
                <a:solidFill>
                  <a:srgbClr val="CBD5E1"/>
                </a:solidFill>
                <a:latin typeface="Calibri"/>
              </a:rPr>
              <a:t>Mã nguồn + hướng dẫn chạy: README.md  ·  python scripts/run_all.py</a:t>
            </a:r>
          </a:p>
          <a:p>
            <a:pPr algn="l"/>
            <a:r>
              <a:rPr sz="1600" b="0" i="0">
                <a:solidFill>
                  <a:srgbClr val="CBD5E1"/>
                </a:solidFill>
                <a:latin typeface="Calibri"/>
              </a:rPr>
              <a:t>Báo cáo: bao_cao/BaoCao_BTL_INT1422.docx  ·  Phân công &amp; khai báo AI: bao_cao/</a:t>
            </a:r>
          </a:p>
        </p:txBody>
      </p:sp>
      <p:sp>
        <p:nvSpPr>
          <p:cNvPr id="5" name="TextBox 4"/>
          <p:cNvSpPr txBox="1"/>
          <p:nvPr/>
        </p:nvSpPr>
        <p:spPr>
          <a:xfrm>
            <a:off x="548640" y="5486400"/>
            <a:ext cx="10515600" cy="457200"/>
          </a:xfrm>
          <a:prstGeom prst="rect">
            <a:avLst/>
          </a:prstGeom>
          <a:noFill/>
        </p:spPr>
        <p:txBody>
          <a:bodyPr wrap="square" anchor="t" lIns="45720" rIns="45720">
            <a:spAutoFit/>
          </a:bodyPr>
          <a:lstStyle/>
          <a:p>
            <a:pPr algn="l"/>
            <a:r>
              <a:rPr sz="1500" b="0" i="0">
                <a:solidFill>
                  <a:srgbClr val="FFFFFF"/>
                </a:solidFill>
                <a:latin typeface="Calibri"/>
              </a:rPr>
              <a:t>[Thành viên 1 — phần …]   [Thành viên 2 — phần …]   [Thành viên 3 — phần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