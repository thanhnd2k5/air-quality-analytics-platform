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% giá trị thiếu theo cột (gộp 12 trạm)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thiếu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Sheet1!$A$2:$A$13</c:f>
              <c:strCache>
                <c:ptCount val="12"/>
                <c:pt idx="0">
                  <c:v>WSPM</c:v>
                </c:pt>
                <c:pt idx="1">
                  <c:v>PRES</c:v>
                </c:pt>
                <c:pt idx="2">
                  <c:v>RAIN</c:v>
                </c:pt>
                <c:pt idx="3">
                  <c:v>TEMP</c:v>
                </c:pt>
                <c:pt idx="4">
                  <c:v>DEWP</c:v>
                </c:pt>
                <c:pt idx="5">
                  <c:v>wd</c:v>
                </c:pt>
                <c:pt idx="6">
                  <c:v>PM10</c:v>
                </c:pt>
                <c:pt idx="7">
                  <c:v>PM2.5</c:v>
                </c:pt>
                <c:pt idx="8">
                  <c:v>SO2</c:v>
                </c:pt>
                <c:pt idx="9">
                  <c:v>NO2</c:v>
                </c:pt>
                <c:pt idx="10">
                  <c:v>O3</c:v>
                </c:pt>
                <c:pt idx="11">
                  <c:v>CO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0.08</c:v>
                </c:pt>
                <c:pt idx="1">
                  <c:v>0.09</c:v>
                </c:pt>
                <c:pt idx="2">
                  <c:v>0.09</c:v>
                </c:pt>
                <c:pt idx="3">
                  <c:v>0.1</c:v>
                </c:pt>
                <c:pt idx="4">
                  <c:v>0.1</c:v>
                </c:pt>
                <c:pt idx="5">
                  <c:v>0.43</c:v>
                </c:pt>
                <c:pt idx="6">
                  <c:v>1.53</c:v>
                </c:pt>
                <c:pt idx="7">
                  <c:v>2.08</c:v>
                </c:pt>
                <c:pt idx="8">
                  <c:v>2.14</c:v>
                </c:pt>
                <c:pt idx="9">
                  <c:v>2.88</c:v>
                </c:pt>
                <c:pt idx="10">
                  <c:v>3.15</c:v>
                </c:pt>
                <c:pt idx="11">
                  <c:v>4.92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3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F2A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Gió bắc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Sheet1!$A$2:$A$5</c:f>
              <c:strCache>
                <c:ptCount val="4"/>
                <c:pt idx="0">
                  <c:v>Dongcheng · Thu</c:v>
                </c:pt>
                <c:pt idx="1">
                  <c:v>Dongcheng · Đông</c:v>
                </c:pt>
                <c:pt idx="2">
                  <c:v>Xicheng · Thu</c:v>
                </c:pt>
                <c:pt idx="3">
                  <c:v>Xicheng · Đông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77.5</c:v>
                </c:pt>
                <c:pt idx="1">
                  <c:v>83.8</c:v>
                </c:pt>
                <c:pt idx="2">
                  <c:v>81.0</c:v>
                </c:pt>
                <c:pt idx="3">
                  <c:v>87.7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Gió nam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Sheet1!$A$2:$A$5</c:f>
              <c:strCache>
                <c:ptCount val="4"/>
                <c:pt idx="0">
                  <c:v>Dongcheng · Thu</c:v>
                </c:pt>
                <c:pt idx="1">
                  <c:v>Dongcheng · Đông</c:v>
                </c:pt>
                <c:pt idx="2">
                  <c:v>Xicheng · Thu</c:v>
                </c:pt>
                <c:pt idx="3">
                  <c:v>Xicheng · Đông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96.8</c:v>
                </c:pt>
                <c:pt idx="1">
                  <c:v>133.0</c:v>
                </c:pt>
                <c:pt idx="2">
                  <c:v>95.0</c:v>
                </c:pt>
                <c:pt idx="3">
                  <c:v>132.4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3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PM2.5 trung bình (µg/m³)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1F2A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F1 trên test theo tầm cảnh báo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Persistence</c:v>
                </c:pt>
              </c:strCache>
            </c:strRef>
          </c:tx>
          <c:spPr>
            <a:solidFill>
              <a:srgbClr val="64748B"/>
            </a:solidFill>
          </c:spPr>
          <c:cat>
            <c:strRef>
              <c:f>Sheet1!$A$2:$A$4</c:f>
              <c:strCache>
                <c:ptCount val="3"/>
                <c:pt idx="0">
                  <c:v>1 giờ</c:v>
                </c:pt>
                <c:pt idx="1">
                  <c:v>3 giờ</c:v>
                </c:pt>
                <c:pt idx="2">
                  <c:v>6 giờ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0.914</c:v>
                </c:pt>
                <c:pt idx="1">
                  <c:v>0.806</c:v>
                </c:pt>
                <c:pt idx="2">
                  <c:v>0.702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HistGradientBoosting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Sheet1!$A$2:$A$4</c:f>
              <c:strCache>
                <c:ptCount val="3"/>
                <c:pt idx="0">
                  <c:v>1 giờ</c:v>
                </c:pt>
                <c:pt idx="1">
                  <c:v>3 giờ</c:v>
                </c:pt>
                <c:pt idx="2">
                  <c:v>6 giờ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0.927</c:v>
                </c:pt>
                <c:pt idx="1">
                  <c:v>0.832</c:v>
                </c:pt>
                <c:pt idx="2">
                  <c:v>0.745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3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6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1F2A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Chào thầy/cô và các bạn; giới thiệu nhóm và tên đề tài: "Kho dữ liệu chất lượng không khí Bắc Kinh và cảnh báo sớm PM2.5 vượt ngưỡng."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Câu mở: đề tài bắt đầu từ một câu hỏi rất cụ thể của người vận hành. Trung tâm quan trắc mỗi giờ phải quyết: có phát cảnh báo hạn chế hoạt động ngoài trời ở trạm này cho GIỜ TỚI không? Cách làm hiện tại là chờ số đo vượt ngưỡng rồi mới báo — luôn trễ 1 giờ. Quy mô: PM2.5 trung bình 79,8 µg/m³, khoảng 1/4 số giờ ≥ 115. Chuyển: để trả lời tin được, trước hết phải hiểu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Đề tài may mắn ôm trọn hai nửa học phần: kho dữ liệu (OLAP — phân tích quá khứ mọi góc nhìn) và khai phá (học từ quá khứ để dự đoán giờ tới). Sơ đồ dưới là toàn luồng: nguồn → lake → staging → kho → mart → khai phá → dashboard. Chuyển: đi từ nguồn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Nguồn chính UCI #501: 420.768 bản ghi giờ, 12 trạm, 03/2013–02/2017, 12 thuộc tính (6 chất ô nhiễm + 5 khí tượng + hướng gió), CC BY 4.0, có DOI. Nguồn phụ Open-Meteo (tái phân tích ERA5, theo giờ, cùng 12 toạ độ): lấp chỗ thiếu thời tiết + thêm độ che phủ mây. Không có dữ liệu cá nhân. MỒI → LÁ CHẮN: bị hỏi «hai nguồn ghép thế nào?» → A2 (slide 34).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1'30". Làm sạch là một chuỗi quyết định, không phải làm bảng đẹp. CO thiếu nhiều nhất 4,9%, chuỗi thiếu liên tục dài tới 1.517 giờ → KHÔNG nội suy (nội suy chuỗi dài = bịa dữ liệu), giữ NULL + cờ chất lượng. Thời tiết thiếu ~0,1% → lấp từ Open-Meteo, ghi nguồn từng ô, còn 0 ô thiếu. 60 dòng chạm trần thiết bị → giữ + cờ SUSPECT_CAP. ML: median điền thiếu chỉ tính trên tập train. MỒI → LÁ CHẮN: «vì sao không nội suy hết cho đẹp?» → A3 (slide 35).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30". Giờ → buổi, ngày → mùa, 16 hướng gió → 4 phần tư → bắc/nam. Đây là các phân cấp sẽ dùng lại toàn bộ ở phần kho dữ liệu (dim_date, dim_time, dim_wind).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1'30". Chỉ theo sơ đồ. Luồng 1 (batch): CSV UCI + Open-Meteo → MinIO data lake (raw → processed Parquet). Luồng 2 (tác nghiệp): SQLite mô phỏng nguồn giao dịch → CDC theo watermark → Airflow. Sau đó PostgreSQL staging → dbt dựng kho (fact + dimension) và các mart → đặc trưng ML → dashboard FastAPI + React. Airflow điều phối, Docker đóng gói hạ tầng. MỒI → LÁ CHẮN: «lake/staging/mart khác nhau thế nào?», «4 công cụ kia đều là database à?» → A4 (slide 36).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30". python scripts/run_all.py — 14 bước, chạy lại từ trạng thái trống mất 11,2 phút, mọi bước idempotent (chạy lại không nhân đôi dữ liệu). Lời cam kết: mọi con số hôm nay ai cũng tạo lại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NÓI: "Dữ liệu đã nằm đúng chỗ. Câu hỏi tiếp: tổ chức thế nào để phân tích được mọi góc nhìn mà vẫn kiểm chứng được? Đó là phần kho dữ liệu." → trao cho người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Quyết định quan trọng nhất khi thiết kế kho là phát biểu grain. Chọn độ mịn gốc vì: cuộn từ giờ lên ngày/tháng được, ngược lại không; và bài toán cảnh báo giờ tới cần đúng mức giờ. Mọi độ đo, mọi khóa chiều phải khớp grain này. MỒI → LÁ CHẮN: «vì sao không lưu mức ngày cho nhẹ?» → A5 (slide 37).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Fact_air_quality_hourly ở giữa + 4 chiều: ngày, giờ, trạm, hướng gió. Hướng gió là chiều đặc biệt — trả lời câu hỏi «VÌ SAO ô nhiễm đến» (điều kiện vận tải khí). Thời tiết không làm chiều riêng mà là độ đo trên fact. MỒI → LÁ CHẮN: «sao không có chiều thời tiết?» → A6 (slide 38).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4 phân cấp: ngày→tháng→quý→năm; giờ→buổi; trạm→quận; hướng→phần tư→bắc/nam. Tổng tổ hợp mức 5·3·3·4 = 180 (mỗi chiều tính cả mức ALL) — không thể, cũng không cần, tính trước hết; chọn theo truy vấn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mart_station_daily (trạm, ngày) 17.532 dòng — nhỏ hơn fact 24 lần, cho xu hướng; mart_station_monthly 576 dòng — báo cáo tháng/mùa; mart_olap_cube 6.075 dòng — trang OLAP đọc vài ms. Tiêu chí chọn: đúng các truy vấn dashboard thật đang phát ra. MỒI → LÁ CHẮN: «tính trước thì có trả lời được mọi truy vấn không?» → A8 cuối (slide 40).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Cube tổng hợp theo CUBE(năm, mùa, quận, buổi, phần tư gió): 5 thuộc tính độc lập → 2⁵ = 32 grouping sets. Nhấn mạnh: số thuộc tính trong CUBE KHÔNG BẰNG số bảng chiều — 2 thuộc tính có thể cùng nằm trong một chiều (năm + mùa cùng dim_date). MỒI → LÁ CHẮN: «4 chiều sao ra 32 khối?» → A7 (slide 39).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Phần tự hào nhất của kho: script tính lại TỪNG Ô của các khối trực tiếp từ fact rồi so khớp — 24.759/24.759 ô đúng = 100%. Cộng 130 dbt test (khóa, not-null, khóa ngoại, cube phân hoạch fact). Truy vấn viết lại: thuộc tính nằm trong cube → đọc mart 2–6 ms; thiếu → quét fact 130–400 ms. MỒI → LÁ CHẮN: «kiểm chứng cụ thể thế nào?» → A8 (slide 40).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CỬA CẮT: thiếu giờ thì bỏ bước pivot. Kịch bản bấm: mở /olap đang xem Năm × Mùa (đọc từ cube) → bấm 2015 drill-down sang quý → roll-up về năm → lọc quận Dongcheng (slice) → thêm Xicheng + 2016 (dice) → pivot đổi hàng/cột. Vừa bấm vừa gọi tên thao tác. DỰ PHÒNG: mất mạng/Docker lỗi → mở notebooks/olap/olap_demo.ipynb (output đã chạy sẵn), nói như thường.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Kết quả dice thật: cùng quận lõi đô thị, mùa đông, gió bắc ~85 vs gió nam ~133 µg/m³ (+60%) — nguồn khí phía nam (Hà Bắc); tỷ lệ giờ vượt ngưỡng tăng 28% → 43%. Đây là giá trị nghiệp vụ của chiều hướng gió. Nếu bị hỏi «sao biết khí từ Hà Bắc?»: nói thẳng đây là TƯƠNG QUAN THEO HƯỚNG GIÓ, dự án không mô phỏng đường vận chuyển khí.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Trung bình là độ đo KHÔNG CỘNG. Mart và cube luôn lưu SUM + COUNT rồi chia, nên cube gộp đúng kể cả khi mức độ thiếu khác nhau giữa các nhóm. MỒI → LÁ CHẮN: «lấy tổng số giờ bằng SUM cả bảng cube được không?», «trung bình của các trung bình?» → A9 (slide 41).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NÓI: "Kho trả lời được «đã xảy ra gì, vì sao». Còn câu hỏi đầu bài — «giờ tới có vượt ngưỡng không» — là việc của khai phá dữ liệu." → trao cho người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Nhãn y = 1 nếu PM2.5(t+1h) ≥ 115 µg/m³ (ngưỡng đợt ô nhiễm khoá từ EDA). 49 đặc trưng, mọi đặc trưng chỉ dùng thông tin BIẾT TẠI THỜI ĐIỂM t. MỒI → LÁ CHẮN: «115 là gì, có phải AQI 115 không?» → A1 (slide 33).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Với dữ liệu thời gian, cách chia tập quyết định kết quả có tin được không. Train 03/2013–12/2015: 276.380 dòng (25,2% nhãn 1); val 01–06/2016: 47.338 (15,8%); test 07–12/2016: 48.781 (23,9%). Chọn độ sâu cây và ngưỡng xác suất CHỈ trên val; test dùng đúng một lần để báo cáo. Median điền thiếu fit trên train. MỒI → LÁ CHẮN: «vì sao không k-fold?», «rò rỉ ở đâu?» → A12 (slide 44).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Majority: accuracy 0,761 nhưng F1 = 0 — không phát được cảnh báo nào (bẫy accuracy với lớp thiểu số ~24%). Persistence (PM2.5 hiện tại ≥ 115): F1 0,914 — baseline mạnh vì hai giờ liên tiếp tương quan cao. Mô hình phải chứng minh giá trị THÊM trên baseline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1'30". Đọc bảng rồi ma trận: HistGradientBoosting F1 0,927 (precision 0,926, recall 0,928, ROC-AUC 0,993) — mô hình khoá, ngưỡng xác suất 0,50. Cây quyết định entropy F1 0,921. So persistence: giờ ô nhiễm bị bỏ sót (FN) 1.000 → 838, cảnh báo nhầm (FP) 999 → 865. MỒI → LÁ CHẮN: «vì sao chọn cây &amp; boosting?» → A12 cuối; «ngưỡng 115 với ngưỡng 0,50?» → A13.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F1 +0,013 nghe nhỏ — giá trị thật nằm ở thứ persistence KHÔNG làm được. Trong 1.000 giờ đang sạch nhưng giờ sau vượt ngưỡng (lúc đợt ô nhiễm bắt đầu — thời điểm cần cảnh báo nhất), mô hình báo trước 304 lần = 30,4%; persistence 0% theo định nghĩa. Kiểm định McNemar trên từng giờ test: b = 594 giờ chỉ mô hình đúng, c = 298 giờ chỉ persistence đúng, p ≈ 5×10⁻²³ — khác biệt có ý nghĩa thống kê. MỒI → LÁ CHẮN: «McNemar là gì, đủ để triển khai?» → A13 (slide 45).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F1 test theo tầm: 1h 0,914 → 0,927 (+0,013); 3h 0,806 → 0,832 (+0,026); 6h 0,702 → 0,745 (+0,043). 12/12 trạm đều F1 cao hơn persistence. Đổi lại ở tầm xa: precision giảm nhẹ, recall tăng mạnh (0,70 → 0,80 ở 6h).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 CỬA CẮT: thiếu giờ thì rút còn /canh-bao. /canh-bao: hai ma trận nhầm lẫn cạnh nhau (mô hình vs cách hiện tại), dòng thời gian xác suất tại một trạm — xanh = cảnh báo đúng, vàng = báo nhầm, đỏ = bỏ sót. /phat-lai: kéo mốc thời gian, hệ thống phát dự đoán cho giờ đích, số đo thật chỉ hiện khi mốc dữ liệu đã đi qua — «dự đoán trước, đối soát sau». Nói rõ: F1 cao trong cửa sổ demo KHÔNG phải bằng chứng cho độ tốt của mô hình (cửa sổ chọn nhiều giờ ô nhiễm). DỰ PHÒNG: ảnh chụp màn hình đã lưu trong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SQLite nguồn tác nghiệp → đọc tăng dần theo watermark (chỉ lấy bản ghi sau mốc) → Airflow DAG → MinIO → upsert staging. Idempotency bằng load_registry (đối chiếu object key + sha256 + row_count). Mỗi batch nạp xong được chấm MAE đối soát với số đo thật, vượt 12 µg/m³ thì bật cờ giám sát. Nói thẳng giới hạn: watermark bắt được insert mới; bản ghi cũ bị sửa/xoá sau khi mốc đã đi qua thì không bắt được — cần đối soát lại theo partition. MỒI → LÁ CHẮN: «bản ghi cũ bị sửa thì sao?», «chạy lại có nhân đôi không?», «vượt ngưỡng MAE rồi làm gì?» → A14 (slide 46).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CỬA CẮT (mặc định bỏ khi 30'). Câu hỏi mở rộng: đang sạch, có đợt (≥3 giờ liên tục vượt ngưỡng) bắt đầu trong t+1→t+6 không. Mô hình có đặc trưng trung vị các trạm lân cận: bắt 506/730 đợt = 69,3%; luật đơn giản «hiện tại ≥ 105»: 468/730 = 64,1%; trung vị thời gian báo trước 3 giờ (so với 1 giờ); trần cảnh báo nhầm 0,5/ngày-trạm chọn trên validation. Ghi rõ: thí nghiệm riêng, chưa thay mô hình t+1. MỒI → LÁ CHẮN: «định nghĩa đợt?», «vì sao kiểm tra tới t+8?» → A15 (slide 47).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CỬA CẮT. Hồi quy PM2.5(t+1): MAE 8,87 µg/m³ — sai số tuyệt đối trung bình, KHÔNG phải trần sai số từng dự báo. Phân cụm: mỗi trạm thành một vector hồ sơ → K-Means, thử K=2,3,4 → K=2, silhouette 0,664 cao nhất, cụm 9 trạm + 3 trạm; địa lý chỉ dùng đối chiếu, không đưa vào đặc trưng. MỒI → LÁ CHẮN: «MAE nghĩa gì? Phân cụm cái gì?» → A16 (slide 48).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Ba khuyến nghị gắn trực tiếp kết quả. Hạn chế nói thật: test chỉ 6 tháng cuối 2016, dữ liệu lịch sử; +0,013 F1 ở 1 giờ khiêm tốn; ngưỡng 115 vốn là ngưỡng 24 giờ áp cho từng giờ.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Cảm ơn thầy/cô và các bạn đã lắng nghe, mời hỏi đáp. (Phụ lục A0–A17 chỉ để nhóm dùng khi bị hỏi — không giới thiệu trên slide. Trong chế độ trình chiếu: gõ số slide + Enter để nhảy tới phụ lục.)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A0. Mở ngay khi bắt đầu hỏi đáp để định vị lá chắn. Gõ số slide + Enter để nhảy. Cụm: dữ liệu A1–A3 · kiến trúc A4 · kho A5–A9 · OLAP A10 · modelling A11 · ML A12–A13 · vận hành A14–A15 · bổ trợ A16 · demo A17.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bị hỏi về ngưỡng. Trả lời khung: 115 = ranh giới dải «ô nhiễm trung bình» theo quy chuẩn AQI Trung Quốc cho PM2.5 — khác với việc đọc «AQI = 115».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về ghép nguồn. Khung: cùng 12 toạ độ, cùng mốc giờ; UCI ưu tiên, OM chỉ lấp khi UCI null; ghi nguồn từng 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về giữ NULL. Khung: chuỗi thiếu dài 343–1.517 giờ — nội suy chuỗi dài = bịa dữ liệu, tạo "đợt giả".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vai trò lớp/không phải tất cả là database, cộng nửa dòng bảo mật: .env gitignored, mạng Docker nội bộ, không có dữ liệu cá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grain. Khung: giờ→ngày cuộn được, ngược lại mất vĩnh viễn; đổi sang ngày mất biến động trong ngày.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thiếu chiều thời tiết. Khung: thời tiết là điều kiện đo CÙNG sự kiện tại grain trạm×giờ → độ đo trên fact = một nguồn sự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32 vs 180. Khung: CUBE theo 5 THUỘC TÍNH (năm, mùa, quận, buổi, phần tư gió) — mỗi thuộc tính giữ-lại-hoặc-cuộn-lên-ALL → 2⁵ = 32 grouping 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kiểm chứng. Khung: script chạy lại GROUPING SETS từng khối TRỰC TIẾP từ fact, so từng ô — 24.759/24.759 =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tổng hợp trên cube. Khung: mỗi dòng fact nằm trong NHIỀU grouping set — SUM cả bảng đếm trùng.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MOLAP/ROLAP. Khung: ROLAP — dữ liệu quan hệ trong PostgreSQL, tổng hợp SQL + khối tính trước trong mart.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khóa/SCD. Khung: khóa tự nhiên/biện minh — hợp lý vì chiều tĩnh, nguồn duy nhất; nếu thuộc tính đổi → surrogate key + SCD type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chia tập/rò rỉ/số dòng. 4 khối: vì sao theo thời gian · 372.499 ≠ 420.768 · rà rò rỉ · vì sao cây &amp; HistGB.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McNemar/ngưỡng. Khung: so 2 mô hình trên cùng tập test, chỉ xét cặp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sâu CDC. Khung: watermark bắt insert; sửa/xoá sau mốc không bắt → đối soát sha256/load lại partition; load_registry chống nhân đôi; MAE từng batch chỉ bật cờ.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định nghĩa đợt/thí nghiệm 6h. Khung: đợt trạm ≥ 3h liên tục ≥ 115; đa trạm ≥ 6 trạm; đợt muộn nhất t+6 cần xem tới t+8.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bổ trợ. Khung: MAE = trung bình |sai số| cùng đơn vị; phân cụm đối tượng là 12 TRẠM, không phải 420k giờ.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demo/tái lập. Khung: luồng demo 4 trang + fallback notebook + run_all 11,2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1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1" i="0">
                <a:solidFill>
                  <a:srgbClr val="FDBA74"/>
                </a:solidFill>
                <a:latin typeface="Calibri"/>
              </a:rPr>
              <a:t>INT1422 · KHO DỮ LIỆU VÀ KHAI PHÁ DỮ LIỆU · BẢO VỆ 30 PHÚT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2011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Kho dữ liệu chất lượng không khí Bắc Kinh</a:t>
            </a:r>
          </a:p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&amp; cảnh báo sớm PM2.5 vượt ngưỡng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420.768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giờ đo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2761" y="3712463"/>
            <a:ext cx="11430" cy="749808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7523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7523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trạm quan trắc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1644" y="3712463"/>
            <a:ext cx="11430" cy="749808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6406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4 năm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406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03/2013 – 02/2017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527" y="3712463"/>
            <a:ext cx="11430" cy="749808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289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4 chiều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289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lược đồ hình sao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9410" y="3712463"/>
            <a:ext cx="11430" cy="749808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4172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Giờ tới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4172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phân loại cảnh báo PM2.5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83480"/>
            <a:ext cx="4754880" cy="9525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138928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FDBA74"/>
                </a:solidFill>
                <a:latin typeface="Calibri"/>
              </a:rPr>
              <a:t>NHÓM THỰC HIỆN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68112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Phạm Nhật Khánh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15584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B23DCCC088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468112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Phạm Xuân Kỳ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815584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B23DCCC092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468112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Nguyễn Đức Thành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815584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B23DCCC152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99632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Giảng viên hướng dẫn: TS. Phan Lý Huỳnh · Học viện Công nghệ Bưu chính Viễn thông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400" b="1">
                <a:solidFill>
                  <a:srgbClr val="1F2A37"/>
                </a:solidFill>
                <a:latin typeface="Cambria"/>
              </a:rPr>
              <a:t>Giờ tới có cần phát cảnh báo không?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035040" cy="123444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5486400" cy="10058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400" b="1" i="1">
                <a:solidFill>
                  <a:srgbClr val="1F2A37"/>
                </a:solidFill>
                <a:latin typeface="Cambria"/>
              </a:rPr>
              <a:t>“Giờ tới, tại trạm này, PM2.5 có ≥ 115 µg/m³ không?”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594360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Ai quyết: </a:t>
            </a:r>
            <a:r>
              <a:rPr sz="1700" b="0">
                <a:solidFill>
                  <a:srgbClr val="1F2A37"/>
                </a:solidFill>
                <a:latin typeface="Calibri"/>
              </a:rPr>
              <a:t>trung tâm quan trắc — mỗi giờ, từng trạm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Quyết định: </a:t>
            </a:r>
            <a:r>
              <a:rPr sz="1700" b="0">
                <a:solidFill>
                  <a:srgbClr val="1F2A37"/>
                </a:solidFill>
                <a:latin typeface="Calibri"/>
              </a:rPr>
              <a:t>phát / không phát cảnh báo hạn chế hoạt động ngoài trời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Hiện tại: </a:t>
            </a:r>
            <a:r>
              <a:rPr sz="1700" b="0">
                <a:solidFill>
                  <a:srgbClr val="1F2A37"/>
                </a:solidFill>
                <a:latin typeface="Calibri"/>
              </a:rPr>
              <a:t>chờ số đo vượt ngưỡng rồi báo → luôn trễ 1 giờ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371600"/>
            <a:ext cx="4690872" cy="13716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463040"/>
            <a:ext cx="4325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EA580C"/>
                </a:solidFill>
                <a:latin typeface="Cambria"/>
              </a:rPr>
              <a:t>79,8 µg/m³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94560"/>
            <a:ext cx="4325112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PM2.5 trung bình 4 năm · 12 trạm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852928"/>
            <a:ext cx="4690872" cy="13716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944368"/>
            <a:ext cx="4325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≈ 1/4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675888"/>
            <a:ext cx="4325112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số giờ có PM2.5 ≥ 115 µg/m³ — quy mô của vấn đề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334256"/>
            <a:ext cx="4690872" cy="137160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425696"/>
            <a:ext cx="4325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Trễ 1 giờ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157216"/>
            <a:ext cx="4325112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bản chất của cách làm "chờ số đo rồi báo"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Hai nửa của môn học trong một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94960" cy="283464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Calibri"/>
              </a:rPr>
              <a:t>NỬA KHO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846320" cy="1737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Tổ chức 4 năm dữ liệu — phân tích quá khứ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mọi góc nhìn (OLAP: slice · dice · drill · roll · pivot).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371600"/>
            <a:ext cx="5394960" cy="283464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Calibri"/>
              </a:rPr>
              <a:t>NỬA KHAI PHÁ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148840"/>
            <a:ext cx="4846320" cy="1737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Học từ quá khứ để dự đoán giờ tới —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phân loại cảnh báo sớm PM2.5 giờ sau.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Nguồn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37944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39696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Lake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429000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30752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20056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21808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Kho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11112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12864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202168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3920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Khai phá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93224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94976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82296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Sơ đồ hai luồng vào — slide 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Dữ liệu: hai nguồn mở, có giấy phép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EA580C"/>
                </a:solidFill>
                <a:latin typeface="Cambria"/>
              </a:rPr>
              <a:t>420.768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bản ghi giờ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trạm quan trắc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4 năm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03/2013 – 02/2017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thuộc tính đo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26080"/>
            <a:ext cx="5394960" cy="26517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9067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UCI #501 — Beijing Multi-Site Air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11880"/>
            <a:ext cx="498348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6 chất ô nhiễm: </a:t>
            </a:r>
            <a:r>
              <a:rPr sz="1600" b="0">
                <a:solidFill>
                  <a:srgbClr val="1F2A37"/>
                </a:solidFill>
                <a:latin typeface="Calibri"/>
              </a:rPr>
              <a:t>PM2.5, PM10, SO2, NO2, CO, O3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5 biến khí tượng </a:t>
            </a:r>
            <a:r>
              <a:rPr sz="1600" b="0">
                <a:solidFill>
                  <a:srgbClr val="1F2A37"/>
                </a:solidFill>
                <a:latin typeface="Calibri"/>
              </a:rPr>
              <a:t>+ hướng gió (16 hướng)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CC BY 4.0 · DOI 10.24432/C5RK5G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2926080"/>
            <a:ext cx="5394960" cy="26517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09067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Open-Meteo — Historical Weather (ERA5)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611880"/>
            <a:ext cx="498348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Theo giờ, cùng 12 toạ độ </a:t>
            </a:r>
            <a:r>
              <a:rPr sz="1600" b="0">
                <a:solidFill>
                  <a:srgbClr val="1F2A37"/>
                </a:solidFill>
                <a:latin typeface="Calibri"/>
              </a:rPr>
              <a:t>với UCI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Vai trò: </a:t>
            </a:r>
            <a:r>
              <a:rPr sz="1600" b="0">
                <a:solidFill>
                  <a:srgbClr val="1F2A37"/>
                </a:solidFill>
                <a:latin typeface="Calibri"/>
              </a:rPr>
              <a:t>lấp chỗ thiếu thời tiết + thêm độ che phủ mây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CC BY 4.0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Chất lượng dữ liệu: quyết định từng cột, không làm đẹp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5 / 49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298448"/>
          <a:ext cx="5760720" cy="4892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60" y="1417320"/>
            <a:ext cx="5074920" cy="4663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CO thiếu nhiều nhất 4,9% </a:t>
            </a:r>
            <a:r>
              <a:rPr sz="1600" b="0">
                <a:solidFill>
                  <a:srgbClr val="1F2A37"/>
                </a:solidFill>
                <a:latin typeface="Calibri"/>
              </a:rPr>
              <a:t>— chuỗi thiếu liên tục 343–1.517 giờ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EA580C"/>
                </a:solidFill>
                <a:latin typeface="Calibri"/>
              </a:rPr>
              <a:t>Không nội suy: </a:t>
            </a:r>
            <a:r>
              <a:rPr sz="1600" b="0">
                <a:solidFill>
                  <a:srgbClr val="1F2A37"/>
                </a:solidFill>
                <a:latin typeface="Calibri"/>
              </a:rPr>
              <a:t>giữ NULL + cờ chất lượng, COUNT(cột) ≠ COUNT(*)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Thời tiết thiếu ~0,1% </a:t>
            </a:r>
            <a:r>
              <a:rPr sz="1600" b="0">
                <a:solidFill>
                  <a:srgbClr val="1F2A37"/>
                </a:solidFill>
                <a:latin typeface="Calibri"/>
              </a:rPr>
              <a:t>→ lấp từ Open-Meteo, ghi nguồn từng ô → còn 0 ô thiếu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60 dòng chạm trần </a:t>
            </a:r>
            <a:r>
              <a:rPr sz="1600" b="0">
                <a:solidFill>
                  <a:srgbClr val="1F2A37"/>
                </a:solidFill>
                <a:latin typeface="Calibri"/>
              </a:rPr>
              <a:t>(999 / 10.000) → giữ lại + cờ SUSPECT_CAP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Nguyên tắc ML: </a:t>
            </a:r>
            <a:r>
              <a:rPr sz="1600" b="0">
                <a:solidFill>
                  <a:srgbClr val="1F2A37"/>
                </a:solidFill>
                <a:latin typeface="Calibri"/>
              </a:rPr>
              <a:t>median điền thiếu chỉ tính trên tập train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Rời rạc hoá cho phân tích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6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3794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Giờ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51760" y="1929384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960" y="183794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Buổi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18488"/>
            <a:ext cx="393192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sáng · trưa · chiều · tối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618488"/>
            <a:ext cx="128016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400" b="1" i="0">
                <a:solidFill>
                  <a:srgbClr val="0F766E"/>
                </a:solidFill>
                <a:latin typeface="Calibri"/>
              </a:rPr>
              <a:t>dim_time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Ngày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51760" y="3255264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316382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Mùa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44368"/>
            <a:ext cx="393192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Xuân · Hạ · Thu · Đông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944368"/>
            <a:ext cx="128016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400" b="1" i="0">
                <a:solidFill>
                  <a:srgbClr val="0F766E"/>
                </a:solidFill>
                <a:latin typeface="Calibri"/>
              </a:rPr>
              <a:t>dim_date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48970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16 hướng gió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651760" y="4581144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08960" y="448970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 phần tư → bắc/nam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70248"/>
            <a:ext cx="393192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NE · SE · SW · NW → bắc / nam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4270248"/>
            <a:ext cx="128016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400" b="1" i="0">
                <a:solidFill>
                  <a:srgbClr val="0F766E"/>
                </a:solidFill>
                <a:latin typeface="Calibri"/>
              </a:rPr>
              <a:t>dim_wind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1500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Các phân cấp này dùng lại toàn bộ ở phần kho dữ liệu (đúng các bảng chiều).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Kiến trúc tổng: hai luồng vào, một kho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7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LUỒNG 1 · BATCH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Nguồn batch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UCI CSV × 12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Open-Meteo (ERA5)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89988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41447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14599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MinIO — data 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1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raw giữ nguyên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processed Parquet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cờ chất lượng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82795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4255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07407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Staging —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staging.*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đối soát nguồn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75603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7063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0215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Kho — dbt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7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sao 4 chiều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130 dbt test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68411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19871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93023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Mart &amp; khối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5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trạm×ngày · ×tháng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CUBE 32 khối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61219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12680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85832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ML &amp;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67544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FastAPI + React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/olap · /canh-bao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69417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LUỒNG 2 · TÁC NGHIỆP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041648"/>
            <a:ext cx="2606040" cy="10241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792" y="4133087"/>
            <a:ext cx="2459736" cy="34747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SQLite — tác nghiệp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" y="4553712"/>
            <a:ext cx="2496312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mô phỏng nguồn giao dịch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246120" y="4443984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57600" y="4041648"/>
            <a:ext cx="2743200" cy="10241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730752" y="4133087"/>
            <a:ext cx="2596896" cy="347472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CDC theo watermark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2464" y="4535424"/>
            <a:ext cx="2633472" cy="4754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Airflow DAG · chỉ lấy bản ghi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sau mốc event_time</a:t>
            </a:r>
          </a:p>
        </p:txBody>
      </p:sp>
      <p:sp>
        <p:nvSpPr>
          <p:cNvPr id="37" name="Up Arrow 36"/>
          <p:cNvSpPr/>
          <p:nvPr/>
        </p:nvSpPr>
        <p:spPr>
          <a:xfrm>
            <a:off x="5029200" y="3017520"/>
            <a:ext cx="274320" cy="969264"/>
          </a:xfrm>
          <a:prstGeom prst="up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114800"/>
            <a:ext cx="4937760" cy="9144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CDC nạp vào lake → staging bằng upsert theo khóa grain;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load_registry (object key + sha256 + row_count) — chạy lại không nhân đôi.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Airflow điều phối cả hai luồng · Docker đóng gói hạ tầng.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Tái lập được bằng một lệnh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8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1672" cy="137160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ourier New"/>
              </a:rPr>
              <a:t>python scripts/run_all.py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mbria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bước — thu thập tới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300" b="1" i="0">
                <a:solidFill>
                  <a:srgbClr val="EA580C"/>
                </a:solidFill>
                <a:latin typeface="Cambria"/>
              </a:rPr>
              <a:t>11,2 phút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chạy lại từ trạng thái trống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1F2A37"/>
                </a:solidFill>
                <a:latin typeface="Cambria"/>
              </a:rPr>
              <a:t>130/130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dbt test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Cambria"/>
              </a:rPr>
              <a:t>Idempotent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chạy lại không nhân đôi dữ liệu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0" i="1">
                <a:solidFill>
                  <a:srgbClr val="1F2A37"/>
                </a:solidFill>
                <a:latin typeface="Calibri"/>
              </a:rPr>
              <a:t>Cam kết: mọi con số trong bài thuyết trình này đều tạo lại được bằng một lệnh.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9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libri"/>
              </a:rPr>
              <a:t>PHẦN 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789920" cy="23774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Dữ liệu đã nằm đúng chỗ.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Tổ chức thế nào để phân tích được mọi góc nhìn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mà vẫn kiểm chứng được?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Grain: một dòng fact = một trạm × một giờ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10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1672" cy="137160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1672" cy="10972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1 dòng fact  =  1 trạm  ×  1 giờ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394960" cy="233172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73552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Cuộn được một chiều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67328"/>
            <a:ext cx="4846320" cy="1463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giờ → ngày → tháng → năm: tổng hợp được;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ngược lại (ngày → giờ) mất thông tin vĩnh viễn.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108960"/>
            <a:ext cx="5394960" cy="233172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3273552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Bài toán cần mức giờ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767328"/>
            <a:ext cx="4846320" cy="1463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cảnh báo phát cho giờ tới (t+1h) —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độ mịn gốc phải là trạm × giờ.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Mọi độ đo và mọi khóa chiều của kho đều phải khớp grain này.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Lược đồ hình sao: fact trung tâm + 4 chiều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11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965960"/>
            <a:ext cx="4690872" cy="26517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075688"/>
            <a:ext cx="450799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fact_air_quality_hourly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208" y="2578608"/>
            <a:ext cx="4288536" cy="1828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KHÓA: station_key · date_key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time_key · wind_key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ĐỘ ĐO: pm25 · pm10 · so2 · no2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co · o3 · temp · pres · dewp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rain · wspm · cờ chất lượng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377440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" y="1618488"/>
            <a:ext cx="2249424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dim_date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48256"/>
            <a:ext cx="2084832" cy="877824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date_key (PK)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năm · tháng · quý · mùa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cuối tuần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2377440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3813047"/>
            <a:ext cx="2249424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dim_time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42815"/>
            <a:ext cx="2084832" cy="585216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time_key (PK)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giờ · buổi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62872" y="1554480"/>
            <a:ext cx="2377440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0" y="1618488"/>
            <a:ext cx="2249424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dim_station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7464" y="2048256"/>
            <a:ext cx="2084832" cy="585216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station_key (PK)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trạm · quận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62872" y="3749039"/>
            <a:ext cx="2377440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0" y="3813047"/>
            <a:ext cx="2249424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dim_wind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4" y="4242815"/>
            <a:ext cx="2084832" cy="877824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wind_key (PK)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16 hướng · phần tư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chế độ bắc / nam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999232" y="210312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2999232" y="406908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503920" y="210312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503920" y="406908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10972800" cy="868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EA580C"/>
                </a:solidFill>
                <a:latin typeface="Calibri"/>
              </a:rPr>
              <a:t>Hướng gió = chiều «vì sao»</a:t>
            </a:r>
            <a:r>
              <a:rPr sz="1500" b="0">
                <a:solidFill>
                  <a:srgbClr val="1F2A37"/>
                </a:solidFill>
                <a:latin typeface="Calibri"/>
              </a:rPr>
              <a:t> — điều kiện vận tải khí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Thời tiết: </a:t>
            </a:r>
            <a:r>
              <a:rPr sz="1500" b="0">
                <a:solidFill>
                  <a:srgbClr val="1F2A37"/>
                </a:solidFill>
                <a:latin typeface="Calibri"/>
              </a:rPr>
              <a:t>độ đo trên fact, không làm chiều riêng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Phân cấp chiều → 180 tổ hợp mức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12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90472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ngày → tháng → quý → năm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90472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5 mức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86584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59736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459736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giờ → buổi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59736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3 mức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55848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dim_station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429000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trạm → quận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3 mức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25112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398264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hướng → phần tư → bắc/nam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98264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4 mức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417320"/>
            <a:ext cx="3547872" cy="18288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508760"/>
            <a:ext cx="3182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200" b="1" i="0">
                <a:solidFill>
                  <a:srgbClr val="EA580C"/>
                </a:solidFill>
                <a:latin typeface="Cambria"/>
              </a:rPr>
              <a:t>5·3·3·4 = 180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40280"/>
            <a:ext cx="3182112" cy="9601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tổ hợp mức phân cấp (mỗi chiều tính cả mức ALL)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474720"/>
            <a:ext cx="3547872" cy="1463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Không cần tính trước hết 180 tổ hợp —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chỉ tính trước cái dashboard thật đang dùng (slide 13).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Ba khối tính trước theo truy vấn thật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13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8595360" cy="45720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463040"/>
            <a:ext cx="1883663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Khối tính trước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9776" y="1463040"/>
            <a:ext cx="2615184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Khóa / khối 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4416" y="1463040"/>
            <a:ext cx="694944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Số dòng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1463040"/>
            <a:ext cx="2523744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Phục vụ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84248"/>
            <a:ext cx="859536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984248"/>
            <a:ext cx="1883663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mart_station_daily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9776" y="1984248"/>
            <a:ext cx="261518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trạm × ngày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4416" y="1984248"/>
            <a:ext cx="6949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17.532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1984248"/>
            <a:ext cx="25237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xu hướng (nhỏ hơn fact 24×)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15184"/>
            <a:ext cx="859536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615184"/>
            <a:ext cx="1883663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mart_station_monthly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2615184"/>
            <a:ext cx="261518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trạm × tháng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4416" y="2615184"/>
            <a:ext cx="6949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576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615184"/>
            <a:ext cx="25237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báo cáo tháng / mùa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46120"/>
            <a:ext cx="859536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246120"/>
            <a:ext cx="1883663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mart_olap_cube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9776" y="3246120"/>
            <a:ext cx="261518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CUBE 5 thuộc tính = 32 khối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4416" y="3246120"/>
            <a:ext cx="6949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6.075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3246120"/>
            <a:ext cx="25237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trang OLAP đọc vài 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1463040"/>
            <a:ext cx="2313432" cy="146304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554480"/>
            <a:ext cx="194767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000" b="1" i="0">
                <a:solidFill>
                  <a:srgbClr val="0F766E"/>
                </a:solidFill>
                <a:latin typeface="Cambria"/>
              </a:rPr>
              <a:t>24×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286000"/>
            <a:ext cx="1947672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fact 420.768 dòng → mart daily 17.532 dòng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54880"/>
            <a:ext cx="11091672" cy="118872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64608"/>
            <a:ext cx="1051560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Tiêu chí chọn khối: đúng các truy vấn mà dashboard thật đang phát ra — không tính trước theo cảm tính.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CUBE 5 thuộc tính = 2⁵ = 32 grouping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14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năm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mùa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quận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buổi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phần tư gió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4884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700" b="0" i="0">
                <a:solidFill>
                  <a:srgbClr val="1F2A37"/>
                </a:solidFill>
                <a:latin typeface="Calibri"/>
              </a:rPr>
              <a:t>mỗi thuộc tính: giữ nguyên giá trị  hoặc  cuộn lên ALL → 2 lựa chọn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3566160" cy="17373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80360"/>
            <a:ext cx="320040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5400" b="1" i="0">
                <a:solidFill>
                  <a:srgbClr val="EA580C"/>
                </a:solidFill>
                <a:latin typeface="Cambria"/>
              </a:rPr>
              <a:t>2⁵ = 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11880"/>
            <a:ext cx="3200400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grouping sets tính trước trong mart_olap_cube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2788920"/>
            <a:ext cx="7159752" cy="17373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971800"/>
            <a:ext cx="6583680" cy="1417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Lưu ý hay bị hỏi: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số thuộc tính trong CUBE ≠ số bảng chiều —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năm + mùa cùng nằm trong dim_date.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00600"/>
            <a:ext cx="10972800" cy="8229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GROUPING SETS: mỗi grouping set = một cách chọn (giữ/ALL) cho 5 thuộc tính → 2×2×2×2×2 = 32 khối con, từ tổng thể tới từng tổ hợp chi tiết.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Kiểm chứng 100%: tính lại từng ô từ 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15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57600" cy="182880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2918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5400" b="1" i="0">
                <a:solidFill>
                  <a:srgbClr val="0F766E"/>
                </a:solidFill>
                <a:latin typeface="Cambria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291840" cy="9601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24.759/24.759 ô của khối tính trước khớp khi tính lại từ fact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657600" cy="18288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2918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400" b="1" i="0">
                <a:solidFill>
                  <a:srgbClr val="EA580C"/>
                </a:solidFill>
                <a:latin typeface="Cambria"/>
              </a:rPr>
              <a:t>130/130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291840" cy="9601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dbt test: khóa duy nhất · not-null · khóa ngoại · cube phân hoạch 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Calibri"/>
              </a:rPr>
              <a:t>Truy vấn được viết lại theo khối: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011680"/>
            <a:ext cx="3291840" cy="68580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084831"/>
            <a:ext cx="3017520" cy="5486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alibri"/>
              </a:rPr>
              <a:t>đủ thuộc tính trong cube → 2–6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788920"/>
            <a:ext cx="3291840" cy="68580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862072"/>
            <a:ext cx="3017520" cy="5486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thiếu 1 thuộc tính → quét fact 130–400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77639"/>
            <a:ext cx="1097280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Cách kiểm chứng: </a:t>
            </a:r>
            <a:r>
              <a:rPr sz="1700" b="0">
                <a:solidFill>
                  <a:srgbClr val="1F2A37"/>
                </a:solidFill>
                <a:latin typeface="Calibri"/>
              </a:rPr>
              <a:t>chạy lại GROUPING SETS từng khối trực tiếp từ fact, so từng ô với mart đã tính trước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Phân hoạch: </a:t>
            </a:r>
            <a:r>
              <a:rPr sz="1700" b="0">
                <a:solidFill>
                  <a:srgbClr val="1F2A37"/>
                </a:solidFill>
                <a:latin typeface="Calibri"/>
              </a:rPr>
              <a:t>mỗi dòng fact đóng góp đúng 1 lần vào mỗi grouping set — dbt test bắt lỗi trùng/thiếu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Trung bình là độ đo đại số: </a:t>
            </a:r>
            <a:r>
              <a:rPr sz="1700" b="0">
                <a:solidFill>
                  <a:srgbClr val="1F2A37"/>
                </a:solidFill>
                <a:latin typeface="Calibri"/>
              </a:rPr>
              <a:t>khối lưu SUM + COUNT rồi chia (slide 18)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DEMO OLAP trực tiếp: /olap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16 / 49</a:t>
            </a:r>
          </a:p>
        </p:txBody>
      </p:sp>
      <p:pic>
        <p:nvPicPr>
          <p:cNvPr id="5" name="Picture 4" descr="olap_nam_x_m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582961" cy="48463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263640" y="14173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3624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Roll-up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7282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quý → năm · tháng → quý (cuộn lên)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23317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2768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Drill-down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6426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bấm 2015 → khoan xuống quý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32461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1912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Slice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5570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một giá trị: quận = Dongcheng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41605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1056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Dice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4714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nhiều chiều: + Xicheng, + 2016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50749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50200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Pivot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3858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đổi hàng ↔ cột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5907024"/>
            <a:ext cx="5376672" cy="51206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925312"/>
            <a:ext cx="512064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Calibri"/>
              </a:rPr>
              <a:t>Kịch bản: Năm×Mùa → 2015 → roll-up → slice → dice → pivot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Insight từ dice: gió nam mùa đông +60% PM2.5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17 / 49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25880"/>
          <a:ext cx="69494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417320"/>
            <a:ext cx="3867912" cy="15544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508760"/>
            <a:ext cx="350215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200" b="1" i="0">
                <a:solidFill>
                  <a:srgbClr val="EA580C"/>
                </a:solidFill>
                <a:latin typeface="Cambria"/>
              </a:rPr>
              <a:t>84 → 133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240280"/>
            <a:ext cx="3502152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µg/m³ · Dongcheng mùa đông, gió bắc → gió nam (+60%)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108960"/>
            <a:ext cx="3867912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200400"/>
            <a:ext cx="350215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200" b="1" i="0">
                <a:solidFill>
                  <a:srgbClr val="1F2A37"/>
                </a:solidFill>
                <a:latin typeface="Cambria"/>
              </a:rPr>
              <a:t>28% → 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3931920"/>
            <a:ext cx="3502152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tỷ lệ giờ vượt ngưỡng 115 cùng điều kiện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754880"/>
            <a:ext cx="3867912" cy="12801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Nguồn khí phía nam (Hà Bắc) — khẳng định ở mức tương quan theo hướng gió, không mô phỏng đường vận chuyển khí.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Tổng hợp đúng: khối lưu SUM + COUNT, không lưu trung bình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18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91672" cy="100584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avg(PM2.5) của mọi cấp  =  SUM(PM2.5) / COUNT(giờ đo hợp lệ)     — không phải trung bình của trung bình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800" b="1" i="0">
                <a:solidFill>
                  <a:srgbClr val="1F2A37"/>
                </a:solidFill>
                <a:latin typeface="Calibri"/>
              </a:rPr>
              <a:t>Ví dụ 30 giờ: 24 giờ × 100 µg/m³ + 6 giờ × 200 µg/m³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383280"/>
            <a:ext cx="4754880" cy="173736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20440"/>
            <a:ext cx="4206240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600" b="1" i="0">
                <a:solidFill>
                  <a:srgbClr val="0F766E"/>
                </a:solidFill>
                <a:latin typeface="Cambria"/>
              </a:rPr>
              <a:t>3.600 / 30 = 120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97680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500" b="0" i="0">
                <a:solidFill>
                  <a:srgbClr val="64748B"/>
                </a:solidFill>
                <a:latin typeface="Calibri"/>
              </a:rPr>
              <a:t>tổng giá trị / tổng số giờ đo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3383280"/>
            <a:ext cx="4754880" cy="17373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3520440"/>
            <a:ext cx="4206240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600" b="1" i="0">
                <a:solidFill>
                  <a:srgbClr val="EA580C"/>
                </a:solidFill>
                <a:latin typeface="Cambria"/>
              </a:rPr>
              <a:t>(100 + 200) / 2 = 150 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4297680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500" b="0" i="0">
                <a:solidFill>
                  <a:srgbClr val="64748B"/>
                </a:solidFill>
                <a:latin typeface="Calibri"/>
              </a:rPr>
              <a:t>trung bình của các trung bình — 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Cube gộp đúng kể cả khi mức độ thiếu khác nhau giữa các nhóm (COUNT phản ánh số giờ hợp lệ thật).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19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libri"/>
              </a:rPr>
              <a:t>PHẦN 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789920" cy="23774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Kho trả lời được: đã xảy ra gì, vì sao.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Còn «giờ tới có vượt ngưỡng không»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là việc của khai phá dữ liệu.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Bài toán phân loại: nhãn từ ngưỡng, 49 đặc trưng tại thời điểm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20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y = 1  ⟺  PM2.5 (t+1h) ≥ 115 µg/m³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49 đặc trưng — tất cả chỉ dùng thông tin biết tại thời điểm 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55264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PM2.5 hiện tại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004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55264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Độ trễ 1–24 giờ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13632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68496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Xu hướng (trung bình trượt)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13632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68496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Chất khác: PM10, SO2, NO2, CO, O3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26864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Khí tượng: nhiệt độ, độ ẩm, gió, mưa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626864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681728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Giờ · tháng · mùa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0096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94960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Trạm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5340096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394960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Cụm trạm (phân cụm)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72200"/>
            <a:ext cx="10789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Không dùng bất kỳ giá trị của tương lai — kể cả trong nội suy, scaling, chọn ngưỡng.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Chia tập theo thời gian &amp; chống rò rỉ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21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510528" cy="1188720"/>
          </a:xfrm>
          <a:prstGeom prst="roundRect">
            <a:avLst>
              <a:gd name="adj" fmla="val 55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54480"/>
            <a:ext cx="626364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TRAIN · 03/2013 – 12/2015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29968"/>
            <a:ext cx="626364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276.380 dòng · 25,2% nhãn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463040"/>
            <a:ext cx="2121408" cy="1188720"/>
          </a:xfrm>
          <a:prstGeom prst="roundRect">
            <a:avLst>
              <a:gd name="adj" fmla="val 55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1554480"/>
            <a:ext cx="187452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VAL · 01 – 06/2016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6912" y="2029968"/>
            <a:ext cx="187452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47.338 dòng · 15,8% nhãn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463040"/>
            <a:ext cx="2240280" cy="1188720"/>
          </a:xfrm>
          <a:prstGeom prst="roundRect">
            <a:avLst>
              <a:gd name="adj" fmla="val 55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1472" y="1554480"/>
            <a:ext cx="1993392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TEST · 07 – 12/2016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1472" y="2029968"/>
            <a:ext cx="1993392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48.781 dòng · 23,9% nhãn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372.499 dòng dùng cho ML (cửa sổ 03/2013 – 12/2016; 01–02/2017 để đối soát CDC — xem A12/A14)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1097280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EA580C"/>
                </a:solidFill>
                <a:latin typeface="Calibri"/>
              </a:rPr>
              <a:t>Chia theo thời gian, không random: </a:t>
            </a:r>
            <a:r>
              <a:rPr sz="1500" b="0">
                <a:solidFill>
                  <a:srgbClr val="1F2A37"/>
                </a:solidFill>
                <a:latin typeface="Calibri"/>
              </a:rPr>
              <a:t>giờ láng giềng gần như trùng nhau — random split cho kết quả lạc quan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Chọn siêu tham số chỉ trên val: </a:t>
            </a:r>
            <a:r>
              <a:rPr sz="1500" b="0">
                <a:solidFill>
                  <a:srgbClr val="1F2A37"/>
                </a:solidFill>
                <a:latin typeface="Calibri"/>
              </a:rPr>
              <a:t>độ sâu cây, ngưỡng xác suất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Test dùng đúng MỘT lần </a:t>
            </a:r>
            <a:r>
              <a:rPr sz="1500" b="0">
                <a:solidFill>
                  <a:srgbClr val="1F2A37"/>
                </a:solidFill>
                <a:latin typeface="Calibri"/>
              </a:rPr>
              <a:t>để báo cáo kết quả cuối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Median điền thiếu fit trên train, </a:t>
            </a:r>
            <a:r>
              <a:rPr sz="1500" b="0">
                <a:solidFill>
                  <a:srgbClr val="1F2A37"/>
                </a:solidFill>
                <a:latin typeface="Calibri"/>
              </a:rPr>
              <a:t>không nhìn val/test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Cửa sổ rolling không tràn qua biên split </a:t>
            </a:r>
            <a:r>
              <a:rPr sz="1500" b="0">
                <a:solidFill>
                  <a:srgbClr val="1F2A37"/>
                </a:solidFill>
                <a:latin typeface="Calibri"/>
              </a:rPr>
              <a:t>— rà và khẳng định bằng kiểm tra tự động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Baseline: bẫy accuracy và persistence rất mạnh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22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31089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Majority (luôn báo «không vượt»)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846320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64748B"/>
                </a:solidFill>
                <a:latin typeface="Cambria"/>
              </a:rPr>
              <a:t>accuracy 0,761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4846320" cy="1371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F1 = 0,000 — không phát được cảnh báo nào.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Bẫy accuracy khi lớp thiểu số ~24%.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63040"/>
            <a:ext cx="5394960" cy="31089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62763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Persistence — «PM2.5 hiện tại ≥ 115»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48840"/>
            <a:ext cx="4846320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mbria"/>
              </a:rPr>
              <a:t>F1 0,914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971800"/>
            <a:ext cx="4846320" cy="1371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Baseline mạnh: hai giờ liên tiếp tương quan cao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(ô nhiễm không đổi trạng thái đột ngột).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56048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Mô hình phải chứng minh giá trị THÊM trên baseline mạnh này — không chỉ F1 cao hơn.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Kết quả 4 mô hình: HistGB khoá — F1 0,927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23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53312"/>
            <a:ext cx="10561319" cy="402336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353312"/>
            <a:ext cx="3712463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Mô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8576" y="1353312"/>
            <a:ext cx="1197864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25896" y="1353312"/>
            <a:ext cx="1517904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63256" y="1353312"/>
            <a:ext cx="1517904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1353312"/>
            <a:ext cx="1517904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19656"/>
            <a:ext cx="10561319" cy="42062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819656"/>
            <a:ext cx="3712463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Majority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819656"/>
            <a:ext cx="119786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5896" y="1819656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3256" y="1819656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0616" y="1819656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04288"/>
            <a:ext cx="10561319" cy="420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304288"/>
            <a:ext cx="3712463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304288"/>
            <a:ext cx="119786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304288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3256" y="2304288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2304288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788920"/>
            <a:ext cx="10561319" cy="42062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788920"/>
            <a:ext cx="3712463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Cây quyết định (entropy, sâu 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2788920"/>
            <a:ext cx="119786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5896" y="2788920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88920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2788920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0,991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273552"/>
            <a:ext cx="10561319" cy="420624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273552"/>
            <a:ext cx="3712463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Calibri"/>
              </a:rPr>
              <a:t>HistGradientBoosting (cutoff 0,50)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3273552"/>
            <a:ext cx="119786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 i="0">
                <a:solidFill>
                  <a:srgbClr val="1F2A37"/>
                </a:solidFill>
                <a:latin typeface="Calibri"/>
              </a:rPr>
              <a:t>0,927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25896" y="3273552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 i="0">
                <a:solidFill>
                  <a:srgbClr val="1F2A37"/>
                </a:solidFill>
                <a:latin typeface="Calibri"/>
              </a:rPr>
              <a:t>0,926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256" y="3273552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 i="0">
                <a:solidFill>
                  <a:srgbClr val="1F2A37"/>
                </a:solidFill>
                <a:latin typeface="Calibri"/>
              </a:rPr>
              <a:t>0,928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0616" y="3273552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 i="0">
                <a:solidFill>
                  <a:srgbClr val="1F2A37"/>
                </a:solidFill>
                <a:latin typeface="Calibri"/>
              </a:rPr>
              <a:t>0,993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37360" y="3840480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01952" y="3895344"/>
            <a:ext cx="2779776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Cambria"/>
              </a:rPr>
              <a:t>FN 1.000 → 838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1952" y="4352544"/>
            <a:ext cx="2779776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giờ ô nhiễm bị bỏ sót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3840480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93792" y="3895344"/>
            <a:ext cx="2779776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Cambria"/>
              </a:rPr>
              <a:t>FP 999 → 865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93792" y="4352544"/>
            <a:ext cx="2779776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cảnh báo nhầm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3840480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3895344"/>
            <a:ext cx="2779776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200" b="1" i="0">
                <a:solidFill>
                  <a:srgbClr val="EA580C"/>
                </a:solidFill>
                <a:latin typeface="Cambria"/>
              </a:rPr>
              <a:t>F1 +0,013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4352544"/>
            <a:ext cx="2779776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so với cách hiện tại</a:t>
            </a:r>
          </a:p>
        </p:txBody>
      </p:sp>
      <p:pic>
        <p:nvPicPr>
          <p:cNvPr id="44" name="Picture 43" descr="confusion_matrices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4791456"/>
            <a:ext cx="6858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Giá trị thật: báo trước được lúc đợt ô nhiễm bắt đầu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24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19202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1206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800" b="1" i="0">
                <a:solidFill>
                  <a:srgbClr val="EA580C"/>
                </a:solidFill>
                <a:latin typeface="Cambria"/>
              </a:rPr>
              <a:t>304 / 1.000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120640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giờ «đang sạch, giờ sau vượt ngưỡng» được báo trước = 30,4% — persistence: 0% theo định nghĩa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76672" cy="19202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0109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p ≈ 5×10⁻²³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501091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McNemar: b = 594 giờ chỉ mô hình đúng · c = 298 giờ chỉ persistence đúng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11091672" cy="210312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10424160" cy="1737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Persistence không bao giờ báo trước được lúc đợt bắt đầu — nó chỉ nhìn số đo hiện tại.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304/1.000 giờ khởi đầu được báo trước: đúng lúc người vận hành cần cảnh báo nhất.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Tầm dự báo: càng sớm, mô hình càng có lợi thế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25 / 49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731520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92440" y="1463040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2" y="1517904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EA580C"/>
                </a:solidFill>
                <a:latin typeface="Cambria"/>
              </a:rPr>
              <a:t>+0,013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2" y="1975104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F1 so persistence · tầm 1h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70048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2724912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EA580C"/>
                </a:solidFill>
                <a:latin typeface="Cambria"/>
              </a:rPr>
              <a:t>+0,026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2" y="3182112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F1 so persistence · tầm 3h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877056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3931920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EA580C"/>
                </a:solidFill>
                <a:latin typeface="Cambria"/>
              </a:rPr>
              <a:t>+0,043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4389120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F1 so persistence · tầm 6h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5074920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5129784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0F766E"/>
                </a:solidFill>
                <a:latin typeface="Cambria"/>
              </a:rPr>
              <a:t>12 /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5586984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trạm có F1 cao hơn persistence trên test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DEMO: /canh-bao và /phat-lai — dự đoán trước, đối soát sau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26 / 49</a:t>
            </a:r>
          </a:p>
        </p:txBody>
      </p:sp>
      <p:pic>
        <p:nvPicPr>
          <p:cNvPr id="5" name="Picture 4" descr="canh_b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582961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1371600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900" b="1" i="0">
                <a:solidFill>
                  <a:srgbClr val="0F766E"/>
                </a:solidFill>
                <a:latin typeface="Calibri"/>
              </a:rPr>
              <a:t>/canh-bao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874519"/>
            <a:ext cx="5257800" cy="1737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Hai ma trận nhầm lẫn </a:t>
            </a:r>
            <a:r>
              <a:rPr sz="1500" b="0">
                <a:solidFill>
                  <a:srgbClr val="1F2A37"/>
                </a:solidFill>
                <a:latin typeface="Calibri"/>
              </a:rPr>
              <a:t>cạnh nhau: mô hình vs cách hiện tại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Dòng thời gian xác suất </a:t>
            </a:r>
            <a:r>
              <a:rPr sz="1500" b="0">
                <a:solidFill>
                  <a:srgbClr val="1F2A37"/>
                </a:solidFill>
                <a:latin typeface="Calibri"/>
              </a:rPr>
              <a:t>tại một trạm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0">
                <a:solidFill>
                  <a:srgbClr val="1F2A37"/>
                </a:solidFill>
                <a:latin typeface="Calibri"/>
              </a:rPr>
              <a:t>chấm xanh = cảnh báo đúng · vàng = báo nhầm · đỏ = bỏ sót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749039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900" b="1" i="0">
                <a:solidFill>
                  <a:srgbClr val="EA580C"/>
                </a:solidFill>
                <a:latin typeface="Calibri"/>
              </a:rPr>
              <a:t>/phat-lai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251960"/>
            <a:ext cx="5257800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Kéo mốc thời gian </a:t>
            </a:r>
            <a:r>
              <a:rPr sz="1500" b="0">
                <a:solidFill>
                  <a:srgbClr val="1F2A37"/>
                </a:solidFill>
                <a:latin typeface="Calibri"/>
              </a:rPr>
              <a:t>— hệ thống phát dự đoán cho giờ đích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Số đo thật chỉ hiện khi mốc đã đi qua </a:t>
            </a:r>
            <a:r>
              <a:rPr sz="1500" b="0">
                <a:solidFill>
                  <a:srgbClr val="1F2A37"/>
                </a:solidFill>
                <a:latin typeface="Calibri"/>
              </a:rPr>
              <a:t>— không nhìn trộm tương lai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760720"/>
            <a:ext cx="525780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Lưu ý trung thực: F1 cao trong cửa sổ demo không phải bằng chứng cho độ tốt của mô hình.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Luồng CDC: hệ thống «sống» sau khi báo cáo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27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nguồn tác nghiệp
(mô phỏng giao dịch)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94560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32304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05456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Watermark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đọc tăng dần:
chỉ bản ghi sau mốc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78224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5968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Airflow DAG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điều phối
theo lịch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1888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9632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2784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MinIO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lưu batch
thô + đối soát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45552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83296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6448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upsert theo
khóa grain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729216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66960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40112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Chấm MAE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đối soát số đo thật
ngưỡng 12 µg/m³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154680"/>
            <a:ext cx="3593592" cy="15544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246120"/>
            <a:ext cx="322783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mbria"/>
              </a:rPr>
              <a:t>9,41 µg/m³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977640"/>
            <a:ext cx="3227832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MAE đối soát liên tục · 111.944 giờ · 01/2016–02/2017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5112" y="3154680"/>
            <a:ext cx="3593592" cy="15544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3246120"/>
            <a:ext cx="322783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1F2A37"/>
                </a:solidFill>
                <a:latin typeface="Cambria"/>
              </a:rPr>
              <a:t>12 µg/m³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3977640"/>
            <a:ext cx="3227832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ngưỡng cờ giám sát từng batch — vượt ngưỡng chỉ BẬT CỜ (monitor_only), mô hình khoá, không tự retrain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1583" y="3154680"/>
            <a:ext cx="3538728" cy="155448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3" y="3246120"/>
            <a:ext cx="3172968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600" b="1" i="0">
                <a:solidFill>
                  <a:srgbClr val="0F766E"/>
                </a:solidFill>
                <a:latin typeface="Cambria"/>
              </a:rPr>
              <a:t>load_registry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3" y="3977640"/>
            <a:ext cx="3172968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object key + sha256 + schema_version + row_count khớp → skip: chạy lại không nhân đôi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093208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Giới hạn nói thật: watermark bắt INSERT mới. Bản ghi cũ bị SỬA/XOÁ sau khi mốc đã đi qua thì không bắt được → cần đối soát lại theo partition.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Thí nghiệm cảnh báo 6 giờ — riêng, chưa thay mô hình t+1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28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96012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1069848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Đang sạch (PM2.5 &lt; 115)  →  có đợt (≥ 3 giờ liên tục ≥ 115) bắt đầu trong t+1 … t+6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3657600" cy="17373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2918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600" b="1" i="0">
                <a:solidFill>
                  <a:srgbClr val="EA580C"/>
                </a:solidFill>
                <a:latin typeface="Cambria"/>
              </a:rPr>
              <a:t>506 / 730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3291840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đợt được báo trước = 69,3% — mô hình có đặc trưng trung vị trạm lân cận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606040"/>
            <a:ext cx="3593592" cy="17373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697480"/>
            <a:ext cx="322783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600" b="1" i="0">
                <a:solidFill>
                  <a:srgbClr val="1F2A37"/>
                </a:solidFill>
                <a:latin typeface="Cambria"/>
              </a:rPr>
              <a:t>468 / 730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3429000"/>
            <a:ext cx="3227832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= 64,1% — luật đơn giản «hiện tại ≥ 105»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2606040"/>
            <a:ext cx="3538728" cy="173736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3" y="2697480"/>
            <a:ext cx="3172968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600" b="1" i="0">
                <a:solidFill>
                  <a:srgbClr val="0F766E"/>
                </a:solidFill>
                <a:latin typeface="Cambria"/>
              </a:rPr>
              <a:t>3 giờ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3" y="3429000"/>
            <a:ext cx="3172968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trung vị thời gian báo trước (luật 105: 1 giờ) · trần cảnh báo nhầm 0,5/ngày-trạm chọn trên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17720"/>
            <a:ext cx="10972800" cy="1463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Đợt bắt đầu muộn nhất t+6 </a:t>
            </a:r>
            <a:r>
              <a:rPr sz="1500" b="0">
                <a:solidFill>
                  <a:srgbClr val="1F2A37"/>
                </a:solidFill>
                <a:latin typeface="Calibri"/>
              </a:rPr>
              <a:t>cần xem tới t+8 mới đủ 3 giờ liên tục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Nhãn chỉ giữ </a:t>
            </a:r>
            <a:r>
              <a:rPr sz="1500" b="0">
                <a:solidFill>
                  <a:srgbClr val="1F2A37"/>
                </a:solidFill>
                <a:latin typeface="Calibri"/>
              </a:rPr>
              <a:t>khi toàn bộ cửa sổ nằm trong một split (không tràn qua biên)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EA580C"/>
                </a:solidFill>
                <a:latin typeface="Calibri"/>
              </a:rPr>
              <a:t>Thí nghiệm riêng — </a:t>
            </a:r>
            <a:r>
              <a:rPr sz="1500" b="0">
                <a:solidFill>
                  <a:srgbClr val="1F2A37"/>
                </a:solidFill>
                <a:latin typeface="Calibri"/>
              </a:rPr>
              <a:t>chưa thay mô hình t+1 đang khoá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Phân tích bổ trợ: hồi quy dự báo số &amp; phân cụm trạm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29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Hồi quy — dự báo số PM2.5(t+1)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846320" cy="7315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800" b="1" i="0">
                <a:solidFill>
                  <a:srgbClr val="EA580C"/>
                </a:solidFill>
                <a:latin typeface="Cambria"/>
              </a:rPr>
              <a:t>MAE 8,87 µg/m³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493776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MAE = </a:t>
            </a:r>
            <a:r>
              <a:rPr sz="1500" b="0">
                <a:solidFill>
                  <a:srgbClr val="1F2A37"/>
                </a:solidFill>
                <a:latin typeface="Calibri"/>
              </a:rPr>
              <a:t>sai số tuyệt đối TRUNG BÌNH (cùng đơn vị µg/m³)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0">
                <a:solidFill>
                  <a:srgbClr val="1F2A37"/>
                </a:solidFill>
                <a:latin typeface="Calibri"/>
              </a:rPr>
              <a:t>không phải trần sai số — từng dự báo có thể sai nhiều hơn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Dùng cho: </a:t>
            </a:r>
            <a:r>
              <a:rPr sz="1500" b="0">
                <a:solidFill>
                  <a:srgbClr val="1F2A37"/>
                </a:solidFill>
                <a:latin typeface="Calibri"/>
              </a:rPr>
              <a:t>trang /du-bao, kèm phân vùng sai số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17320"/>
            <a:ext cx="5394960" cy="4480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600200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Phân cụm — 12 trạm thành hồ sơ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48840"/>
            <a:ext cx="4846320" cy="7315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700" b="1" i="0">
                <a:solidFill>
                  <a:srgbClr val="EA580C"/>
                </a:solidFill>
                <a:latin typeface="Cambria"/>
              </a:rPr>
              <a:t>K = 2 · silhouette 0,664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063240"/>
            <a:ext cx="493776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Đối tượng: </a:t>
            </a:r>
            <a:r>
              <a:rPr sz="1500" b="0">
                <a:solidFill>
                  <a:srgbClr val="1F2A37"/>
                </a:solidFill>
                <a:latin typeface="Calibri"/>
              </a:rPr>
              <a:t>12 trạm (mỗi trạm 1 vector hồ sơ), không phải 420k giờ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Chuẩn hoá trước K-Means; </a:t>
            </a:r>
            <a:r>
              <a:rPr sz="1500" b="0">
                <a:solidFill>
                  <a:srgbClr val="1F2A37"/>
                </a:solidFill>
                <a:latin typeface="Calibri"/>
              </a:rPr>
              <a:t>thử K = 2, 3, 4 → K=2 tách cụm rõ nhất (9 + 3)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Địa lý: </a:t>
            </a:r>
            <a:r>
              <a:rPr sz="1500" b="0">
                <a:solidFill>
                  <a:srgbClr val="1F2A37"/>
                </a:solidFill>
                <a:latin typeface="Calibri"/>
              </a:rPr>
              <a:t>chỉ dùng đối chiếu, không đưa vào đặc trưng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Khuyến nghị &amp; hạn chế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30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365760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Calibri"/>
              </a:rPr>
              <a:t>Nên làm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37760" cy="2743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Cảnh báo theo xác suất mô hình, </a:t>
            </a:r>
            <a:r>
              <a:rPr sz="1700" b="0">
                <a:solidFill>
                  <a:srgbClr val="1F2A37"/>
                </a:solidFill>
                <a:latin typeface="Calibri"/>
              </a:rPr>
              <a:t>không chờ số đo vượt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Ưu tiên mùa đông, buổi tối, </a:t>
            </a:r>
            <a:r>
              <a:rPr sz="1700" b="0">
                <a:solidFill>
                  <a:srgbClr val="1F2A37"/>
                </a:solidFill>
                <a:latin typeface="Calibri"/>
              </a:rPr>
              <a:t>khi có gió nam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Cần sớm 3–6 giờ → </a:t>
            </a:r>
            <a:r>
              <a:rPr sz="1700" b="0">
                <a:solidFill>
                  <a:srgbClr val="1F2A37"/>
                </a:solidFill>
                <a:latin typeface="Calibri"/>
              </a:rPr>
              <a:t>chấp nhận precision thấp hơn để recall cao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17320"/>
            <a:ext cx="5394960" cy="36576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Calibri"/>
              </a:rPr>
              <a:t>Hạn chế — nói thật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148840"/>
            <a:ext cx="4937760" cy="2743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Test chỉ 6 tháng cuối 2016, </a:t>
            </a:r>
            <a:r>
              <a:rPr sz="1700" b="0">
                <a:solidFill>
                  <a:srgbClr val="1F2A37"/>
                </a:solidFill>
                <a:latin typeface="Calibri"/>
              </a:rPr>
              <a:t>dữ liệu lịch sử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+0,013 F1 ở 1 giờ </a:t>
            </a:r>
            <a:r>
              <a:rPr sz="1700" b="0">
                <a:solidFill>
                  <a:srgbClr val="1F2A37"/>
                </a:solidFill>
                <a:latin typeface="Calibri"/>
              </a:rPr>
              <a:t>là khiêm tốn (có ý nghĩa thống kê)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Ngưỡng 115 </a:t>
            </a:r>
            <a:r>
              <a:rPr sz="1700" b="0">
                <a:solidFill>
                  <a:srgbClr val="1F2A37"/>
                </a:solidFill>
                <a:latin typeface="Calibri"/>
              </a:rPr>
              <a:t>vốn là ngưỡng 24 giờ, áp cho từng giờ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Mọi khuyến nghị đều truy được về một số đo cụ thể đã trình bày ở phần C.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31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libri"/>
              </a:rPr>
              <a:t>CẢM ƠN THẦY/CÔ VÀ CÁC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mbria"/>
              </a:rPr>
              <a:t>Hỏi đáp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566160"/>
            <a:ext cx="4754880" cy="9525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Rất mong nhận câu hỏi từ thầy/cô và các bạn.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2803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FDBA74"/>
                </a:solidFill>
                <a:latin typeface="Calibri"/>
              </a:rPr>
              <a:t>NHÓM THỰC HIỆN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57216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Phạm Nhật Khánh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04688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B23DCCC088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5157216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Phạm Xuân Kỳ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5504688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B23DCCC092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157216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Nguyễn Đức Thành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5504688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B23DCCC152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32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1" i="0">
                <a:solidFill>
                  <a:srgbClr val="FDBA74"/>
                </a:solidFill>
                <a:latin typeface="Calibri"/>
              </a:rPr>
              <a:t>PHỤ LỤC — 17 LÁ CHẮN CHO HỎI ĐÁP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Chỉ mở khi bị hỏi · gõ số slide + Enter để nhảy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Ngưỡng 115 từ đâu?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18288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Ghép hai nguồn thế nào?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3317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Vì sao không nội suy?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8346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Lake/staging/mart · đều là DB à?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33756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4048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Vì sao grain giờ?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84048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Sao không có chiều thời tiết?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43434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4 chiều sao ra 32 khối?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48463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492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Kiểm chứng kho thế nào?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53492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85216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SUM cube? Trung bình của trung bình?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85216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8288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18288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Kiến trúc OLAP gì? (ROLAP)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18288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3317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3317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Khóa &amp; SCD?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23317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346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28346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K-fold, rò rỉ, 372.499?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28346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33756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33756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McNemar &amp; hai ngưỡng?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333756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84048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84048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CDC chi tiết?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384048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3434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43434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Đợt &amp; thí nghiệm 6h?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43434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8463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48463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Hồi quy &amp; phân cụm?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48463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3492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53492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Demo 3' &amp; tái lập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53492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Ngưỡng 115 µg/m³ từ đâu?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33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«Vì sao 115? Có phải AQI 115 không?»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Dự án dùng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115 µg/m³ làm ngưỡng vượt của PM2.5 — dùng thống nhất cho: nhãn ML, thống kê vượt ngưỡng trong cube, khuyến nghị cảnh báo.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Nghĩa là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Ranh giới dải «ô nhiễm trung bình» theo quy chuẩn AQI Trung Quốc (HJ 633) cho PM2.5 — KHÁC với việc đọc «AQI = 115»: đây là nồng độ PM2.5, không phải điểm AQI.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Khoá từ đâu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Phân tích EDA đợt ô nhiễm (Phase 8c): đợt tại trạm = ≥ 3 giờ liên tiếp ≥ 115. EDA khoá cả quy tắc đa trạm: ≥ 6 trạm cùng lúc.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Nói thật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8678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Đây là ngưỡng trung bình 24 giờ được áp cho từng giờ — một giả định khai thác, nêu trong hạn chế (slide 30).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Ghép hai nguồn: UCI + Open-Meteo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A2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34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«Open-Meteo ghép với UCI thế nào?»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Cách ghép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Cùng 12 toạ độ trạm, cùng mốc giờ → join theo (trạm, giờ). Quy tắc resolve: UCI ƯU TIÊN, Open-Meteo chỉ lấp khi UCI bị NULL — mỗi ô sau lấp đều GHI NGUỒN.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OM thêm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Độ che phủ mây (chỉ có ở OM); RH không lấy của OM mà suy từ TEMP + DEWP của UCI để giữ nhất quán thiết bị đo.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Đối soát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Script fill-rate chấm tỷ lệ lấp thật của từng cột — con số in trên slide 5 lấy từ đây (thời tiết còn 0 ô thiếu sau lấp).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Vì sao không nội suy hết cho đẹp?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A3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35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«Điền hết đi, bảng sạch hơn?»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Sự thật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Chuỗi thiếu CO dài 343 – 1.517 giờ liên tục (trạm worst-case). Nội suy qua chuỗi dài ấy là BỊA DỮ LIỆU — có thể tạo ra đợt ô nhiễm giả trong phân tích.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Dự án làm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Giữ NULL + cờ chất lượng; COUNT(cột) ≠ COUNT(*) là có chủ đích; NULL ≠ 0 (không tự biến thiếu thành «sạch»).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ML xử lý thế nào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Median điền thiếu — tính CHỈ trên tập train, áp cho val/test (không nhìn tương lai, không rò rỉ phân phối).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Vai trò từng lớp &amp; công cụ — không phải tất cả là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A4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36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«Lake/staging/mart khác nhau thế nào? 4 công cụ kia đều là database à?»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Bốn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Lake (MinIO) = object storage, giữ raw/processed nguyên vẹn · Staging (PostgreSQL) = vùng tiếp nhận có cấu trúc, đối soát nguồn · Kho/DWH (PostgreSQL + dbt) = fact/dimension phục vụ phân tích · Mart = tập con phục vụ một nhu cầu xác định.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Công cụ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6090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MinIO = object storage, PostgreSQL = RDBMS, dbt = khung biến đổi SQL (ELT), Airflow = điều phối — KHÔNG phải tất cả là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2841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3814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Bảo mật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40156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.env bị gitignored; hạ tầng chạy trong mạng Docker nội bộ (air_quality_network); nguồn dữ liệu công khai — không có dữ liệu cá nhân.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Vì sao grain trạm × giờ?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A5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37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«Lưu mức ngày cho nhẹ được không?»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Một chiều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Giờ → ngày → tháng cuộn (roll-up) được bất cứ lúc nào; ngày → giờ KHÔNG thể — mất thông tin vĩnh viễn ngay từ lúc nạp.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Bài toán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Cảnh báo phát cho giờ tới (t+1h) — cần đúng mức giờ; độ đo và khóa chiều khớp grain.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Nếu lưu ngày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9067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Mất biến động trong ngày (giờ cao điểm buổi tối — 18–24h chính là thứ mô hình dùng làm đặc trưng xu hướng).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Vì sao thời tiết không thành chiều?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A6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38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«Thiếu dim_weather chứ?»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Nguyên tắc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Thời tiết được đo CÙNG sự kiện, tại cùng grain trạm × giờ → là ĐỘ ĐO trên fact (cột: TEMP, PRES, DEWP, RAIN, WSPM…), không phải thực thể riêng.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Lợi ích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Một nguồn sự thật: không đồng bộ hai nơi; JOIN ít hơn; phân tích tương quan chất — thời tiết chỉ cần GROUP BY theo chiều có sẵn.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Nếu cần riêng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Muốn phân tích HỒ SƠ thời tiết theo thời gian → dựng fact riêng (grain khác), không nhét thêm chiều vào sao này.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4 chiều mà 32 khối — hai con số khác nhau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A7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39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«4 chiều sao ra 32 khối?»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0424160" cy="420624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691640"/>
            <a:ext cx="261518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Chiều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1691640"/>
            <a:ext cx="6089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Các mức (tính cả 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0656" y="1691640"/>
            <a:ext cx="10607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Số mức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76272"/>
            <a:ext cx="10424160" cy="60350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176272"/>
            <a:ext cx="261518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dim_date: năm · mùa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2176272"/>
            <a:ext cx="60899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năm / tháng / quý / ngày / ALL — 2 thuộc tính CUBE (năm, mùa) cùng nằm ở đây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0656" y="2176272"/>
            <a:ext cx="10607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43784"/>
            <a:ext cx="10424160" cy="6035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43784"/>
            <a:ext cx="261518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dim_time: giờ · buổi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843784"/>
            <a:ext cx="60899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giờ / buổi / ALL — 1 thuộc tính CUBE (buổi)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0656" y="2843784"/>
            <a:ext cx="10607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11296"/>
            <a:ext cx="10424160" cy="60350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511296"/>
            <a:ext cx="261518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dim_station: trạm · quận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3511296"/>
            <a:ext cx="60899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trạm / quận / ALL — 1 thuộc tính CUBE (quận)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0656" y="3511296"/>
            <a:ext cx="10607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78808"/>
            <a:ext cx="10424160" cy="6035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178808"/>
            <a:ext cx="261518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dim_wind: hướng · chế độ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4178808"/>
            <a:ext cx="60899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16 hướng / 4 phần tư / bắc-nam / ALL — 1 thuộc tính CUBE (phần tư)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0656" y="4178808"/>
            <a:ext cx="10607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10972800" cy="12801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180 = tổ hợp MỨC PHÂN CẤP của 4 chiều (5·3·3·4) — nói về độ sâu phân tích.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32 = GROUPING SETS của CUBE 5 thuộc tính (2⁵) — nói về khối đã tính trước.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Hai con số đo hai thứ khác nhau — đừng trộn.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Kiểm chứng kho: tính lại từng ô từ 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A8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40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«Làm sao biết khối tính trước đúng?»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Kiểm chứng 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Script chạy lại từng khối (GROUPING SETS) trực tiếp từ fact, so khớp TỪNG Ô: 24.759 / 24.759 ô đúng = 100% — chạy bằng lệnh, không phải kiểm tra thủ công.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dbt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130/130 test: khóa duy nhất · not-null · khóa ngoại · cube PHÂN HOẠCH fact (mỗi dòng fact đóng góp đúng 1 lần vào mỗi grouping set — không trùng, không thiếu).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Giới hạn thật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Không phải mọi truy vấn dùng được khối: thiếu 1 thuộc tính là phải quét fact (130–400 ms) — vì vậy trang OLAP được thiết kế theo thuộc tính của cube.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SUM cube &amp; trung bình của trung bình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A9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41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«Lấy tổng số giờ bằng SUM cả bảng cube?»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Vì sao 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Mỗi dòng fact nằm trong NHIỀU grouping set (từng tổ hợp cuộn-up chứa nó) — SUM cả bảng cube đếm cùng một quan trắc nhiều lần.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Đúng thế nào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Gộp trung bình = TỔNG giá trị / TỔNG số đo hợp lệ — cube lưu sẵn SUM + COUNT cho từng ô nên gộp đúng mọi cấp.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Ví dụ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24 giờ × 100 + 6 giờ × 200 → 3.600 / 30 = 120 — KHÔNG PHẢI (100 + 200) / 2 = 150.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Kiến trúc OLAP của dự án: ROLAP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A10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42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«Nhóm dùng kiến trúc lưu trữ OLAP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Dự án dùng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ROLAP: dữ liệu quan hệ trong PostgreSQL; tổng hợp bằng SQL; khối tính trước nằm trong mart (bảng quan hệ) — không có engine ma trận đa chiều riêng.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Vì sao đủ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420.768 dòng × 5 thuộc tính cube — PostgreSQL trả lời trong vài ms nhờ khối tính trước; chưa cần MOLAP.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Khi nào đổi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Nếu 100 trạm × 10 năm (dữ liệu lớn hơn ~2 bậc) → cân nhắc columnar / MPP / Spark cho phễu tổng hợp.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Khóa &amp; SCD — chiều thay đổi thì sao?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A11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43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«Dùng khóa gì? Trạm đổi quận thì sao?»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Hiện dùng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Khóa tự nhiên/biện minh: station_key = station_id · date_key = YYYYMMDD · time_key = 0–23 · wind_key: 0 = không rõ hướng.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Vì sao ổn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Chiều TĨNH (trạm không đổi quận trong dữ liệu), nguồn DUY NHẤT, không có thành viên thay đổi → khóa tự nhiên đơn giản, đọc được, không cần indirection.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Nếu thay đổi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Trạm đổi quận → surrogate key + SCD TYPE 2: bản ghi chiều MỚI + valid_from / valid_to; fact cũ vẫn trỏ bản ghi cũ → lịch sử KHÔNG bị viết lại.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Chia tập, k-fold &amp; rò rỉ — 420.768 sao còn 372.499?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A12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44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«Sao không k-fold? Rò rỉ ở đâu?»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Không k-fold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Dữ liệu giờ LIÊN TỤC: giờ láng giềng gần như trùng nhau — random split (k-fold) cho giờ đó vào cả train lẫn test → kết quả lạc quan. Chia theo thời gian: train → val → test; siêu tham số chọn trên val; test dùng đúng một lần.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372.499 dòng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6090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Cửa sổ ML chốt 03/2013 – 12/2016 (01–02/2017 nằm NGOÀI ML — dành cho đối soát CDC, xem A14). Trong cửa sổ: dòng thiếu nhãn PM2.5(t+1) hoặc không đủ chuỗi 24 giờ trước (lag 1–24h + trung bình trượt) bị loại — mỗi giờ thiếu làm gãy chuỗi, kéo theo loại cả những giờ ngay sau nó.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3931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Rò rỉ đã rà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71246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Cửa sổ rolling và nhãn KHÔNG tràn qua biên split — có kiểm tra tự động; từng phát hiện 1 trường hợp tràn và refit: F1 0,926 so với 0,927 — nói thật, không khẳng định hoàn hảo.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7997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8970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Vì sao cây &amp; HistGB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45312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Cây quyết định: dễ giải thích (vẽ ra trình bày được) + mạnh trên bảng đặc trưng đã dựng. HistGB: boosting — cây yếu tuần tự sửa lỗi của cây trước, histogram bin cho nhanh.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McNemar &amp; hai ngưỡng khác nhau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A13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45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«McNemar là gì? 115 với 0,50 là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McNemar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So hai mô hình trên CÙNG tập test, chỉ xét các cặp không thống nhất (disagree): b = 594 giờ chỉ mô hình đúng · c = 298 giờ chỉ persistence đúng → p ≈ 5×10⁻²³: khác biệt thật, không phải may.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Ý nghĩa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6090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Thống kê có ý nghĩa ≠ đủ để triển khai: test chỉ 6 tháng, dữ liệu lịch sử — nói thẳng trong hạn chế.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2841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3814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Hai ngưỡng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40156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115 µg/m³ tạo NHÃN từ nồng độ (định nghĩa bài toán); 0,50 là NGƯỠNG XÁC SUẤT ra quyết định — DỊCH ĐƯỢC (cây dùng 0,45) để đổi recall/precision theo giá của bỏ sót (FN) vs báo nhầm (FP).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CDC chi tiết: sửa/xoá, nhân đôi, vượt ngưỡng MAE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A14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46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«Bản ghi cũ bị sửa thì sao? Chạy lại có nhân đôi? Vượt MAE rồi làm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Watermark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Mốc event_time đã nạp; mỗi lần chỉ lấy bản ghi SAU mốc → bắt được INSERT mới.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7685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8658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Sửa / xoá cũ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5000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Sau khi mốc đã đi qua, bản ghi cũ bị SỬA/XOÁ không xuất hiện lại → KHÔNG tự bắt được. Phương án: đối soát sha256 từng batch, hoặc load lại cả partition.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Không nhân đôi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9067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Upsert theo khóa grain + load_registry: object key + sha256 + schema_version + row_count khớp → skip batch cũ.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5818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6791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Giám sát 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83133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Mỗi batch CDC chấm MAE với số đo thật: tổng 9,41 µg/m³ trên 111.944 giờ, chấm liên tục 01/2016 – 28/02/2017; ngưỡng 12 µg/m³ — vượt chỉ BẬT CỜ (monitor_only): mô hình khoá, không tự retrain. MAE cao hơn 8,87 của test vì đối soát chạy trên dòng thời gian vận hành, không phải một tập test cố định.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Đợt ô nhiễm &amp; thí nghiệm 6 giờ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A15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47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«Đợt là gì? Vì sao kiểm tra tới t+8?»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Đợt — một trạm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≥ 3 giờ LIÊN TIẾP ≥ 115 µg/m³ tại trạm đó; thiếu số đo làm gián đoạn chuỗi (không nối qua khoảng thiếu).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Đợt — đa trạm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≥ 6 trạm có đợt chồng lấn thời gian → «sự kiện» vùng: 487 sự kiện đa trạm trong 4 năm, thời lượng trung vị 10 giờ.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Thí nghiệm 6h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Hỏi: đang sạch, có đợt BẮT ĐẦU trong t+1 → t+6 không. Đợt bắt đầu muộn nhất t+6 cần theo dõi tới t+8 mới đủ 3 giờ liên tục → nhãn chỉ giữ khi toàn bộ cửa sổ nằm trong một split.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Trần cảnh báo nhầm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8678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0,5 lần/ngày-trạm — chọn trên validation, không chỉnh trên test.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Hồi quy &amp; phân cụm — đúng đối tượng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A16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48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«MAE nghĩa gì? Phân cụm cái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8,87 µg/m³ = trung bình trị tuyệt đối sai số (cùng đơn vị với PM2.5) — KHÔNG phải trần sai số từng dự báo.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Phân cụm cái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Đối tượng là 12 TRẠM — mỗi trạm thành một vector hồ sơ (mùa, chất, đợt…), chuẩn hoá trước K-Means; không phải phân cụm 420 nghìn giờ.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Chọn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Thử K = 2, 3, 4: silhouette 0,664 / 0,345 / 0,277 → K = 2 tách cụm rõ nhất; cụm 9 trạm + 3 trạm. Silhouette đo tách cụm theo đặc trưng — không phải accuracy.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Địa lý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8678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Chỉ dùng để ĐỐI CHIẾU kết quả cụm (cụm có liên hệ vị trí không), không đưa vào đặc trưng phân cụm.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Demo 3 phút &amp; tái lập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A17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49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«Chạy lại được không? Mất mạng thì sao?»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Luồng demo 3'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/ (quy mô) → /olap (1 roll-up + 1 slice) → /canh-bao (nhãn, baseline, kết quả) → /phat-lai (dự đoán trước — đối soát sau).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Mất mạng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notebooks/olap/olap_demo.ipynb đã chạy sẵn output; ảnh chụp màn hình các trang đã lưu trong slide.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Tái lập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python scripts/run_all.py — 130/130 dbt test pass · 11,2 phút từ trạng thái trống · idempotent (load_registry chống nạp đôi).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