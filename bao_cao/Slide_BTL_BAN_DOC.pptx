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548640" y="640080"/>
            <a:ext cx="10058400" cy="320040"/>
          </a:xfrm>
          <a:prstGeom prst="rect">
            <a:avLst/>
          </a:prstGeom>
          <a:noFill/>
        </p:spPr>
        <p:txBody>
          <a:bodyPr wrap="square" anchor="t" lIns="27432" rIns="27432" tIns="0" bIns="0">
            <a:spAutoFit/>
          </a:bodyPr>
          <a:lstStyle/>
          <a:p>
            <a:pPr algn="l"/>
            <a:r>
              <a:rPr sz="1300" b="1" i="0">
                <a:solidFill>
                  <a:srgbClr val="FDBA74"/>
                </a:solidFill>
                <a:latin typeface="Calibri"/>
              </a:rPr>
              <a:t>INT1422 · KHO DỮ LIỆU VÀ KHAI PHÁ DỮ LIỆU · PTIT</a:t>
            </a:r>
          </a:p>
        </p:txBody>
      </p:sp>
      <p:sp>
        <p:nvSpPr>
          <p:cNvPr id="3" name="TextBox 2"/>
          <p:cNvSpPr txBox="1"/>
          <p:nvPr/>
        </p:nvSpPr>
        <p:spPr>
          <a:xfrm>
            <a:off x="548640" y="1097280"/>
            <a:ext cx="6035040" cy="868680"/>
          </a:xfrm>
          <a:prstGeom prst="rect">
            <a:avLst/>
          </a:prstGeom>
          <a:noFill/>
        </p:spPr>
        <p:txBody>
          <a:bodyPr wrap="square" anchor="t" lIns="27432" rIns="27432" tIns="0" bIns="0">
            <a:spAutoFit/>
          </a:bodyPr>
          <a:lstStyle/>
          <a:p>
            <a:pPr algn="l"/>
            <a:r>
              <a:rPr sz="4200" b="1" i="0">
                <a:solidFill>
                  <a:srgbClr val="FFFFFF"/>
                </a:solidFill>
                <a:latin typeface="Cambria"/>
              </a:rPr>
              <a:t>TÀI LIỆU ĐỌC HIỂU</a:t>
            </a:r>
          </a:p>
        </p:txBody>
      </p:sp>
      <p:sp>
        <p:nvSpPr>
          <p:cNvPr id="4" name="TextBox 3"/>
          <p:cNvSpPr txBox="1"/>
          <p:nvPr/>
        </p:nvSpPr>
        <p:spPr>
          <a:xfrm>
            <a:off x="548640" y="2057400"/>
            <a:ext cx="5760720" cy="1188720"/>
          </a:xfrm>
          <a:prstGeom prst="rect">
            <a:avLst/>
          </a:prstGeom>
          <a:noFill/>
        </p:spPr>
        <p:txBody>
          <a:bodyPr wrap="square" anchor="t" lIns="27432" rIns="27432" tIns="0" bIns="0">
            <a:spAutoFit/>
          </a:bodyPr>
          <a:lstStyle/>
          <a:p>
            <a:pPr algn="l">
              <a:spcAft>
                <a:spcPts val="500"/>
              </a:spcAft>
            </a:pPr>
            <a:r>
              <a:rPr sz="1700" b="0" i="0">
                <a:solidFill>
                  <a:srgbClr val="C5D0DE"/>
                </a:solidFill>
                <a:latin typeface="Cambria"/>
              </a:rPr>
              <a:t>Air Quality Analytics Platform — kho dữ liệu chất lượng không khí Bắc Kinh &amp; cảnh báo sớm PM2.5 vượt ngưỡng</a:t>
            </a:r>
          </a:p>
        </p:txBody>
      </p:sp>
      <p:sp>
        <p:nvSpPr>
          <p:cNvPr id="5" name="Rounded Rectangle 4"/>
          <p:cNvSpPr/>
          <p:nvPr/>
        </p:nvSpPr>
        <p:spPr>
          <a:xfrm>
            <a:off x="548640" y="3429000"/>
            <a:ext cx="3017520"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a:solidFill>
                  <a:srgbClr val="FFFFFF"/>
                </a:solidFill>
                <a:latin typeface="Calibri"/>
              </a:rPr>
              <a:t>49 slide · đọc hết ≈ 45 phút</a:t>
            </a:r>
          </a:p>
        </p:txBody>
      </p:sp>
      <p:sp>
        <p:nvSpPr>
          <p:cNvPr id="6" name="Rounded Rectangle 5"/>
          <p:cNvSpPr/>
          <p:nvPr/>
        </p:nvSpPr>
        <p:spPr>
          <a:xfrm>
            <a:off x="3749040" y="3429000"/>
            <a:ext cx="2743200" cy="402336"/>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a:solidFill>
                  <a:srgbClr val="FDBA74"/>
                </a:solidFill>
                <a:latin typeface="Calibri"/>
              </a:rPr>
              <a:t>số cam = số phải thuộc</a:t>
            </a:r>
          </a:p>
        </p:txBody>
      </p:sp>
      <p:sp>
        <p:nvSpPr>
          <p:cNvPr id="7" name="TextBox 6"/>
          <p:cNvSpPr txBox="1"/>
          <p:nvPr/>
        </p:nvSpPr>
        <p:spPr>
          <a:xfrm>
            <a:off x="548640" y="4069080"/>
            <a:ext cx="5852160" cy="685800"/>
          </a:xfrm>
          <a:prstGeom prst="rect">
            <a:avLst/>
          </a:prstGeom>
          <a:noFill/>
        </p:spPr>
        <p:txBody>
          <a:bodyPr wrap="square" anchor="t" lIns="27432" rIns="27432" tIns="0" bIns="0">
            <a:spAutoFit/>
          </a:bodyPr>
          <a:lstStyle/>
          <a:p>
            <a:pPr algn="l">
              <a:spcAft>
                <a:spcPts val="300"/>
              </a:spcAft>
            </a:pPr>
            <a:r>
              <a:rPr sz="1250" b="0" i="1">
                <a:solidFill>
                  <a:srgbClr val="64748B"/>
                </a:solidFill>
                <a:latin typeface="Cambria"/>
              </a:rPr>
              <a:t>Bộ CHIẾU phòng thủ: Slide_BTL_THUYET_TRINH_30phut_v3.pptx — bộ này để ĐỌC HIỂU và ÔN, không dùng để trình chiếu.</a:t>
            </a:r>
          </a:p>
        </p:txBody>
      </p:sp>
      <p:sp>
        <p:nvSpPr>
          <p:cNvPr id="8" name="Rectangle 7"/>
          <p:cNvSpPr/>
          <p:nvPr/>
        </p:nvSpPr>
        <p:spPr>
          <a:xfrm>
            <a:off x="548640" y="5029200"/>
            <a:ext cx="576072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193792"/>
            <a:ext cx="5760720" cy="320040"/>
          </a:xfrm>
          <a:prstGeom prst="rect">
            <a:avLst/>
          </a:prstGeom>
          <a:noFill/>
        </p:spPr>
        <p:txBody>
          <a:bodyPr wrap="square" anchor="t" lIns="27432" rIns="27432" tIns="0" bIns="0">
            <a:spAutoFit/>
          </a:bodyPr>
          <a:lstStyle/>
          <a:p>
            <a:pPr algn="l"/>
            <a:r>
              <a:rPr sz="1350" b="1" i="0">
                <a:solidFill>
                  <a:srgbClr val="FFFFFF"/>
                </a:solidFill>
                <a:latin typeface="Calibri"/>
              </a:rPr>
              <a:t>Phạm Nhật Khánh · Phạm Xuân Kỳ · Nguyễn Đức Thành</a:t>
            </a:r>
          </a:p>
        </p:txBody>
      </p:sp>
      <p:sp>
        <p:nvSpPr>
          <p:cNvPr id="10" name="TextBox 9"/>
          <p:cNvSpPr txBox="1"/>
          <p:nvPr/>
        </p:nvSpPr>
        <p:spPr>
          <a:xfrm>
            <a:off x="548640" y="5559552"/>
            <a:ext cx="5760720" cy="320040"/>
          </a:xfrm>
          <a:prstGeom prst="rect">
            <a:avLst/>
          </a:prstGeom>
          <a:noFill/>
        </p:spPr>
        <p:txBody>
          <a:bodyPr wrap="square" anchor="t" lIns="27432" rIns="27432" tIns="0" bIns="0">
            <a:spAutoFit/>
          </a:bodyPr>
          <a:lstStyle/>
          <a:p>
            <a:pPr algn="l"/>
            <a:r>
              <a:rPr sz="1200" b="0" i="0">
                <a:solidFill>
                  <a:srgbClr val="C5D0DE"/>
                </a:solidFill>
                <a:latin typeface="Calibri"/>
              </a:rPr>
              <a:t>GVHD: TS. Phan Lý Huỳnh — Học viện Công nghệ Bưu chính Viễn thông</a:t>
            </a:r>
          </a:p>
        </p:txBody>
      </p:sp>
      <p:sp>
        <p:nvSpPr>
          <p:cNvPr id="11" name="Rounded Rectangle 10"/>
          <p:cNvSpPr/>
          <p:nvPr/>
        </p:nvSpPr>
        <p:spPr>
          <a:xfrm>
            <a:off x="6720840" y="1097280"/>
            <a:ext cx="4919472" cy="969264"/>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03720" y="1371600"/>
            <a:ext cx="420624" cy="42062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a:t>
            </a:r>
          </a:p>
        </p:txBody>
      </p:sp>
      <p:sp>
        <p:nvSpPr>
          <p:cNvPr id="13" name="TextBox 12"/>
          <p:cNvSpPr txBox="1"/>
          <p:nvPr/>
        </p:nvSpPr>
        <p:spPr>
          <a:xfrm>
            <a:off x="7498079" y="1225295"/>
            <a:ext cx="3108960" cy="320040"/>
          </a:xfrm>
          <a:prstGeom prst="rect">
            <a:avLst/>
          </a:prstGeom>
          <a:noFill/>
        </p:spPr>
        <p:txBody>
          <a:bodyPr wrap="square" anchor="t" lIns="27432" rIns="27432" tIns="0" bIns="0">
            <a:spAutoFit/>
          </a:bodyPr>
          <a:lstStyle/>
          <a:p>
            <a:pPr algn="l"/>
            <a:r>
              <a:rPr sz="1500" b="1" i="0">
                <a:solidFill>
                  <a:srgbClr val="FFFFFF"/>
                </a:solidFill>
                <a:latin typeface="Calibri"/>
              </a:rPr>
              <a:t>Bài toán &amp; dữ liệu</a:t>
            </a:r>
          </a:p>
        </p:txBody>
      </p:sp>
      <p:sp>
        <p:nvSpPr>
          <p:cNvPr id="14" name="TextBox 13"/>
          <p:cNvSpPr txBox="1"/>
          <p:nvPr/>
        </p:nvSpPr>
        <p:spPr>
          <a:xfrm>
            <a:off x="7498079" y="1572768"/>
            <a:ext cx="3977639" cy="384048"/>
          </a:xfrm>
          <a:prstGeom prst="rect">
            <a:avLst/>
          </a:prstGeom>
          <a:noFill/>
        </p:spPr>
        <p:txBody>
          <a:bodyPr wrap="square" anchor="t" lIns="27432" rIns="27432" tIns="0" bIns="0">
            <a:spAutoFit/>
          </a:bodyPr>
          <a:lstStyle/>
          <a:p>
            <a:pPr algn="l">
              <a:spcAft>
                <a:spcPts val="100"/>
              </a:spcAft>
            </a:pPr>
            <a:r>
              <a:rPr sz="1100" b="0" i="0">
                <a:solidFill>
                  <a:srgbClr val="C5D0DE"/>
                </a:solidFill>
                <a:latin typeface="Calibri"/>
              </a:rPr>
              <a:t>câu hỏi nghiệp vụ · 2 nguồn · làm sạch · kiến trúc</a:t>
            </a:r>
          </a:p>
        </p:txBody>
      </p:sp>
      <p:sp>
        <p:nvSpPr>
          <p:cNvPr id="15" name="TextBox 14"/>
          <p:cNvSpPr txBox="1"/>
          <p:nvPr/>
        </p:nvSpPr>
        <p:spPr>
          <a:xfrm>
            <a:off x="10561320" y="1225295"/>
            <a:ext cx="960120" cy="320040"/>
          </a:xfrm>
          <a:prstGeom prst="rect">
            <a:avLst/>
          </a:prstGeom>
          <a:noFill/>
        </p:spPr>
        <p:txBody>
          <a:bodyPr wrap="square" anchor="t" lIns="27432" rIns="27432" tIns="0" bIns="0">
            <a:spAutoFit/>
          </a:bodyPr>
          <a:lstStyle/>
          <a:p>
            <a:pPr algn="r"/>
            <a:r>
              <a:rPr sz="1100" b="1" i="0">
                <a:solidFill>
                  <a:srgbClr val="FDBA74"/>
                </a:solidFill>
                <a:latin typeface="Calibri"/>
              </a:rPr>
              <a:t>slide 4–14</a:t>
            </a:r>
          </a:p>
        </p:txBody>
      </p:sp>
      <p:sp>
        <p:nvSpPr>
          <p:cNvPr id="16" name="Rounded Rectangle 15"/>
          <p:cNvSpPr/>
          <p:nvPr/>
        </p:nvSpPr>
        <p:spPr>
          <a:xfrm>
            <a:off x="6720840" y="2231136"/>
            <a:ext cx="4919472" cy="969264"/>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03720" y="2505456"/>
            <a:ext cx="420624" cy="42062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B</a:t>
            </a:r>
          </a:p>
        </p:txBody>
      </p:sp>
      <p:sp>
        <p:nvSpPr>
          <p:cNvPr id="18" name="TextBox 17"/>
          <p:cNvSpPr txBox="1"/>
          <p:nvPr/>
        </p:nvSpPr>
        <p:spPr>
          <a:xfrm>
            <a:off x="7498079" y="2359152"/>
            <a:ext cx="3108960" cy="320040"/>
          </a:xfrm>
          <a:prstGeom prst="rect">
            <a:avLst/>
          </a:prstGeom>
          <a:noFill/>
        </p:spPr>
        <p:txBody>
          <a:bodyPr wrap="square" anchor="t" lIns="27432" rIns="27432" tIns="0" bIns="0">
            <a:spAutoFit/>
          </a:bodyPr>
          <a:lstStyle/>
          <a:p>
            <a:pPr algn="l"/>
            <a:r>
              <a:rPr sz="1500" b="1" i="0">
                <a:solidFill>
                  <a:srgbClr val="FFFFFF"/>
                </a:solidFill>
                <a:latin typeface="Calibri"/>
              </a:rPr>
              <a:t>Kho dữ liệu &amp; OLAP</a:t>
            </a:r>
          </a:p>
        </p:txBody>
      </p:sp>
      <p:sp>
        <p:nvSpPr>
          <p:cNvPr id="19" name="TextBox 18"/>
          <p:cNvSpPr txBox="1"/>
          <p:nvPr/>
        </p:nvSpPr>
        <p:spPr>
          <a:xfrm>
            <a:off x="7498079" y="2706624"/>
            <a:ext cx="3977639" cy="384048"/>
          </a:xfrm>
          <a:prstGeom prst="rect">
            <a:avLst/>
          </a:prstGeom>
          <a:noFill/>
        </p:spPr>
        <p:txBody>
          <a:bodyPr wrap="square" anchor="t" lIns="27432" rIns="27432" tIns="0" bIns="0">
            <a:spAutoFit/>
          </a:bodyPr>
          <a:lstStyle/>
          <a:p>
            <a:pPr algn="l">
              <a:spcAft>
                <a:spcPts val="100"/>
              </a:spcAft>
            </a:pPr>
            <a:r>
              <a:rPr sz="1100" b="0" i="0">
                <a:solidFill>
                  <a:srgbClr val="C5D0DE"/>
                </a:solidFill>
                <a:latin typeface="Calibri"/>
              </a:rPr>
              <a:t>grain · sao 4 chiều · 180 vs 32 · kiểm chứng</a:t>
            </a:r>
          </a:p>
        </p:txBody>
      </p:sp>
      <p:sp>
        <p:nvSpPr>
          <p:cNvPr id="20" name="TextBox 19"/>
          <p:cNvSpPr txBox="1"/>
          <p:nvPr/>
        </p:nvSpPr>
        <p:spPr>
          <a:xfrm>
            <a:off x="10561320" y="2359152"/>
            <a:ext cx="960120" cy="320040"/>
          </a:xfrm>
          <a:prstGeom prst="rect">
            <a:avLst/>
          </a:prstGeom>
          <a:noFill/>
        </p:spPr>
        <p:txBody>
          <a:bodyPr wrap="square" anchor="t" lIns="27432" rIns="27432" tIns="0" bIns="0">
            <a:spAutoFit/>
          </a:bodyPr>
          <a:lstStyle/>
          <a:p>
            <a:pPr algn="r"/>
            <a:r>
              <a:rPr sz="1100" b="1" i="0">
                <a:solidFill>
                  <a:srgbClr val="FDBA74"/>
                </a:solidFill>
                <a:latin typeface="Calibri"/>
              </a:rPr>
              <a:t>slide 16–28</a:t>
            </a:r>
          </a:p>
        </p:txBody>
      </p:sp>
      <p:sp>
        <p:nvSpPr>
          <p:cNvPr id="21" name="Rounded Rectangle 20"/>
          <p:cNvSpPr/>
          <p:nvPr/>
        </p:nvSpPr>
        <p:spPr>
          <a:xfrm>
            <a:off x="6720840" y="3364991"/>
            <a:ext cx="4919472" cy="969264"/>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903720" y="3639311"/>
            <a:ext cx="420624" cy="42062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C</a:t>
            </a:r>
          </a:p>
        </p:txBody>
      </p:sp>
      <p:sp>
        <p:nvSpPr>
          <p:cNvPr id="23" name="TextBox 22"/>
          <p:cNvSpPr txBox="1"/>
          <p:nvPr/>
        </p:nvSpPr>
        <p:spPr>
          <a:xfrm>
            <a:off x="7498079" y="3493008"/>
            <a:ext cx="3108960" cy="320040"/>
          </a:xfrm>
          <a:prstGeom prst="rect">
            <a:avLst/>
          </a:prstGeom>
          <a:noFill/>
        </p:spPr>
        <p:txBody>
          <a:bodyPr wrap="square" anchor="t" lIns="27432" rIns="27432" tIns="0" bIns="0">
            <a:spAutoFit/>
          </a:bodyPr>
          <a:lstStyle/>
          <a:p>
            <a:pPr algn="l"/>
            <a:r>
              <a:rPr sz="1500" b="1" i="0">
                <a:solidFill>
                  <a:srgbClr val="FFFFFF"/>
                </a:solidFill>
                <a:latin typeface="Calibri"/>
              </a:rPr>
              <a:t>Khai phá dữ liệu</a:t>
            </a:r>
          </a:p>
        </p:txBody>
      </p:sp>
      <p:sp>
        <p:nvSpPr>
          <p:cNvPr id="24" name="TextBox 23"/>
          <p:cNvSpPr txBox="1"/>
          <p:nvPr/>
        </p:nvSpPr>
        <p:spPr>
          <a:xfrm>
            <a:off x="7498079" y="3840479"/>
            <a:ext cx="3977639" cy="384048"/>
          </a:xfrm>
          <a:prstGeom prst="rect">
            <a:avLst/>
          </a:prstGeom>
          <a:noFill/>
        </p:spPr>
        <p:txBody>
          <a:bodyPr wrap="square" anchor="t" lIns="27432" rIns="27432" tIns="0" bIns="0">
            <a:spAutoFit/>
          </a:bodyPr>
          <a:lstStyle/>
          <a:p>
            <a:pPr algn="l">
              <a:spcAft>
                <a:spcPts val="100"/>
              </a:spcAft>
            </a:pPr>
            <a:r>
              <a:rPr sz="1100" b="0" i="0">
                <a:solidFill>
                  <a:srgbClr val="C5D0DE"/>
                </a:solidFill>
                <a:latin typeface="Calibri"/>
              </a:rPr>
              <a:t>nhãn · chia tập · baseline · McNemar · tầm dự báo</a:t>
            </a:r>
          </a:p>
        </p:txBody>
      </p:sp>
      <p:sp>
        <p:nvSpPr>
          <p:cNvPr id="25" name="TextBox 24"/>
          <p:cNvSpPr txBox="1"/>
          <p:nvPr/>
        </p:nvSpPr>
        <p:spPr>
          <a:xfrm>
            <a:off x="10561320" y="3493008"/>
            <a:ext cx="960120" cy="320040"/>
          </a:xfrm>
          <a:prstGeom prst="rect">
            <a:avLst/>
          </a:prstGeom>
          <a:noFill/>
        </p:spPr>
        <p:txBody>
          <a:bodyPr wrap="square" anchor="t" lIns="27432" rIns="27432" tIns="0" bIns="0">
            <a:spAutoFit/>
          </a:bodyPr>
          <a:lstStyle/>
          <a:p>
            <a:pPr algn="r"/>
            <a:r>
              <a:rPr sz="1100" b="1" i="0">
                <a:solidFill>
                  <a:srgbClr val="FDBA74"/>
                </a:solidFill>
                <a:latin typeface="Calibri"/>
              </a:rPr>
              <a:t>slide 30–42</a:t>
            </a:r>
          </a:p>
        </p:txBody>
      </p:sp>
      <p:sp>
        <p:nvSpPr>
          <p:cNvPr id="26" name="Rounded Rectangle 25"/>
          <p:cNvSpPr/>
          <p:nvPr/>
        </p:nvSpPr>
        <p:spPr>
          <a:xfrm>
            <a:off x="6720840" y="4498848"/>
            <a:ext cx="4919472" cy="969264"/>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03720" y="4773168"/>
            <a:ext cx="420624" cy="42062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D</a:t>
            </a:r>
          </a:p>
        </p:txBody>
      </p:sp>
      <p:sp>
        <p:nvSpPr>
          <p:cNvPr id="28" name="TextBox 27"/>
          <p:cNvSpPr txBox="1"/>
          <p:nvPr/>
        </p:nvSpPr>
        <p:spPr>
          <a:xfrm>
            <a:off x="7498079" y="4626864"/>
            <a:ext cx="3108960" cy="320040"/>
          </a:xfrm>
          <a:prstGeom prst="rect">
            <a:avLst/>
          </a:prstGeom>
          <a:noFill/>
        </p:spPr>
        <p:txBody>
          <a:bodyPr wrap="square" anchor="t" lIns="27432" rIns="27432" tIns="0" bIns="0">
            <a:spAutoFit/>
          </a:bodyPr>
          <a:lstStyle/>
          <a:p>
            <a:pPr algn="l"/>
            <a:r>
              <a:rPr sz="1500" b="1" i="0">
                <a:solidFill>
                  <a:srgbClr val="FFFFFF"/>
                </a:solidFill>
                <a:latin typeface="Calibri"/>
              </a:rPr>
              <a:t>Vận hành &amp; tổng ôn</a:t>
            </a:r>
          </a:p>
        </p:txBody>
      </p:sp>
      <p:sp>
        <p:nvSpPr>
          <p:cNvPr id="29" name="TextBox 28"/>
          <p:cNvSpPr txBox="1"/>
          <p:nvPr/>
        </p:nvSpPr>
        <p:spPr>
          <a:xfrm>
            <a:off x="7498079" y="4974336"/>
            <a:ext cx="3977639" cy="384048"/>
          </a:xfrm>
          <a:prstGeom prst="rect">
            <a:avLst/>
          </a:prstGeom>
          <a:noFill/>
        </p:spPr>
        <p:txBody>
          <a:bodyPr wrap="square" anchor="t" lIns="27432" rIns="27432" tIns="0" bIns="0">
            <a:spAutoFit/>
          </a:bodyPr>
          <a:lstStyle/>
          <a:p>
            <a:pPr algn="l">
              <a:spcAft>
                <a:spcPts val="100"/>
              </a:spcAft>
            </a:pPr>
            <a:r>
              <a:rPr sz="1100" b="0" i="0">
                <a:solidFill>
                  <a:srgbClr val="C5D0DE"/>
                </a:solidFill>
                <a:latin typeface="Calibri"/>
              </a:rPr>
              <a:t>CDC · dashboard · khuyến nghị · bộ số phải thuộc</a:t>
            </a:r>
          </a:p>
        </p:txBody>
      </p:sp>
      <p:sp>
        <p:nvSpPr>
          <p:cNvPr id="30" name="TextBox 29"/>
          <p:cNvSpPr txBox="1"/>
          <p:nvPr/>
        </p:nvSpPr>
        <p:spPr>
          <a:xfrm>
            <a:off x="10561320" y="4626864"/>
            <a:ext cx="960120" cy="320040"/>
          </a:xfrm>
          <a:prstGeom prst="rect">
            <a:avLst/>
          </a:prstGeom>
          <a:noFill/>
        </p:spPr>
        <p:txBody>
          <a:bodyPr wrap="square" anchor="t" lIns="27432" rIns="27432" tIns="0" bIns="0">
            <a:spAutoFit/>
          </a:bodyPr>
          <a:lstStyle/>
          <a:p>
            <a:pPr algn="r"/>
            <a:r>
              <a:rPr sz="1100" b="1" i="0">
                <a:solidFill>
                  <a:srgbClr val="FDBA74"/>
                </a:solidFill>
                <a:latin typeface="Calibri"/>
              </a:rPr>
              <a:t>slide 44–48</a:t>
            </a:r>
          </a:p>
        </p:txBody>
      </p:sp>
      <p:sp>
        <p:nvSpPr>
          <p:cNvPr id="31" name="TextBox 30"/>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1 / 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0 · CÁCH DÙNG TÀI LIỆU NÀY</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Đọc tài liệu này thế nào cho đỡ tốn công</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Tài liệu này viết theo kiểu </a:t>
            </a:r>
            <a:r>
              <a:rPr sz="1450" b="1">
                <a:solidFill>
                  <a:srgbClr val="1F2A37"/>
                </a:solidFill>
                <a:latin typeface="Cambria"/>
              </a:rPr>
              <a:t>sách đọc</a:t>
            </a:r>
            <a:r>
              <a:rPr sz="1450" b="0">
                <a:solidFill>
                  <a:srgbClr val="1F2A37"/>
                </a:solidFill>
                <a:latin typeface="Cambria"/>
              </a:rPr>
              <a:t>: mỗi slide là một khái niệm giải thích trọn vẹn, thuật ngữ được </a:t>
            </a:r>
            <a:r>
              <a:rPr sz="1450" b="1">
                <a:solidFill>
                  <a:srgbClr val="1F2A37"/>
                </a:solidFill>
                <a:latin typeface="Cambria"/>
              </a:rPr>
              <a:t>định nghĩa ngay trước khi dùng</a:t>
            </a:r>
            <a:r>
              <a:rPr sz="1450" b="0">
                <a:solidFill>
                  <a:srgbClr val="1F2A37"/>
                </a:solidFill>
                <a:latin typeface="Cambria"/>
              </a:rPr>
              <a:t> — đọc lần lượt từ đầu là hiểu toàn bộ đề tài mà không phải quay lại tài liệu gốc. Bên trái mỗi slide là phần giải thích; bên phải là </a:t>
            </a:r>
            <a:r>
              <a:rPr sz="1450" b="1">
                <a:solidFill>
                  <a:srgbClr val="1F2A37"/>
                </a:solidFill>
                <a:latin typeface="Cambria"/>
              </a:rPr>
              <a:t>bảng hình</a:t>
            </a:r>
            <a:r>
              <a:rPr sz="1450" b="0">
                <a:solidFill>
                  <a:srgbClr val="1F2A37"/>
                </a:solidFill>
                <a:latin typeface="Cambria"/>
              </a:rPr>
              <a:t> tóm nội dung — dùng nó để ôn nhanh ở lượt đọc sau.</a:t>
            </a:r>
          </a:p>
          <a:p>
            <a:pPr algn="just">
              <a:lnSpc>
                <a:spcPct val="113000"/>
              </a:lnSpc>
              <a:spcAft>
                <a:spcPts val="900"/>
              </a:spcAft>
            </a:pPr>
            <a:r>
              <a:rPr sz="1450" b="0">
                <a:solidFill>
                  <a:srgbClr val="1F2A37"/>
                </a:solidFill>
                <a:latin typeface="Cambria"/>
              </a:rPr>
              <a:t>Ba quy ước: </a:t>
            </a:r>
            <a:r>
              <a:rPr sz="1450" b="1">
                <a:solidFill>
                  <a:srgbClr val="1F2A37"/>
                </a:solidFill>
                <a:latin typeface="Cambria"/>
              </a:rPr>
              <a:t>(1)</a:t>
            </a:r>
            <a:r>
              <a:rPr sz="1450" b="0">
                <a:solidFill>
                  <a:srgbClr val="1F2A37"/>
                </a:solidFill>
                <a:latin typeface="Cambria"/>
              </a:rPr>
              <a:t> </a:t>
            </a:r>
            <a:r>
              <a:rPr sz="1450" b="1">
                <a:solidFill>
                  <a:srgbClr val="EA580C"/>
                </a:solidFill>
                <a:latin typeface="Cambria"/>
              </a:rPr>
              <a:t>số in đậm màu cam là số phải thuộc</a:t>
            </a:r>
            <a:r>
              <a:rPr sz="1450" b="0">
                <a:solidFill>
                  <a:srgbClr val="1F2A37"/>
                </a:solidFill>
                <a:latin typeface="Cambria"/>
              </a:rPr>
              <a:t>; </a:t>
            </a:r>
            <a:r>
              <a:rPr sz="1450" b="1">
                <a:solidFill>
                  <a:srgbClr val="1F2A37"/>
                </a:solidFill>
                <a:latin typeface="Cambria"/>
              </a:rPr>
              <a:t>(2)</a:t>
            </a:r>
            <a:r>
              <a:rPr sz="1450" b="0">
                <a:solidFill>
                  <a:srgbClr val="1F2A37"/>
                </a:solidFill>
                <a:latin typeface="Cambria"/>
              </a:rPr>
              <a:t> cuối mỗi slide có dải xanh </a:t>
            </a:r>
            <a:r>
              <a:rPr sz="1450" b="1">
                <a:solidFill>
                  <a:srgbClr val="1F2A37"/>
                </a:solidFill>
                <a:latin typeface="Cambria"/>
              </a:rPr>
              <a:t>GHI NHỚ</a:t>
            </a:r>
            <a:r>
              <a:rPr sz="1450" b="0">
                <a:solidFill>
                  <a:srgbClr val="1F2A37"/>
                </a:solidFill>
                <a:latin typeface="Cambria"/>
              </a:rPr>
              <a:t> đúng một câu; </a:t>
            </a:r>
            <a:r>
              <a:rPr sz="1450" b="1">
                <a:solidFill>
                  <a:srgbClr val="1F2A37"/>
                </a:solidFill>
                <a:latin typeface="Cambria"/>
              </a:rPr>
              <a:t>(3)</a:t>
            </a:r>
            <a:r>
              <a:rPr sz="1450" b="0">
                <a:solidFill>
                  <a:srgbClr val="1F2A37"/>
                </a:solidFill>
                <a:latin typeface="Cambria"/>
              </a:rPr>
              <a:t> các đoạn hay bị hỏi trong bảo vệ (vì sao 115, vì sao không nội suy, SCD là gì…) được giải thích ngay trong văn.</a:t>
            </a:r>
          </a:p>
          <a:p>
            <a:pPr algn="just">
              <a:lnSpc>
                <a:spcPct val="113000"/>
              </a:lnSpc>
              <a:spcAft>
                <a:spcPts val="900"/>
              </a:spcAft>
            </a:pPr>
            <a:r>
              <a:rPr sz="1450" b="0">
                <a:solidFill>
                  <a:srgbClr val="1F2A37"/>
                </a:solidFill>
                <a:latin typeface="Cambria"/>
              </a:rPr>
              <a:t>Sau khi đọc xong, chuyển sang luyện đáp với </a:t>
            </a:r>
            <a:r>
              <a:rPr sz="1450" b="1">
                <a:solidFill>
                  <a:srgbClr val="EA580C"/>
                </a:solidFill>
                <a:latin typeface="Cambria"/>
              </a:rPr>
              <a:t>ON_TAP_BAO_VE_HOI_DAP.md</a:t>
            </a:r>
            <a:r>
              <a:rPr sz="1450" b="0">
                <a:solidFill>
                  <a:srgbClr val="1F2A37"/>
                </a:solidFill>
                <a:latin typeface="Cambria"/>
              </a:rPr>
              <a:t> (tự trả lời không nhìn), cuối cùng tập nói theo </a:t>
            </a:r>
            <a:r>
              <a:rPr sz="1450" b="1">
                <a:solidFill>
                  <a:srgbClr val="EA580C"/>
                </a:solidFill>
                <a:latin typeface="Cambria"/>
              </a:rPr>
              <a:t>KE_HOACH_NOI_DUNG_THUYET_TRINH.md</a:t>
            </a:r>
            <a:r>
              <a:rPr sz="1450" b="0">
                <a:solidFill>
                  <a:srgbClr val="1F2A37"/>
                </a:solidFill>
                <a:latin typeface="Cambria"/>
              </a:rPr>
              <a:t> kèm bộ chiếu v3.</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BA CẤP TỐC ĐỘ ÔN</a:t>
            </a:r>
          </a:p>
        </p:txBody>
      </p:sp>
      <p:sp>
        <p:nvSpPr>
          <p:cNvPr id="7" name="TextBox 6"/>
          <p:cNvSpPr txBox="1"/>
          <p:nvPr/>
        </p:nvSpPr>
        <p:spPr>
          <a:xfrm>
            <a:off x="7543800" y="1883664"/>
            <a:ext cx="3867912" cy="512064"/>
          </a:xfrm>
          <a:prstGeom prst="rect">
            <a:avLst/>
          </a:prstGeom>
          <a:noFill/>
        </p:spPr>
        <p:txBody>
          <a:bodyPr wrap="square" anchor="t" lIns="27432" rIns="27432" tIns="0" bIns="0">
            <a:spAutoFit/>
          </a:bodyPr>
          <a:lstStyle/>
          <a:p>
            <a:pPr algn="l"/>
            <a:r>
              <a:rPr sz="2400" b="1" i="0">
                <a:solidFill>
                  <a:srgbClr val="EA580C"/>
                </a:solidFill>
                <a:latin typeface="Cambria"/>
              </a:rPr>
              <a:t>45 phút</a:t>
            </a:r>
          </a:p>
        </p:txBody>
      </p:sp>
      <p:sp>
        <p:nvSpPr>
          <p:cNvPr id="8" name="TextBox 7"/>
          <p:cNvSpPr txBox="1"/>
          <p:nvPr/>
        </p:nvSpPr>
        <p:spPr>
          <a:xfrm>
            <a:off x="7543800" y="24140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đọc hết một lượt từ đầu đến cuối — vừa làm ở lần đầu</a:t>
            </a:r>
          </a:p>
        </p:txBody>
      </p:sp>
      <p:sp>
        <p:nvSpPr>
          <p:cNvPr id="9" name="Rectangle 8"/>
          <p:cNvSpPr/>
          <p:nvPr/>
        </p:nvSpPr>
        <p:spPr>
          <a:xfrm>
            <a:off x="7543800" y="2670048"/>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779776"/>
            <a:ext cx="3867912" cy="512064"/>
          </a:xfrm>
          <a:prstGeom prst="rect">
            <a:avLst/>
          </a:prstGeom>
          <a:noFill/>
        </p:spPr>
        <p:txBody>
          <a:bodyPr wrap="square" anchor="t" lIns="27432" rIns="27432" tIns="0" bIns="0">
            <a:spAutoFit/>
          </a:bodyPr>
          <a:lstStyle/>
          <a:p>
            <a:pPr algn="l"/>
            <a:r>
              <a:rPr sz="2400" b="1" i="0">
                <a:solidFill>
                  <a:srgbClr val="EA580C"/>
                </a:solidFill>
                <a:latin typeface="Cambria"/>
              </a:rPr>
              <a:t>15 phút</a:t>
            </a:r>
          </a:p>
        </p:txBody>
      </p:sp>
      <p:sp>
        <p:nvSpPr>
          <p:cNvPr id="11" name="TextBox 10"/>
          <p:cNvSpPr txBox="1"/>
          <p:nvPr/>
        </p:nvSpPr>
        <p:spPr>
          <a:xfrm>
            <a:off x="7543800" y="3310128"/>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đọc lại các dải GHI NHỚ + 4 slide CHỐT cuối mỗi phần</a:t>
            </a:r>
          </a:p>
        </p:txBody>
      </p:sp>
      <p:sp>
        <p:nvSpPr>
          <p:cNvPr id="12" name="Rectangle 11"/>
          <p:cNvSpPr/>
          <p:nvPr/>
        </p:nvSpPr>
        <p:spPr>
          <a:xfrm>
            <a:off x="7543800" y="3566160"/>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3675888"/>
            <a:ext cx="3867912" cy="512064"/>
          </a:xfrm>
          <a:prstGeom prst="rect">
            <a:avLst/>
          </a:prstGeom>
          <a:noFill/>
        </p:spPr>
        <p:txBody>
          <a:bodyPr wrap="square" anchor="t" lIns="27432" rIns="27432" tIns="0" bIns="0">
            <a:spAutoFit/>
          </a:bodyPr>
          <a:lstStyle/>
          <a:p>
            <a:pPr algn="l"/>
            <a:r>
              <a:rPr sz="2400" b="1" i="0">
                <a:solidFill>
                  <a:srgbClr val="EA580C"/>
                </a:solidFill>
                <a:latin typeface="Cambria"/>
              </a:rPr>
              <a:t>+30 phút</a:t>
            </a:r>
          </a:p>
        </p:txBody>
      </p:sp>
      <p:sp>
        <p:nvSpPr>
          <p:cNvPr id="14" name="TextBox 13"/>
          <p:cNvSpPr txBox="1"/>
          <p:nvPr/>
        </p:nvSpPr>
        <p:spPr>
          <a:xfrm>
            <a:off x="7543800" y="4206240"/>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ON_TAP_BAO_VE_HOI_DAP.md — tự trả lời, yếu chỗ nào quay lại đúng slide đó</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Đọc 1 lượt hiểu mạch → luyện Q&amp;A → tập nói theo kịch bản — ba bước, mỗi bước một tài liệu riêng.</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 / 49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8503920" y="1097280"/>
            <a:ext cx="3291840" cy="3840480"/>
          </a:xfrm>
          <a:prstGeom prst="rect">
            <a:avLst/>
          </a:prstGeom>
          <a:noFill/>
        </p:spPr>
        <p:txBody>
          <a:bodyPr wrap="square" anchor="t" lIns="27432" rIns="27432" tIns="0" bIns="0">
            <a:spAutoFit/>
          </a:bodyPr>
          <a:lstStyle/>
          <a:p>
            <a:pPr algn="r"/>
            <a:r>
              <a:rPr sz="22000" b="1" i="0">
                <a:solidFill>
                  <a:srgbClr val="334155"/>
                </a:solidFill>
                <a:latin typeface="Cambria"/>
              </a:rPr>
              <a:t>A</a:t>
            </a:r>
          </a:p>
        </p:txBody>
      </p:sp>
      <p:sp>
        <p:nvSpPr>
          <p:cNvPr id="3" name="TextBox 2"/>
          <p:cNvSpPr txBox="1"/>
          <p:nvPr/>
        </p:nvSpPr>
        <p:spPr>
          <a:xfrm>
            <a:off x="548640" y="777240"/>
            <a:ext cx="9144000" cy="320040"/>
          </a:xfrm>
          <a:prstGeom prst="rect">
            <a:avLst/>
          </a:prstGeom>
          <a:noFill/>
        </p:spPr>
        <p:txBody>
          <a:bodyPr wrap="square" anchor="t" lIns="27432" rIns="27432" tIns="0" bIns="0">
            <a:spAutoFit/>
          </a:bodyPr>
          <a:lstStyle/>
          <a:p>
            <a:pPr algn="l"/>
            <a:r>
              <a:rPr sz="1400" b="1" i="0">
                <a:solidFill>
                  <a:srgbClr val="FDBA74"/>
                </a:solidFill>
                <a:latin typeface="Calibri"/>
              </a:rPr>
              <a:t>PHẦN A · SLIDE 4–14</a:t>
            </a:r>
          </a:p>
        </p:txBody>
      </p:sp>
      <p:sp>
        <p:nvSpPr>
          <p:cNvPr id="4" name="TextBox 3"/>
          <p:cNvSpPr txBox="1"/>
          <p:nvPr/>
        </p:nvSpPr>
        <p:spPr>
          <a:xfrm>
            <a:off x="548640" y="1783080"/>
            <a:ext cx="7863840" cy="777240"/>
          </a:xfrm>
          <a:prstGeom prst="rect">
            <a:avLst/>
          </a:prstGeom>
          <a:noFill/>
        </p:spPr>
        <p:txBody>
          <a:bodyPr wrap="square" anchor="t" lIns="27432" rIns="27432" tIns="0" bIns="0">
            <a:spAutoFit/>
          </a:bodyPr>
          <a:lstStyle/>
          <a:p>
            <a:pPr algn="l"/>
            <a:r>
              <a:rPr sz="3600" b="1" i="0">
                <a:solidFill>
                  <a:srgbClr val="FFFFFF"/>
                </a:solidFill>
                <a:latin typeface="Cambria"/>
              </a:rPr>
              <a:t>Bài toán &amp; dữ liệu</a:t>
            </a:r>
          </a:p>
        </p:txBody>
      </p:sp>
      <p:sp>
        <p:nvSpPr>
          <p:cNvPr id="5" name="TextBox 4"/>
          <p:cNvSpPr txBox="1"/>
          <p:nvPr/>
        </p:nvSpPr>
        <p:spPr>
          <a:xfrm>
            <a:off x="548640" y="2926080"/>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Câu hỏi nghiệp vụ: vì sao cần cảnh báo sớm</a:t>
            </a:r>
          </a:p>
        </p:txBody>
      </p:sp>
      <p:sp>
        <p:nvSpPr>
          <p:cNvPr id="6" name="TextBox 5"/>
          <p:cNvSpPr txBox="1"/>
          <p:nvPr/>
        </p:nvSpPr>
        <p:spPr>
          <a:xfrm>
            <a:off x="548640" y="3401568"/>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Hai nguồn dữ liệu mở và quy tắc ghép chúng</a:t>
            </a:r>
          </a:p>
        </p:txBody>
      </p:sp>
      <p:sp>
        <p:nvSpPr>
          <p:cNvPr id="7" name="TextBox 6"/>
          <p:cNvSpPr txBox="1"/>
          <p:nvPr/>
        </p:nvSpPr>
        <p:spPr>
          <a:xfrm>
            <a:off x="548640" y="3877056"/>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Chỗ thiếu: vì sao KHÔNG điền hết cho đẹp</a:t>
            </a:r>
          </a:p>
        </p:txBody>
      </p:sp>
      <p:sp>
        <p:nvSpPr>
          <p:cNvPr id="8" name="TextBox 7"/>
          <p:cNvSpPr txBox="1"/>
          <p:nvPr/>
        </p:nvSpPr>
        <p:spPr>
          <a:xfrm>
            <a:off x="548640" y="4352544"/>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Kiến trúc tổng: hai luồng vào, mỗi lớp một việc</a:t>
            </a:r>
          </a:p>
        </p:txBody>
      </p:sp>
      <p:sp>
        <p:nvSpPr>
          <p:cNvPr id="9" name="TextBox 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3 /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BÀI TOÁN</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Đề tài bắt đầu từ một câu hỏi của người vận hành</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Hãy tưởng tượng mình là cán bộ trung tâm quan trắc: </a:t>
            </a:r>
            <a:r>
              <a:rPr sz="1450" b="1">
                <a:solidFill>
                  <a:srgbClr val="1F2A37"/>
                </a:solidFill>
                <a:latin typeface="Cambria"/>
              </a:rPr>
              <a:t>mỗi giờ, với từng trạm</a:t>
            </a:r>
            <a:r>
              <a:rPr sz="1450" b="0">
                <a:solidFill>
                  <a:srgbClr val="1F2A37"/>
                </a:solidFill>
                <a:latin typeface="Cambria"/>
              </a:rPr>
              <a:t>, bạn phải quyết định có phát cảnh báo hạn chế hoạt động ngoài trời hay không. Cách làm hiện tại là chờ </a:t>
            </a:r>
            <a:r>
              <a:rPr sz="1450" b="1">
                <a:solidFill>
                  <a:srgbClr val="1F2A37"/>
                </a:solidFill>
                <a:latin typeface="Cambria"/>
              </a:rPr>
              <a:t>số đo vượt ngưỡng rồi mới báo</a:t>
            </a:r>
            <a:r>
              <a:rPr sz="1450" b="0">
                <a:solidFill>
                  <a:srgbClr val="1F2A37"/>
                </a:solidFill>
                <a:latin typeface="Cambria"/>
              </a:rPr>
              <a:t> — cảnh báo luôn </a:t>
            </a:r>
            <a:r>
              <a:rPr sz="1450" b="1">
                <a:solidFill>
                  <a:srgbClr val="1F2A37"/>
                </a:solidFill>
                <a:latin typeface="Cambria"/>
              </a:rPr>
              <a:t>trễ 1 giờ</a:t>
            </a:r>
            <a:r>
              <a:rPr sz="1450" b="0">
                <a:solidFill>
                  <a:srgbClr val="1F2A37"/>
                </a:solidFill>
                <a:latin typeface="Cambria"/>
              </a:rPr>
              <a:t>, phát ra sau khi người dân đã ở ngoài trời trong giờ ô nhiễm.</a:t>
            </a:r>
          </a:p>
          <a:p>
            <a:pPr algn="just">
              <a:lnSpc>
                <a:spcPct val="113000"/>
              </a:lnSpc>
              <a:spcAft>
                <a:spcPts val="900"/>
              </a:spcAft>
            </a:pPr>
            <a:r>
              <a:rPr sz="1450" b="0">
                <a:solidFill>
                  <a:srgbClr val="1F2A37"/>
                </a:solidFill>
                <a:latin typeface="Cambria"/>
              </a:rPr>
              <a:t>Đề tài đổi câu hỏi lại: </a:t>
            </a:r>
            <a:r>
              <a:rPr sz="1450" b="1">
                <a:solidFill>
                  <a:srgbClr val="1F2A37"/>
                </a:solidFill>
                <a:latin typeface="Cambria"/>
              </a:rPr>
              <a:t>“Giờ tới, tại trạm này, PM2.5 có ≥ 115 µg/m³ không?”</a:t>
            </a:r>
            <a:r>
              <a:rPr sz="1450" b="0">
                <a:solidFill>
                  <a:srgbClr val="1F2A37"/>
                </a:solidFill>
                <a:latin typeface="Cambria"/>
              </a:rPr>
              <a:t> — trả lời TRƯỚC khi giờ đó đến. Đây là bài toán </a:t>
            </a:r>
            <a:r>
              <a:rPr sz="1450" b="1">
                <a:solidFill>
                  <a:srgbClr val="1F2A37"/>
                </a:solidFill>
                <a:latin typeface="Cambria"/>
              </a:rPr>
              <a:t>phân loại nhị phân</a:t>
            </a:r>
            <a:r>
              <a:rPr sz="1450" b="0">
                <a:solidFill>
                  <a:srgbClr val="1F2A37"/>
                </a:solidFill>
                <a:latin typeface="Cambria"/>
              </a:rPr>
              <a:t> (vượt / không vượt), không phải dự báo con số tuyệt đối. Và vấn đề không hiếm: trung bình 4 năm đã </a:t>
            </a:r>
            <a:r>
              <a:rPr sz="1450" b="1">
                <a:solidFill>
                  <a:srgbClr val="EA580C"/>
                </a:solidFill>
                <a:latin typeface="Cambria"/>
              </a:rPr>
              <a:t>79,8 µg/m³</a:t>
            </a:r>
            <a:r>
              <a:rPr sz="1450" b="0">
                <a:solidFill>
                  <a:srgbClr val="1F2A37"/>
                </a:solidFill>
                <a:latin typeface="Cambria"/>
              </a:rPr>
              <a:t>, khoảng </a:t>
            </a:r>
            <a:r>
              <a:rPr sz="1450" b="1">
                <a:solidFill>
                  <a:srgbClr val="EA580C"/>
                </a:solidFill>
                <a:latin typeface="Cambria"/>
              </a:rPr>
              <a:t>1/4 số giờ</a:t>
            </a:r>
            <a:r>
              <a:rPr sz="1450" b="0">
                <a:solidFill>
                  <a:srgbClr val="1F2A37"/>
                </a:solidFill>
                <a:latin typeface="Cambria"/>
              </a:rPr>
              <a:t> nằm trên ngưỡng 115.</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QUY MÔ VẤN ĐỀ</a:t>
            </a:r>
          </a:p>
        </p:txBody>
      </p:sp>
      <p:sp>
        <p:nvSpPr>
          <p:cNvPr id="7" name="TextBox 6"/>
          <p:cNvSpPr txBox="1"/>
          <p:nvPr/>
        </p:nvSpPr>
        <p:spPr>
          <a:xfrm>
            <a:off x="7543800" y="1883664"/>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79,8 µg/m³</a:t>
            </a:r>
          </a:p>
        </p:txBody>
      </p:sp>
      <p:sp>
        <p:nvSpPr>
          <p:cNvPr id="8" name="TextBox 7"/>
          <p:cNvSpPr txBox="1"/>
          <p:nvPr/>
        </p:nvSpPr>
        <p:spPr>
          <a:xfrm>
            <a:off x="7543800" y="2452115"/>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PM2.5 trung bình — 12 trạm, 4 năm</a:t>
            </a:r>
          </a:p>
        </p:txBody>
      </p:sp>
      <p:sp>
        <p:nvSpPr>
          <p:cNvPr id="9" name="Rectangle 8"/>
          <p:cNvSpPr/>
          <p:nvPr/>
        </p:nvSpPr>
        <p:spPr>
          <a:xfrm>
            <a:off x="7543800" y="2689859"/>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799587"/>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 1/4 số giờ</a:t>
            </a:r>
          </a:p>
        </p:txBody>
      </p:sp>
      <p:sp>
        <p:nvSpPr>
          <p:cNvPr id="11" name="TextBox 10"/>
          <p:cNvSpPr txBox="1"/>
          <p:nvPr/>
        </p:nvSpPr>
        <p:spPr>
          <a:xfrm>
            <a:off x="7543800" y="3368038"/>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có PM2.5 ≥ 115 µg/m³</a:t>
            </a:r>
          </a:p>
        </p:txBody>
      </p:sp>
      <p:sp>
        <p:nvSpPr>
          <p:cNvPr id="12" name="Rectangle 11"/>
          <p:cNvSpPr/>
          <p:nvPr/>
        </p:nvSpPr>
        <p:spPr>
          <a:xfrm>
            <a:off x="7543800" y="3605782"/>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543800" y="3733798"/>
            <a:ext cx="3867912" cy="100584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08392" y="3852670"/>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CÁCH HIỆN TẠI</a:t>
            </a:r>
          </a:p>
        </p:txBody>
      </p:sp>
      <p:sp>
        <p:nvSpPr>
          <p:cNvPr id="15" name="TextBox 14"/>
          <p:cNvSpPr txBox="1"/>
          <p:nvPr/>
        </p:nvSpPr>
        <p:spPr>
          <a:xfrm>
            <a:off x="7708392" y="4163566"/>
            <a:ext cx="3538728" cy="50292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“chờ số đo vượt rồi báo”</a:t>
            </a:r>
          </a:p>
          <a:p>
            <a:pPr>
              <a:lnSpc>
                <a:spcPct val="108000"/>
              </a:lnSpc>
              <a:spcAft>
                <a:spcPts val="300"/>
              </a:spcAft>
            </a:pPr>
            <a:r>
              <a:rPr sz="1200" b="0">
                <a:solidFill>
                  <a:srgbClr val="1F2A37"/>
                </a:solidFill>
                <a:latin typeface="Calibri"/>
              </a:rPr>
              <a:t>→ luôn trễ 1 giờ</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Đề tài = cảnh báo sớm cho GIỜ TỚI, thay cho cách “chờ số đo vượt rồi báo” luôn trễ 1 giờ.</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 /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BÀI TOÁN</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Hai nửa của môn học trong một hệ thống</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Đề tài ôm trọn hai nửa học phần. </a:t>
            </a:r>
            <a:r>
              <a:rPr sz="1450" b="1">
                <a:solidFill>
                  <a:srgbClr val="1F2A37"/>
                </a:solidFill>
                <a:latin typeface="Cambria"/>
              </a:rPr>
              <a:t>Nửa kho dữ liệu (OLAP):</a:t>
            </a:r>
            <a:r>
              <a:rPr sz="1450" b="0">
                <a:solidFill>
                  <a:srgbClr val="1F2A37"/>
                </a:solidFill>
                <a:latin typeface="Cambria"/>
              </a:rPr>
              <a:t> tổ chức 4 năm dữ liệu để trả lời “đã xảy ra gì, ở đâu, lúc nào, kèm điều kiện gì” ở mọi góc nhìn. </a:t>
            </a:r>
            <a:r>
              <a:rPr sz="1450" b="1">
                <a:solidFill>
                  <a:srgbClr val="1F2A37"/>
                </a:solidFill>
                <a:latin typeface="Cambria"/>
              </a:rPr>
              <a:t>Nửa khai phá:</a:t>
            </a:r>
            <a:r>
              <a:rPr sz="1450" b="0">
                <a:solidFill>
                  <a:srgbClr val="1F2A37"/>
                </a:solidFill>
                <a:latin typeface="Cambria"/>
              </a:rPr>
              <a:t> học từ quá khứ để dự đoán giờ tới — bài toán phân loại cảnh báo.</a:t>
            </a:r>
          </a:p>
          <a:p>
            <a:pPr algn="just">
              <a:lnSpc>
                <a:spcPct val="113000"/>
              </a:lnSpc>
              <a:spcAft>
                <a:spcPts val="900"/>
              </a:spcAft>
            </a:pPr>
            <a:r>
              <a:rPr sz="1450" b="0">
                <a:solidFill>
                  <a:srgbClr val="1F2A37"/>
                </a:solidFill>
                <a:latin typeface="Cambria"/>
              </a:rPr>
              <a:t>Quan trọng: đây là </a:t>
            </a:r>
            <a:r>
              <a:rPr sz="1450" b="1">
                <a:solidFill>
                  <a:srgbClr val="1F2A37"/>
                </a:solidFill>
                <a:latin typeface="Cambria"/>
              </a:rPr>
              <a:t>một hệ thống, không phải hai bài riêng</a:t>
            </a:r>
            <a:r>
              <a:rPr sz="1450" b="0">
                <a:solidFill>
                  <a:srgbClr val="1F2A37"/>
                </a:solidFill>
                <a:latin typeface="Cambria"/>
              </a:rPr>
              <a:t> — cùng một luồng dữ liệu đi qua </a:t>
            </a:r>
            <a:r>
              <a:rPr sz="1450" b="1">
                <a:solidFill>
                  <a:srgbClr val="EA580C"/>
                </a:solidFill>
                <a:latin typeface="Cambria"/>
              </a:rPr>
              <a:t>nguồn → lake → staging → kho → mart → đặc trưng → mô hình → dashboard</a:t>
            </a:r>
            <a:r>
              <a:rPr sz="1450" b="0">
                <a:solidFill>
                  <a:srgbClr val="1F2A37"/>
                </a:solidFill>
                <a:latin typeface="Cambria"/>
              </a:rPr>
              <a:t>. Kho dựng đúng thì đặc trưng cho mô hình mới sạch; mô hình tốt mà kho sai số liệu thì kết quả cũng sai theo.</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MỘT LUỒNG, HAI NỬA</a:t>
            </a:r>
          </a:p>
        </p:txBody>
      </p:sp>
      <p:sp>
        <p:nvSpPr>
          <p:cNvPr id="7" name="Rounded Rectangle 6"/>
          <p:cNvSpPr/>
          <p:nvPr/>
        </p:nvSpPr>
        <p:spPr>
          <a:xfrm>
            <a:off x="7543800" y="1883664"/>
            <a:ext cx="3867912" cy="1170432"/>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NỬA KHO — OLAP</a:t>
            </a:r>
          </a:p>
        </p:txBody>
      </p:sp>
      <p:sp>
        <p:nvSpPr>
          <p:cNvPr id="9" name="TextBox 8"/>
          <p:cNvSpPr txBox="1"/>
          <p:nvPr/>
        </p:nvSpPr>
        <p:spPr>
          <a:xfrm>
            <a:off x="7708392" y="2313432"/>
            <a:ext cx="3538728" cy="667512"/>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tổ chức quá khứ để phân tích</a:t>
            </a:r>
          </a:p>
          <a:p>
            <a:pPr>
              <a:lnSpc>
                <a:spcPct val="108000"/>
              </a:lnSpc>
              <a:spcAft>
                <a:spcPts val="300"/>
              </a:spcAft>
            </a:pPr>
            <a:r>
              <a:rPr sz="1200" b="0">
                <a:solidFill>
                  <a:srgbClr val="1F2A37"/>
                </a:solidFill>
                <a:latin typeface="Calibri"/>
              </a:rPr>
              <a:t>mọi góc nhìn: mùa · quận · gió</a:t>
            </a:r>
          </a:p>
        </p:txBody>
      </p:sp>
      <p:sp>
        <p:nvSpPr>
          <p:cNvPr id="10" name="Rounded Rectangle 9"/>
          <p:cNvSpPr/>
          <p:nvPr/>
        </p:nvSpPr>
        <p:spPr>
          <a:xfrm>
            <a:off x="7543800" y="3182112"/>
            <a:ext cx="3867912" cy="1170432"/>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300984"/>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NỬA KHAI PHÁ</a:t>
            </a:r>
          </a:p>
        </p:txBody>
      </p:sp>
      <p:sp>
        <p:nvSpPr>
          <p:cNvPr id="12" name="TextBox 11"/>
          <p:cNvSpPr txBox="1"/>
          <p:nvPr/>
        </p:nvSpPr>
        <p:spPr>
          <a:xfrm>
            <a:off x="7708392" y="3611880"/>
            <a:ext cx="3538728" cy="667512"/>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học từ quá khứ</a:t>
            </a:r>
          </a:p>
          <a:p>
            <a:pPr>
              <a:lnSpc>
                <a:spcPct val="108000"/>
              </a:lnSpc>
              <a:spcAft>
                <a:spcPts val="300"/>
              </a:spcAft>
            </a:pPr>
            <a:r>
              <a:rPr sz="1200" b="0">
                <a:solidFill>
                  <a:srgbClr val="1F2A37"/>
                </a:solidFill>
                <a:latin typeface="Calibri"/>
              </a:rPr>
              <a:t>→ dự đoán cảnh báo giờ tới</a:t>
            </a:r>
          </a:p>
        </p:txBody>
      </p:sp>
      <p:sp>
        <p:nvSpPr>
          <p:cNvPr id="13" name="Rounded Rectangle 12"/>
          <p:cNvSpPr/>
          <p:nvPr/>
        </p:nvSpPr>
        <p:spPr>
          <a:xfrm>
            <a:off x="7543800" y="4553712"/>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nguồn</a:t>
            </a:r>
          </a:p>
        </p:txBody>
      </p:sp>
      <p:sp>
        <p:nvSpPr>
          <p:cNvPr id="14" name="TextBox 13"/>
          <p:cNvSpPr txBox="1"/>
          <p:nvPr/>
        </p:nvSpPr>
        <p:spPr>
          <a:xfrm>
            <a:off x="8677656" y="4581144"/>
            <a:ext cx="219456" cy="365760"/>
          </a:xfrm>
          <a:prstGeom prst="rect">
            <a:avLst/>
          </a:prstGeom>
          <a:noFill/>
        </p:spPr>
        <p:txBody>
          <a:bodyPr wrap="square" anchor="t" lIns="27432" rIns="27432" tIns="0" bIns="0">
            <a:spAutoFit/>
          </a:bodyPr>
          <a:lstStyle/>
          <a:p>
            <a:pPr algn="ctr"/>
            <a:r>
              <a:rPr sz="1250" b="1" i="0">
                <a:solidFill>
                  <a:srgbClr val="EA580C"/>
                </a:solidFill>
                <a:latin typeface="Calibri"/>
              </a:rPr>
              <a:t>→</a:t>
            </a:r>
          </a:p>
        </p:txBody>
      </p:sp>
      <p:sp>
        <p:nvSpPr>
          <p:cNvPr id="15" name="Rounded Rectangle 14"/>
          <p:cNvSpPr/>
          <p:nvPr/>
        </p:nvSpPr>
        <p:spPr>
          <a:xfrm>
            <a:off x="8906256" y="4553712"/>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lake</a:t>
            </a:r>
          </a:p>
        </p:txBody>
      </p:sp>
      <p:sp>
        <p:nvSpPr>
          <p:cNvPr id="16" name="TextBox 15"/>
          <p:cNvSpPr txBox="1"/>
          <p:nvPr/>
        </p:nvSpPr>
        <p:spPr>
          <a:xfrm>
            <a:off x="10040112" y="4581144"/>
            <a:ext cx="219456" cy="365760"/>
          </a:xfrm>
          <a:prstGeom prst="rect">
            <a:avLst/>
          </a:prstGeom>
          <a:noFill/>
        </p:spPr>
        <p:txBody>
          <a:bodyPr wrap="square" anchor="t" lIns="27432" rIns="27432" tIns="0" bIns="0">
            <a:spAutoFit/>
          </a:bodyPr>
          <a:lstStyle/>
          <a:p>
            <a:pPr algn="ctr"/>
            <a:r>
              <a:rPr sz="1250" b="1" i="0">
                <a:solidFill>
                  <a:srgbClr val="EA580C"/>
                </a:solidFill>
                <a:latin typeface="Calibri"/>
              </a:rPr>
              <a:t>→</a:t>
            </a:r>
          </a:p>
        </p:txBody>
      </p:sp>
      <p:sp>
        <p:nvSpPr>
          <p:cNvPr id="17" name="Rounded Rectangle 16"/>
          <p:cNvSpPr/>
          <p:nvPr/>
        </p:nvSpPr>
        <p:spPr>
          <a:xfrm>
            <a:off x="10268712" y="4553712"/>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staging</a:t>
            </a:r>
          </a:p>
        </p:txBody>
      </p:sp>
      <p:sp>
        <p:nvSpPr>
          <p:cNvPr id="18" name="Rounded Rectangle 17"/>
          <p:cNvSpPr/>
          <p:nvPr/>
        </p:nvSpPr>
        <p:spPr>
          <a:xfrm>
            <a:off x="7543800" y="5029200"/>
            <a:ext cx="802386"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kho</a:t>
            </a:r>
          </a:p>
        </p:txBody>
      </p:sp>
      <p:sp>
        <p:nvSpPr>
          <p:cNvPr id="19" name="TextBox 18"/>
          <p:cNvSpPr txBox="1"/>
          <p:nvPr/>
        </p:nvSpPr>
        <p:spPr>
          <a:xfrm>
            <a:off x="8337042" y="5056632"/>
            <a:ext cx="219456" cy="365760"/>
          </a:xfrm>
          <a:prstGeom prst="rect">
            <a:avLst/>
          </a:prstGeom>
          <a:noFill/>
        </p:spPr>
        <p:txBody>
          <a:bodyPr wrap="square" anchor="t" lIns="27432" rIns="27432" tIns="0" bIns="0">
            <a:spAutoFit/>
          </a:bodyPr>
          <a:lstStyle/>
          <a:p>
            <a:pPr algn="ctr"/>
            <a:r>
              <a:rPr sz="1250" b="1" i="0">
                <a:solidFill>
                  <a:srgbClr val="EA580C"/>
                </a:solidFill>
                <a:latin typeface="Calibri"/>
              </a:rPr>
              <a:t>→</a:t>
            </a:r>
          </a:p>
        </p:txBody>
      </p:sp>
      <p:sp>
        <p:nvSpPr>
          <p:cNvPr id="20" name="Rounded Rectangle 19"/>
          <p:cNvSpPr/>
          <p:nvPr/>
        </p:nvSpPr>
        <p:spPr>
          <a:xfrm>
            <a:off x="8565642" y="5029200"/>
            <a:ext cx="802386"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mart</a:t>
            </a:r>
          </a:p>
        </p:txBody>
      </p:sp>
      <p:sp>
        <p:nvSpPr>
          <p:cNvPr id="21" name="TextBox 20"/>
          <p:cNvSpPr txBox="1"/>
          <p:nvPr/>
        </p:nvSpPr>
        <p:spPr>
          <a:xfrm>
            <a:off x="9358884" y="5056632"/>
            <a:ext cx="219456" cy="365760"/>
          </a:xfrm>
          <a:prstGeom prst="rect">
            <a:avLst/>
          </a:prstGeom>
          <a:noFill/>
        </p:spPr>
        <p:txBody>
          <a:bodyPr wrap="square" anchor="t" lIns="27432" rIns="27432" tIns="0" bIns="0">
            <a:spAutoFit/>
          </a:bodyPr>
          <a:lstStyle/>
          <a:p>
            <a:pPr algn="ctr"/>
            <a:r>
              <a:rPr sz="1250" b="1" i="0">
                <a:solidFill>
                  <a:srgbClr val="EA580C"/>
                </a:solidFill>
                <a:latin typeface="Calibri"/>
              </a:rPr>
              <a:t>→</a:t>
            </a:r>
          </a:p>
        </p:txBody>
      </p:sp>
      <p:sp>
        <p:nvSpPr>
          <p:cNvPr id="22" name="Rounded Rectangle 21"/>
          <p:cNvSpPr/>
          <p:nvPr/>
        </p:nvSpPr>
        <p:spPr>
          <a:xfrm>
            <a:off x="9587484" y="5029200"/>
            <a:ext cx="802386"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ML</a:t>
            </a:r>
          </a:p>
        </p:txBody>
      </p:sp>
      <p:sp>
        <p:nvSpPr>
          <p:cNvPr id="23" name="TextBox 22"/>
          <p:cNvSpPr txBox="1"/>
          <p:nvPr/>
        </p:nvSpPr>
        <p:spPr>
          <a:xfrm>
            <a:off x="10380726" y="5056632"/>
            <a:ext cx="219456" cy="365760"/>
          </a:xfrm>
          <a:prstGeom prst="rect">
            <a:avLst/>
          </a:prstGeom>
          <a:noFill/>
        </p:spPr>
        <p:txBody>
          <a:bodyPr wrap="square" anchor="t" lIns="27432" rIns="27432" tIns="0" bIns="0">
            <a:spAutoFit/>
          </a:bodyPr>
          <a:lstStyle/>
          <a:p>
            <a:pPr algn="ctr"/>
            <a:r>
              <a:rPr sz="1250" b="1" i="0">
                <a:solidFill>
                  <a:srgbClr val="EA580C"/>
                </a:solidFill>
                <a:latin typeface="Calibri"/>
              </a:rPr>
              <a:t>→</a:t>
            </a:r>
          </a:p>
        </p:txBody>
      </p:sp>
      <p:sp>
        <p:nvSpPr>
          <p:cNvPr id="24" name="Rounded Rectangle 23"/>
          <p:cNvSpPr/>
          <p:nvPr/>
        </p:nvSpPr>
        <p:spPr>
          <a:xfrm>
            <a:off x="10609326" y="5029200"/>
            <a:ext cx="802386"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50" b="1">
                <a:solidFill>
                  <a:srgbClr val="FFFFFF"/>
                </a:solidFill>
                <a:latin typeface="Calibri"/>
              </a:rPr>
              <a:t>dashboard</a:t>
            </a:r>
          </a:p>
        </p:txBody>
      </p:sp>
      <p:sp>
        <p:nvSpPr>
          <p:cNvPr id="25" name="Rectangle 2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7" name="TextBox 2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Kho trả lời QUÁ KHỨ (OLAP), mô hình trả lời TƯƠNG LAI (phân loại) — cùng một luồng dữ liệu.</a:t>
            </a:r>
          </a:p>
        </p:txBody>
      </p:sp>
      <p:sp>
        <p:nvSpPr>
          <p:cNvPr id="28" name="TextBox 2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5 / 49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DỮ LIỆU</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Dữ liệu chính: UCI #501 — 420.768 giờ đo, 12 trạm, 4 năm</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Nguồn chính là bộ dữ liệu mở </a:t>
            </a:r>
            <a:r>
              <a:rPr sz="1450" b="1">
                <a:solidFill>
                  <a:srgbClr val="EA580C"/>
                </a:solidFill>
                <a:latin typeface="Cambria"/>
              </a:rPr>
              <a:t>UCI #501 — Beijing Multi-Site Air Quality</a:t>
            </a:r>
            <a:r>
              <a:rPr sz="1450" b="0">
                <a:solidFill>
                  <a:srgbClr val="1F2A37"/>
                </a:solidFill>
                <a:latin typeface="Cambria"/>
              </a:rPr>
              <a:t>: mỗi bản ghi là một lần đo </a:t>
            </a:r>
            <a:r>
              <a:rPr sz="1450" b="1">
                <a:solidFill>
                  <a:srgbClr val="1F2A37"/>
                </a:solidFill>
                <a:latin typeface="Cambria"/>
              </a:rPr>
              <a:t>trạm × giờ</a:t>
            </a:r>
            <a:r>
              <a:rPr sz="1450" b="0">
                <a:solidFill>
                  <a:srgbClr val="1F2A37"/>
                </a:solidFill>
                <a:latin typeface="Cambria"/>
              </a:rPr>
              <a:t>, gom lại thành </a:t>
            </a:r>
            <a:r>
              <a:rPr sz="1450" b="1">
                <a:solidFill>
                  <a:srgbClr val="EA580C"/>
                </a:solidFill>
                <a:latin typeface="Cambria"/>
              </a:rPr>
              <a:t>420.768 dòng</a:t>
            </a:r>
            <a:r>
              <a:rPr sz="1450" b="0">
                <a:solidFill>
                  <a:srgbClr val="1F2A37"/>
                </a:solidFill>
                <a:latin typeface="Cambria"/>
              </a:rPr>
              <a:t> từ </a:t>
            </a:r>
            <a:r>
              <a:rPr sz="1450" b="1">
                <a:solidFill>
                  <a:srgbClr val="EA580C"/>
                </a:solidFill>
                <a:latin typeface="Cambria"/>
              </a:rPr>
              <a:t>12 trạm</a:t>
            </a:r>
            <a:r>
              <a:rPr sz="1450" b="0">
                <a:solidFill>
                  <a:srgbClr val="1F2A37"/>
                </a:solidFill>
                <a:latin typeface="Cambria"/>
              </a:rPr>
              <a:t> trong </a:t>
            </a:r>
            <a:r>
              <a:rPr sz="1450" b="1">
                <a:solidFill>
                  <a:srgbClr val="EA580C"/>
                </a:solidFill>
                <a:latin typeface="Cambria"/>
              </a:rPr>
              <a:t>4 năm</a:t>
            </a:r>
            <a:r>
              <a:rPr sz="1450" b="0">
                <a:solidFill>
                  <a:srgbClr val="1F2A37"/>
                </a:solidFill>
                <a:latin typeface="Cambria"/>
              </a:rPr>
              <a:t> (03/2013 – 02/2017). Đọc số cho đúng: 420.768 là </a:t>
            </a:r>
            <a:r>
              <a:rPr sz="1450" b="1">
                <a:solidFill>
                  <a:srgbClr val="1F2A37"/>
                </a:solidFill>
                <a:latin typeface="Cambria"/>
              </a:rPr>
              <a:t>số dòng trạm×giờ</a:t>
            </a:r>
            <a:r>
              <a:rPr sz="1450" b="0">
                <a:solidFill>
                  <a:srgbClr val="1F2A37"/>
                </a:solidFill>
                <a:latin typeface="Cambria"/>
              </a:rPr>
              <a:t> (12 × 35.064), không phải 420.768 mốc thời gian, và cũng không có nghĩa mọi ô đều có số đo.</a:t>
            </a:r>
          </a:p>
          <a:p>
            <a:pPr algn="just">
              <a:lnSpc>
                <a:spcPct val="113000"/>
              </a:lnSpc>
              <a:spcAft>
                <a:spcPts val="900"/>
              </a:spcAft>
            </a:pPr>
            <a:r>
              <a:rPr sz="1450" b="0">
                <a:solidFill>
                  <a:srgbClr val="1F2A37"/>
                </a:solidFill>
                <a:latin typeface="Cambria"/>
              </a:rPr>
              <a:t>Mỗi bản ghi </a:t>
            </a:r>
            <a:r>
              <a:rPr sz="1450" b="1">
                <a:solidFill>
                  <a:srgbClr val="EA580C"/>
                </a:solidFill>
                <a:latin typeface="Cambria"/>
              </a:rPr>
              <a:t>12 thuộc tính</a:t>
            </a:r>
            <a:r>
              <a:rPr sz="1450" b="0">
                <a:solidFill>
                  <a:srgbClr val="1F2A37"/>
                </a:solidFill>
                <a:latin typeface="Cambria"/>
              </a:rPr>
              <a:t>: </a:t>
            </a:r>
            <a:r>
              <a:rPr sz="1450" b="1">
                <a:solidFill>
                  <a:srgbClr val="1F2A37"/>
                </a:solidFill>
                <a:latin typeface="Cambria"/>
              </a:rPr>
              <a:t>6 chất ô nhiễm</a:t>
            </a:r>
            <a:r>
              <a:rPr sz="1450" b="0">
                <a:solidFill>
                  <a:srgbClr val="1F2A37"/>
                </a:solidFill>
                <a:latin typeface="Cambria"/>
              </a:rPr>
              <a:t> (PM2.5, PM10, SO2, NO2, CO, O3), </a:t>
            </a:r>
            <a:r>
              <a:rPr sz="1450" b="1">
                <a:solidFill>
                  <a:srgbClr val="1F2A37"/>
                </a:solidFill>
                <a:latin typeface="Cambria"/>
              </a:rPr>
              <a:t>5 biến khí tượng</a:t>
            </a:r>
            <a:r>
              <a:rPr sz="1450" b="0">
                <a:solidFill>
                  <a:srgbClr val="1F2A37"/>
                </a:solidFill>
                <a:latin typeface="Cambria"/>
              </a:rPr>
              <a:t> (nhiệt độ, áp suất, điểm sương, mưa, tốc độ gió) và </a:t>
            </a:r>
            <a:r>
              <a:rPr sz="1450" b="1">
                <a:solidFill>
                  <a:srgbClr val="1F2A37"/>
                </a:solidFill>
                <a:latin typeface="Cambria"/>
              </a:rPr>
              <a:t>hướng gió</a:t>
            </a:r>
            <a:r>
              <a:rPr sz="1450" b="0">
                <a:solidFill>
                  <a:srgbClr val="1F2A37"/>
                </a:solidFill>
                <a:latin typeface="Cambria"/>
              </a:rPr>
              <a:t> 16 hướng. Bộ dữ liệu mở </a:t>
            </a:r>
            <a:r>
              <a:rPr sz="1450" b="1">
                <a:solidFill>
                  <a:srgbClr val="EA580C"/>
                </a:solidFill>
                <a:latin typeface="Cambria"/>
              </a:rPr>
              <a:t>CC BY 4.0</a:t>
            </a:r>
            <a:r>
              <a:rPr sz="1450" b="0">
                <a:solidFill>
                  <a:srgbClr val="1F2A37"/>
                </a:solidFill>
                <a:latin typeface="Cambria"/>
              </a:rPr>
              <a:t> kèm DOI — trích dẫn được, và </a:t>
            </a:r>
            <a:r>
              <a:rPr sz="1450" b="1">
                <a:solidFill>
                  <a:srgbClr val="1F2A37"/>
                </a:solidFill>
                <a:latin typeface="Cambria"/>
              </a:rPr>
              <a:t>không chứa dữ liệu cá nhân</a:t>
            </a:r>
            <a:r>
              <a:rPr sz="1450" b="0">
                <a:solidFill>
                  <a:srgbClr val="1F2A37"/>
                </a:solidFill>
                <a:latin typeface="Cambria"/>
              </a:rPr>
              <a: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BỘ SỐ DỮ LIỆU</a:t>
            </a:r>
          </a:p>
        </p:txBody>
      </p:sp>
      <p:sp>
        <p:nvSpPr>
          <p:cNvPr id="7" name="TextBox 6"/>
          <p:cNvSpPr txBox="1"/>
          <p:nvPr/>
        </p:nvSpPr>
        <p:spPr>
          <a:xfrm>
            <a:off x="7543800" y="1883664"/>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420.768</a:t>
            </a:r>
          </a:p>
        </p:txBody>
      </p:sp>
      <p:sp>
        <p:nvSpPr>
          <p:cNvPr id="8" name="TextBox 7"/>
          <p:cNvSpPr txBox="1"/>
          <p:nvPr/>
        </p:nvSpPr>
        <p:spPr>
          <a:xfrm>
            <a:off x="7543800" y="2452115"/>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dòng giờ-trạm = 12 trạm × 35.064 giờ</a:t>
            </a:r>
          </a:p>
        </p:txBody>
      </p:sp>
      <p:sp>
        <p:nvSpPr>
          <p:cNvPr id="9" name="Rectangle 8"/>
          <p:cNvSpPr/>
          <p:nvPr/>
        </p:nvSpPr>
        <p:spPr>
          <a:xfrm>
            <a:off x="7543800" y="2689859"/>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799587"/>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12 + 12</a:t>
            </a:r>
          </a:p>
        </p:txBody>
      </p:sp>
      <p:sp>
        <p:nvSpPr>
          <p:cNvPr id="11" name="TextBox 10"/>
          <p:cNvSpPr txBox="1"/>
          <p:nvPr/>
        </p:nvSpPr>
        <p:spPr>
          <a:xfrm>
            <a:off x="7543800" y="3368038"/>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trạm quan trắc · thuộc tính mỗi bản ghi</a:t>
            </a:r>
          </a:p>
        </p:txBody>
      </p:sp>
      <p:sp>
        <p:nvSpPr>
          <p:cNvPr id="12" name="Rectangle 11"/>
          <p:cNvSpPr/>
          <p:nvPr/>
        </p:nvSpPr>
        <p:spPr>
          <a:xfrm>
            <a:off x="7543800" y="3605782"/>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375208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6 chất ô nhiễm  </a:t>
            </a:r>
            <a:r>
              <a:rPr sz="1250" b="0">
                <a:solidFill>
                  <a:srgbClr val="1F2A37"/>
                </a:solidFill>
                <a:latin typeface="Calibri"/>
              </a:rPr>
              <a:t>PM2.5 · PM10 · SO2 · NO2 · CO · O3</a:t>
            </a:r>
          </a:p>
        </p:txBody>
      </p:sp>
      <p:sp>
        <p:nvSpPr>
          <p:cNvPr id="14" name="TextBox 13"/>
          <p:cNvSpPr txBox="1"/>
          <p:nvPr/>
        </p:nvSpPr>
        <p:spPr>
          <a:xfrm>
            <a:off x="7543800" y="4355590"/>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5 khí tượng + gió  </a:t>
            </a:r>
            <a:r>
              <a:rPr sz="1250" b="0">
                <a:solidFill>
                  <a:srgbClr val="1F2A37"/>
                </a:solidFill>
                <a:latin typeface="Calibri"/>
              </a:rPr>
              <a:t>nhiệt độ · áp suất · điểm sương · mưa · tốc độ + 16 hướng gió</a:t>
            </a:r>
          </a:p>
        </p:txBody>
      </p:sp>
      <p:sp>
        <p:nvSpPr>
          <p:cNvPr id="15" name="Rounded Rectangle 14"/>
          <p:cNvSpPr/>
          <p:nvPr/>
        </p:nvSpPr>
        <p:spPr>
          <a:xfrm>
            <a:off x="7543800" y="5013958"/>
            <a:ext cx="3867912"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CC BY 4.0 · DOI 10.24432/C5RK5G</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420.768 = dòng trạm×giờ (12 trạm × 4 năm) · 12 thuộc tính = 6 ô nhiễm + 5 khí tượng + hướng gió.</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6 / 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DỮ LIỆU</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Nguồn bổ trợ Open-Meteo và quy tắc ghép hai nguồn</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Nguồn phụ là </a:t>
            </a:r>
            <a:r>
              <a:rPr sz="1450" b="1">
                <a:solidFill>
                  <a:srgbClr val="EA580C"/>
                </a:solidFill>
                <a:latin typeface="Cambria"/>
              </a:rPr>
              <a:t>Open-Meteo Historical Weather</a:t>
            </a:r>
            <a:r>
              <a:rPr sz="1450" b="0">
                <a:solidFill>
                  <a:srgbClr val="1F2A37"/>
                </a:solidFill>
                <a:latin typeface="Cambria"/>
              </a:rPr>
              <a:t>: dữ liệu thời tiết </a:t>
            </a:r>
            <a:r>
              <a:rPr sz="1450" b="1">
                <a:solidFill>
                  <a:srgbClr val="1F2A37"/>
                </a:solidFill>
                <a:latin typeface="Cambria"/>
              </a:rPr>
              <a:t>tái phân tích ERA5</a:t>
            </a:r>
            <a:r>
              <a:rPr sz="1450" b="0">
                <a:solidFill>
                  <a:srgbClr val="1F2A37"/>
                </a:solidFill>
                <a:latin typeface="Cambria"/>
              </a:rPr>
              <a:t> (chạy lại mô hình khí tượng trên dữ liệu quá khứ), theo giờ, lấy đúng </a:t>
            </a:r>
            <a:r>
              <a:rPr sz="1450" b="1">
                <a:solidFill>
                  <a:srgbClr val="1F2A37"/>
                </a:solidFill>
                <a:latin typeface="Cambria"/>
              </a:rPr>
              <a:t>12 toạ độ trạm</a:t>
            </a:r>
            <a:r>
              <a:rPr sz="1450" b="0">
                <a:solidFill>
                  <a:srgbClr val="1F2A37"/>
                </a:solidFill>
                <a:latin typeface="Cambria"/>
              </a:rPr>
              <a:t> của UCI. Nó làm hai việc: </a:t>
            </a:r>
            <a:r>
              <a:rPr sz="1450" b="1">
                <a:solidFill>
                  <a:srgbClr val="1F2A37"/>
                </a:solidFill>
                <a:latin typeface="Cambria"/>
              </a:rPr>
              <a:t>lấp chỗ thiếu thời tiết</a:t>
            </a:r>
            <a:r>
              <a:rPr sz="1450" b="0">
                <a:solidFill>
                  <a:srgbClr val="1F2A37"/>
                </a:solidFill>
                <a:latin typeface="Cambria"/>
              </a:rPr>
              <a:t> của UCI và </a:t>
            </a:r>
            <a:r>
              <a:rPr sz="1450" b="1">
                <a:solidFill>
                  <a:srgbClr val="1F2A37"/>
                </a:solidFill>
                <a:latin typeface="Cambria"/>
              </a:rPr>
              <a:t>thêm độ che phủ mây</a:t>
            </a:r>
            <a:r>
              <a:rPr sz="1450" b="0">
                <a:solidFill>
                  <a:srgbClr val="1F2A37"/>
                </a:solidFill>
                <a:latin typeface="Cambria"/>
              </a:rPr>
              <a:t> — thứ UCI không đo.</a:t>
            </a:r>
          </a:p>
          <a:p>
            <a:pPr algn="just">
              <a:lnSpc>
                <a:spcPct val="113000"/>
              </a:lnSpc>
              <a:spcAft>
                <a:spcPts val="900"/>
              </a:spcAft>
            </a:pPr>
            <a:r>
              <a:rPr sz="1450" b="0">
                <a:solidFill>
                  <a:srgbClr val="1F2A37"/>
                </a:solidFill>
                <a:latin typeface="Cambria"/>
              </a:rPr>
              <a:t>Quy tắc ghép là đoạn hay bị hỏi nhất: UCI có sẵn thì dùng UCI; Open-Meteo chỉ bước vào khi ô UCI rỗng, và </a:t>
            </a:r>
            <a:r>
              <a:rPr sz="1450" b="1">
                <a:solidFill>
                  <a:srgbClr val="1F2A37"/>
                </a:solidFill>
                <a:latin typeface="Cambria"/>
              </a:rPr>
              <a:t>mỗi ô lấp được ghi rõ nguồn</a:t>
            </a:r>
            <a:r>
              <a:rPr sz="1450" b="0">
                <a:solidFill>
                  <a:srgbClr val="1F2A37"/>
                </a:solidFill>
                <a:latin typeface="Cambria"/>
              </a:rPr>
              <a:t> để truy vết — vì khí tượng tái phân tích không đồng nhất tuyệt đối với phép đo tại trạm, biết ô nào đến từ đâu mới kiểm tra được khi nghi ngờ. Độ ẩm tương đối không lấy của Open-Meteo mà </a:t>
            </a:r>
            <a:r>
              <a:rPr sz="1450" b="1">
                <a:solidFill>
                  <a:srgbClr val="1F2A37"/>
                </a:solidFill>
                <a:latin typeface="Cambria"/>
              </a:rPr>
              <a:t>suy từ TEMP + DEWP</a:t>
            </a:r>
            <a:r>
              <a:rPr sz="1450" b="0">
                <a:solidFill>
                  <a:srgbClr val="1F2A37"/>
                </a:solidFill>
                <a:latin typeface="Cambria"/>
              </a:rPr>
              <a:t> của chính UCI.</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QUY TẮC GHÉP</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Khóa ghép  </a:t>
            </a:r>
            <a:r>
              <a:rPr sz="1250" b="0">
                <a:solidFill>
                  <a:srgbClr val="1F2A37"/>
                </a:solidFill>
                <a:latin typeface="Calibri"/>
              </a:rPr>
              <a:t>cùng trạm + cùng mốc giờ (thống nhất múi giờ)</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Ưu tiên  </a:t>
            </a:r>
            <a:r>
              <a:rPr sz="1250" b="1">
                <a:solidFill>
                  <a:srgbClr val="EA580C"/>
                </a:solidFill>
                <a:latin typeface="Calibri"/>
              </a:rPr>
              <a:t>UCI có → dùng UCI</a:t>
            </a:r>
            <a:r>
              <a:rPr sz="1250" b="0">
                <a:solidFill>
                  <a:srgbClr val="1F2A37"/>
                </a:solidFill>
                <a:latin typeface="Calibri"/>
              </a:rPr>
              <a:t>; rỗng → mới lấy Open-Meteo</a:t>
            </a:r>
          </a:p>
        </p:txBody>
      </p:sp>
      <p:sp>
        <p:nvSpPr>
          <p:cNvPr id="9" name="TextBox 8"/>
          <p:cNvSpPr txBox="1"/>
          <p:nvPr/>
        </p:nvSpPr>
        <p:spPr>
          <a:xfrm>
            <a:off x="7543800" y="30906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Truy vết  </a:t>
            </a:r>
            <a:r>
              <a:rPr sz="1250" b="0">
                <a:solidFill>
                  <a:srgbClr val="1F2A37"/>
                </a:solidFill>
                <a:latin typeface="Calibri"/>
              </a:rPr>
              <a:t>mỗi ô lấp đều ghi rõ nguồn từng ô</a:t>
            </a:r>
          </a:p>
        </p:txBody>
      </p:sp>
      <p:sp>
        <p:nvSpPr>
          <p:cNvPr id="10" name="TextBox 9"/>
          <p:cNvSpPr txBox="1"/>
          <p:nvPr/>
        </p:nvSpPr>
        <p:spPr>
          <a:xfrm>
            <a:off x="7543800" y="369417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Độ ẩm RH  </a:t>
            </a:r>
            <a:r>
              <a:rPr sz="1250" b="0">
                <a:solidFill>
                  <a:srgbClr val="1F2A37"/>
                </a:solidFill>
                <a:latin typeface="Calibri"/>
              </a:rPr>
              <a:t>suy từ TEMP + DEWP (UCI), không lấy của OM</a:t>
            </a:r>
          </a:p>
        </p:txBody>
      </p:sp>
      <p:sp>
        <p:nvSpPr>
          <p:cNvPr id="11" name="TextBox 10"/>
          <p:cNvSpPr txBox="1"/>
          <p:nvPr/>
        </p:nvSpPr>
        <p:spPr>
          <a:xfrm>
            <a:off x="7543800" y="4297680"/>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Thêm mới  </a:t>
            </a:r>
            <a:r>
              <a:rPr sz="1250" b="0">
                <a:solidFill>
                  <a:srgbClr val="1F2A37"/>
                </a:solidFill>
                <a:latin typeface="Calibri"/>
              </a:rPr>
              <a:t>độ che phủ mây — chỉ có ở Open-Meteo</a:t>
            </a:r>
          </a:p>
        </p:txBody>
      </p:sp>
      <p:sp>
        <p:nvSpPr>
          <p:cNvPr id="12" name="Rounded Rectangle 11"/>
          <p:cNvSpPr/>
          <p:nvPr/>
        </p:nvSpPr>
        <p:spPr>
          <a:xfrm>
            <a:off x="7543800" y="4974336"/>
            <a:ext cx="3867912" cy="804672"/>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5093208"/>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SAU KHI LẤP</a:t>
            </a:r>
          </a:p>
        </p:txBody>
      </p:sp>
      <p:sp>
        <p:nvSpPr>
          <p:cNvPr id="14" name="TextBox 13"/>
          <p:cNvSpPr txBox="1"/>
          <p:nvPr/>
        </p:nvSpPr>
        <p:spPr>
          <a:xfrm>
            <a:off x="7708392" y="5404104"/>
            <a:ext cx="3538728" cy="301752"/>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thời tiết còn </a:t>
            </a:r>
            <a:r>
              <a:rPr sz="1200" b="1">
                <a:solidFill>
                  <a:srgbClr val="EA580C"/>
                </a:solidFill>
                <a:latin typeface="Calibri"/>
              </a:rPr>
              <a:t>0 ô thiếu</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UCI ưu tiên tuyệt đối — Open-Meteo chỉ lấp ô trống, và ô lấp nào cũng ghi rõ nguồn để truy vết.</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7 / 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DỮ LIỆU</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Chỗ thiếu: quyết định từng cột, không “làm đẹp”</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Thiếu dữ liệu không đều: </a:t>
            </a:r>
            <a:r>
              <a:rPr sz="1450" b="1">
                <a:solidFill>
                  <a:srgbClr val="EA580C"/>
                </a:solidFill>
                <a:latin typeface="Cambria"/>
              </a:rPr>
              <a:t>CO thiếu nhiều nhất 4,9%</a:t>
            </a:r>
            <a:r>
              <a:rPr sz="1450" b="0">
                <a:solidFill>
                  <a:srgbClr val="1F2A37"/>
                </a:solidFill>
                <a:latin typeface="Cambria"/>
              </a:rPr>
              <a:t> với các </a:t>
            </a:r>
            <a:r>
              <a:rPr sz="1450" b="1">
                <a:solidFill>
                  <a:srgbClr val="1F2A37"/>
                </a:solidFill>
                <a:latin typeface="Cambria"/>
              </a:rPr>
              <a:t>chuỗi thiếu liên tục dài 343–1.517 giờ</a:t>
            </a:r>
            <a:r>
              <a:rPr sz="1450" b="0">
                <a:solidFill>
                  <a:srgbClr val="1F2A37"/>
                </a:solidFill>
                <a:latin typeface="Cambria"/>
              </a:rPr>
              <a:t>; thời tiết thiếu rất ít (~0,1%). Mỗi cột một cách xử lý — đây là chuỗi </a:t>
            </a:r>
            <a:r>
              <a:rPr sz="1450" b="1">
                <a:solidFill>
                  <a:srgbClr val="1F2A37"/>
                </a:solidFill>
                <a:latin typeface="Cambria"/>
              </a:rPr>
              <a:t>quyết định</a:t>
            </a:r>
            <a:r>
              <a:rPr sz="1450" b="0">
                <a:solidFill>
                  <a:srgbClr val="1F2A37"/>
                </a:solidFill>
                <a:latin typeface="Cambria"/>
              </a:rPr>
              <a:t>, không phải một thao tác “làm sạch” duy nhất.</a:t>
            </a:r>
          </a:p>
          <a:p>
            <a:pPr algn="just">
              <a:lnSpc>
                <a:spcPct val="113000"/>
              </a:lnSpc>
              <a:spcAft>
                <a:spcPts val="900"/>
              </a:spcAft>
            </a:pPr>
            <a:r>
              <a:rPr sz="1450" b="0">
                <a:solidFill>
                  <a:srgbClr val="1F2A37"/>
                </a:solidFill>
                <a:latin typeface="Cambria"/>
              </a:rPr>
              <a:t>Với chuỗi thiếu </a:t>
            </a:r>
            <a:r>
              <a:rPr sz="1450" b="1">
                <a:solidFill>
                  <a:srgbClr val="1F2A37"/>
                </a:solidFill>
                <a:latin typeface="Cambria"/>
              </a:rPr>
              <a:t>dài</a:t>
            </a:r>
            <a:r>
              <a:rPr sz="1450" b="0">
                <a:solidFill>
                  <a:srgbClr val="1F2A37"/>
                </a:solidFill>
                <a:latin typeface="Cambria"/>
              </a:rPr>
              <a:t>: </a:t>
            </a:r>
            <a:r>
              <a:rPr sz="1450" b="1">
                <a:solidFill>
                  <a:srgbClr val="EA580C"/>
                </a:solidFill>
                <a:latin typeface="Cambria"/>
              </a:rPr>
              <a:t>không nội suy</a:t>
            </a:r>
            <a:r>
              <a:rPr sz="1450" b="0">
                <a:solidFill>
                  <a:srgbClr val="1F2A37"/>
                </a:solidFill>
                <a:latin typeface="Cambria"/>
              </a:rPr>
              <a:t>. Nội suy chuỗi hàng trăm giờ là </a:t>
            </a:r>
            <a:r>
              <a:rPr sz="1450" b="1">
                <a:solidFill>
                  <a:srgbClr val="1F2A37"/>
                </a:solidFill>
                <a:latin typeface="Cambria"/>
              </a:rPr>
              <a:t>bịa dữ liệu</a:t>
            </a:r>
            <a:r>
              <a:rPr sz="1450" b="0">
                <a:solidFill>
                  <a:srgbClr val="1F2A37"/>
                </a:solidFill>
                <a:latin typeface="Cambria"/>
              </a:rPr>
              <a:t> — có thể tạo “đợt ô nhiễm giả” hoặc xóa mờ đợt thật. Quyết định: </a:t>
            </a:r>
            <a:r>
              <a:rPr sz="1450" b="1">
                <a:solidFill>
                  <a:srgbClr val="1F2A37"/>
                </a:solidFill>
                <a:latin typeface="Cambria"/>
              </a:rPr>
              <a:t>giữ NULL + cờ chất lượng</a:t>
            </a:r>
            <a:r>
              <a:rPr sz="1450" b="0">
                <a:solidFill>
                  <a:srgbClr val="1F2A37"/>
                </a:solidFill>
                <a:latin typeface="Cambria"/>
              </a:rPr>
              <a:t>; phân biệt kỹ: </a:t>
            </a:r>
            <a:r>
              <a:rPr sz="1450" b="1">
                <a:solidFill>
                  <a:srgbClr val="EA580C"/>
                </a:solidFill>
                <a:latin typeface="Cambria"/>
              </a:rPr>
              <a:t>NULL ≠ 0</a:t>
            </a:r>
            <a:r>
              <a:rPr sz="1450" b="0">
                <a:solidFill>
                  <a:srgbClr val="1F2A37"/>
                </a:solidFill>
                <a:latin typeface="Cambria"/>
              </a:rPr>
              <a:t> (0 là giá trị đo được, NULL là chưa đo). Với chỗ thiếu </a:t>
            </a:r>
            <a:r>
              <a:rPr sz="1450" b="1">
                <a:solidFill>
                  <a:srgbClr val="1F2A37"/>
                </a:solidFill>
                <a:latin typeface="Cambria"/>
              </a:rPr>
              <a:t>ngắn</a:t>
            </a:r>
            <a:r>
              <a:rPr sz="1450" b="0">
                <a:solidFill>
                  <a:srgbClr val="1F2A37"/>
                </a:solidFill>
                <a:latin typeface="Cambria"/>
              </a:rPr>
              <a:t>: lấp từ Open-Meteo theo quy tắc slide trước, sau lấp còn </a:t>
            </a:r>
            <a:r>
              <a:rPr sz="1450" b="1">
                <a:solidFill>
                  <a:srgbClr val="EA580C"/>
                </a:solidFill>
                <a:latin typeface="Cambria"/>
              </a:rPr>
              <a:t>0 ô thiếu</a:t>
            </a:r>
            <a:r>
              <a:rPr sz="1450" b="0">
                <a:solidFill>
                  <a:srgbClr val="1F2A37"/>
                </a:solidFill>
                <a:latin typeface="Cambria"/>
              </a:rPr>
              <a: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MỖI CỘT MỘT QUYẾT ĐỊNH</a:t>
            </a:r>
          </a:p>
        </p:txBody>
      </p:sp>
      <p:sp>
        <p:nvSpPr>
          <p:cNvPr id="7" name="Rounded Rectangle 6"/>
          <p:cNvSpPr/>
          <p:nvPr/>
        </p:nvSpPr>
        <p:spPr>
          <a:xfrm>
            <a:off x="7543800" y="1883664"/>
            <a:ext cx="3867912" cy="137160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CHUỖI THIẾU DÀI</a:t>
            </a:r>
          </a:p>
        </p:txBody>
      </p:sp>
      <p:sp>
        <p:nvSpPr>
          <p:cNvPr id="9" name="TextBox 8"/>
          <p:cNvSpPr txBox="1"/>
          <p:nvPr/>
        </p:nvSpPr>
        <p:spPr>
          <a:xfrm>
            <a:off x="7708392" y="2313432"/>
            <a:ext cx="3538728" cy="86868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CO: chuỗi liên tục 343–1.517 giờ</a:t>
            </a:r>
          </a:p>
          <a:p>
            <a:pPr>
              <a:lnSpc>
                <a:spcPct val="108000"/>
              </a:lnSpc>
              <a:spcAft>
                <a:spcPts val="300"/>
              </a:spcAft>
            </a:pPr>
            <a:r>
              <a:rPr sz="1200" b="0">
                <a:solidFill>
                  <a:srgbClr val="1F2A37"/>
                </a:solidFill>
                <a:latin typeface="Calibri"/>
              </a:rPr>
              <a:t>→ </a:t>
            </a:r>
            <a:r>
              <a:rPr sz="1200" b="1">
                <a:solidFill>
                  <a:srgbClr val="EA580C"/>
                </a:solidFill>
                <a:latin typeface="Calibri"/>
              </a:rPr>
              <a:t>GIỮ NULL</a:t>
            </a:r>
            <a:r>
              <a:rPr sz="1200" b="0">
                <a:solidFill>
                  <a:srgbClr val="1F2A37"/>
                </a:solidFill>
                <a:latin typeface="Calibri"/>
              </a:rPr>
              <a:t> + cờ chất lượng</a:t>
            </a:r>
          </a:p>
          <a:p>
            <a:pPr>
              <a:lnSpc>
                <a:spcPct val="108000"/>
              </a:lnSpc>
              <a:spcAft>
                <a:spcPts val="300"/>
              </a:spcAft>
            </a:pPr>
            <a:r>
              <a:rPr sz="1200" b="0">
                <a:solidFill>
                  <a:srgbClr val="1F2A37"/>
                </a:solidFill>
                <a:latin typeface="Calibri"/>
              </a:rPr>
              <a:t>(nội suy chuỗi dài = bịa dữ liệu)</a:t>
            </a:r>
          </a:p>
        </p:txBody>
      </p:sp>
      <p:sp>
        <p:nvSpPr>
          <p:cNvPr id="10" name="Rounded Rectangle 9"/>
          <p:cNvSpPr/>
          <p:nvPr/>
        </p:nvSpPr>
        <p:spPr>
          <a:xfrm>
            <a:off x="7543800" y="3383280"/>
            <a:ext cx="3867912" cy="1133856"/>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502152"/>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THIẾU NGẮN — THỜI TIẾT</a:t>
            </a:r>
          </a:p>
        </p:txBody>
      </p:sp>
      <p:sp>
        <p:nvSpPr>
          <p:cNvPr id="12" name="TextBox 11"/>
          <p:cNvSpPr txBox="1"/>
          <p:nvPr/>
        </p:nvSpPr>
        <p:spPr>
          <a:xfrm>
            <a:off x="7708392" y="3813048"/>
            <a:ext cx="3538728" cy="630936"/>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thiếu ~0,1%</a:t>
            </a:r>
          </a:p>
          <a:p>
            <a:pPr>
              <a:lnSpc>
                <a:spcPct val="108000"/>
              </a:lnSpc>
              <a:spcAft>
                <a:spcPts val="300"/>
              </a:spcAft>
            </a:pPr>
            <a:r>
              <a:rPr sz="1200" b="0">
                <a:solidFill>
                  <a:srgbClr val="1F2A37"/>
                </a:solidFill>
                <a:latin typeface="Calibri"/>
              </a:rPr>
              <a:t>→ lấp từ Open-Meteo, còn </a:t>
            </a:r>
            <a:r>
              <a:rPr sz="1200" b="1">
                <a:solidFill>
                  <a:srgbClr val="EA580C"/>
                </a:solidFill>
                <a:latin typeface="Calibri"/>
              </a:rPr>
              <a:t>0 ô</a:t>
            </a:r>
          </a:p>
        </p:txBody>
      </p:sp>
      <p:sp>
        <p:nvSpPr>
          <p:cNvPr id="13" name="Rounded Rectangle 12"/>
          <p:cNvSpPr/>
          <p:nvPr/>
        </p:nvSpPr>
        <p:spPr>
          <a:xfrm>
            <a:off x="7543800" y="4663440"/>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DBA74"/>
                </a:solidFill>
                <a:latin typeface="Calibri"/>
              </a:rPr>
              <a:t>CO thiếu 4,9% — nhiều nhất</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Chuỗi thiếu dài → giữ NULL + cờ (nội suy = bịa dữ liệu); thiếu ngắn → lấp từ nguồn phụ và ghi nguồn từng ô.</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8 / 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DỮ LIỆU</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Trần thiết bị và nguyên tắc điền thiếu phía học máy</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Có </a:t>
            </a:r>
            <a:r>
              <a:rPr sz="1450" b="1">
                <a:solidFill>
                  <a:srgbClr val="EA580C"/>
                </a:solidFill>
                <a:latin typeface="Cambria"/>
              </a:rPr>
              <a:t>60 dòng chạm trần thiết bị</a:t>
            </a:r>
            <a:r>
              <a:rPr sz="1450" b="0">
                <a:solidFill>
                  <a:srgbClr val="1F2A37"/>
                </a:solidFill>
                <a:latin typeface="Cambria"/>
              </a:rPr>
              <a:t> (giá 999 / 10.000 tùy cột) — thiết bị đo tới giới hạn rồi đứng lại. Quyết định: </a:t>
            </a:r>
            <a:r>
              <a:rPr sz="1450" b="1">
                <a:solidFill>
                  <a:srgbClr val="1F2A37"/>
                </a:solidFill>
                <a:latin typeface="Cambria"/>
              </a:rPr>
              <a:t>giữ nguyên + cờ SUSPECT_CAP</a:t>
            </a:r>
            <a:r>
              <a:rPr sz="1450" b="0">
                <a:solidFill>
                  <a:srgbClr val="1F2A37"/>
                </a:solidFill>
                <a:latin typeface="Cambria"/>
              </a:rPr>
              <a:t>, vì đó là số đo thật của thiết bị đang quá tải; xóa đi là mất bằng chứng về những giờ nặng nhất.</a:t>
            </a:r>
          </a:p>
          <a:p>
            <a:pPr algn="just">
              <a:lnSpc>
                <a:spcPct val="113000"/>
              </a:lnSpc>
              <a:spcAft>
                <a:spcPts val="900"/>
              </a:spcAft>
            </a:pPr>
            <a:r>
              <a:rPr sz="1450" b="0">
                <a:solidFill>
                  <a:srgbClr val="1F2A37"/>
                </a:solidFill>
                <a:latin typeface="Cambria"/>
              </a:rPr>
              <a:t>Phía học máy, một số biến đầu vào thiếu được điền bằng </a:t>
            </a:r>
            <a:r>
              <a:rPr sz="1450" b="1">
                <a:solidFill>
                  <a:srgbClr val="1F2A37"/>
                </a:solidFill>
                <a:latin typeface="Cambria"/>
              </a:rPr>
              <a:t>median</a:t>
            </a:r>
            <a:r>
              <a:rPr sz="1450" b="0">
                <a:solidFill>
                  <a:srgbClr val="1F2A37"/>
                </a:solidFill>
                <a:latin typeface="Cambria"/>
              </a:rPr>
              <a:t> (trung vị — giá trị đứng giữa sau khi sắp xếp). Nguyên tắc nghiêm ngặt: </a:t>
            </a:r>
            <a:r>
              <a:rPr sz="1450" b="1">
                <a:solidFill>
                  <a:srgbClr val="EA580C"/>
                </a:solidFill>
                <a:latin typeface="Cambria"/>
              </a:rPr>
              <a:t>median chỉ được tính trên tập train</a:t>
            </a:r>
            <a:r>
              <a:rPr sz="1450" b="0">
                <a:solidFill>
                  <a:srgbClr val="1F2A37"/>
                </a:solidFill>
                <a:latin typeface="Cambria"/>
              </a:rPr>
              <a:t> — nếu tính trên toàn bộ, thông tin của val/test đã “rò” vào khâu chuẩn bị, một dạng rò rỉ dữ liệu làm điểm đánh giá lạc quan hơn thực tế.</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NGUYÊN TẮC</a:t>
            </a:r>
          </a:p>
        </p:txBody>
      </p:sp>
      <p:sp>
        <p:nvSpPr>
          <p:cNvPr id="7" name="TextBox 6"/>
          <p:cNvSpPr txBox="1"/>
          <p:nvPr/>
        </p:nvSpPr>
        <p:spPr>
          <a:xfrm>
            <a:off x="7543800" y="1883664"/>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60 dòng</a:t>
            </a:r>
          </a:p>
        </p:txBody>
      </p:sp>
      <p:sp>
        <p:nvSpPr>
          <p:cNvPr id="8" name="TextBox 7"/>
          <p:cNvSpPr txBox="1"/>
          <p:nvPr/>
        </p:nvSpPr>
        <p:spPr>
          <a:xfrm>
            <a:off x="7543800" y="2452115"/>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chạm trần thiết bị → giữ + cờ SUSPECT_CAP</a:t>
            </a:r>
          </a:p>
        </p:txBody>
      </p:sp>
      <p:sp>
        <p:nvSpPr>
          <p:cNvPr id="9" name="Rounded Rectangle 8"/>
          <p:cNvSpPr/>
          <p:nvPr/>
        </p:nvSpPr>
        <p:spPr>
          <a:xfrm>
            <a:off x="7543800" y="2726435"/>
            <a:ext cx="118872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NULL ≠ 0</a:t>
            </a:r>
          </a:p>
        </p:txBody>
      </p:sp>
      <p:sp>
        <p:nvSpPr>
          <p:cNvPr id="10" name="TextBox 9"/>
          <p:cNvSpPr txBox="1"/>
          <p:nvPr/>
        </p:nvSpPr>
        <p:spPr>
          <a:xfrm>
            <a:off x="8869680" y="2753867"/>
            <a:ext cx="2542032" cy="274320"/>
          </a:xfrm>
          <a:prstGeom prst="rect">
            <a:avLst/>
          </a:prstGeom>
          <a:noFill/>
        </p:spPr>
        <p:txBody>
          <a:bodyPr wrap="square" anchor="t" lIns="27432" rIns="27432" tIns="0" bIns="0">
            <a:spAutoFit/>
          </a:bodyPr>
          <a:lstStyle/>
          <a:p>
            <a:pPr algn="l"/>
            <a:r>
              <a:rPr sz="1150" b="0" i="0">
                <a:solidFill>
                  <a:srgbClr val="1F2A37"/>
                </a:solidFill>
                <a:latin typeface="Calibri"/>
              </a:rPr>
              <a:t>0 là giá trị đo — NULL là chưa đo</a:t>
            </a:r>
          </a:p>
        </p:txBody>
      </p:sp>
      <p:sp>
        <p:nvSpPr>
          <p:cNvPr id="11" name="Rectangle 10"/>
          <p:cNvSpPr/>
          <p:nvPr/>
        </p:nvSpPr>
        <p:spPr>
          <a:xfrm>
            <a:off x="7543800" y="3256787"/>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3384803"/>
            <a:ext cx="3867912" cy="292608"/>
          </a:xfrm>
          <a:prstGeom prst="rect">
            <a:avLst/>
          </a:prstGeom>
          <a:noFill/>
        </p:spPr>
        <p:txBody>
          <a:bodyPr wrap="square" anchor="t" lIns="27432" rIns="27432" tIns="0" bIns="0">
            <a:spAutoFit/>
          </a:bodyPr>
          <a:lstStyle/>
          <a:p>
            <a:pPr algn="l"/>
            <a:r>
              <a:rPr sz="1200" b="1" i="0">
                <a:solidFill>
                  <a:srgbClr val="64748B"/>
                </a:solidFill>
                <a:latin typeface="Calibri"/>
              </a:rPr>
              <a:t>Mọi phép biến đổi “học” từ dữ liệu đều fit trên train:</a:t>
            </a:r>
          </a:p>
        </p:txBody>
      </p:sp>
      <p:sp>
        <p:nvSpPr>
          <p:cNvPr id="13" name="Rounded Rectangle 12"/>
          <p:cNvSpPr/>
          <p:nvPr/>
        </p:nvSpPr>
        <p:spPr>
          <a:xfrm>
            <a:off x="7543800" y="3732275"/>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train</a:t>
            </a:r>
          </a:p>
        </p:txBody>
      </p:sp>
      <p:sp>
        <p:nvSpPr>
          <p:cNvPr id="14" name="TextBox 13"/>
          <p:cNvSpPr txBox="1"/>
          <p:nvPr/>
        </p:nvSpPr>
        <p:spPr>
          <a:xfrm>
            <a:off x="8677656" y="3759707"/>
            <a:ext cx="219456" cy="365760"/>
          </a:xfrm>
          <a:prstGeom prst="rect">
            <a:avLst/>
          </a:prstGeom>
          <a:noFill/>
        </p:spPr>
        <p:txBody>
          <a:bodyPr wrap="square" anchor="t" lIns="27432" rIns="27432" tIns="0" bIns="0">
            <a:spAutoFit/>
          </a:bodyPr>
          <a:lstStyle/>
          <a:p>
            <a:pPr algn="ctr"/>
            <a:r>
              <a:rPr sz="1300" b="1" i="0">
                <a:solidFill>
                  <a:srgbClr val="EA580C"/>
                </a:solidFill>
                <a:latin typeface="Calibri"/>
              </a:rPr>
              <a:t>→</a:t>
            </a:r>
          </a:p>
        </p:txBody>
      </p:sp>
      <p:sp>
        <p:nvSpPr>
          <p:cNvPr id="15" name="Rounded Rectangle 14"/>
          <p:cNvSpPr/>
          <p:nvPr/>
        </p:nvSpPr>
        <p:spPr>
          <a:xfrm>
            <a:off x="8906256" y="3732275"/>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median</a:t>
            </a:r>
          </a:p>
        </p:txBody>
      </p:sp>
      <p:sp>
        <p:nvSpPr>
          <p:cNvPr id="16" name="TextBox 15"/>
          <p:cNvSpPr txBox="1"/>
          <p:nvPr/>
        </p:nvSpPr>
        <p:spPr>
          <a:xfrm>
            <a:off x="10040112" y="3759707"/>
            <a:ext cx="219456" cy="365760"/>
          </a:xfrm>
          <a:prstGeom prst="rect">
            <a:avLst/>
          </a:prstGeom>
          <a:noFill/>
        </p:spPr>
        <p:txBody>
          <a:bodyPr wrap="square" anchor="t" lIns="27432" rIns="27432" tIns="0" bIns="0">
            <a:spAutoFit/>
          </a:bodyPr>
          <a:lstStyle/>
          <a:p>
            <a:pPr algn="ctr"/>
            <a:r>
              <a:rPr sz="1300" b="1" i="0">
                <a:solidFill>
                  <a:srgbClr val="EA580C"/>
                </a:solidFill>
                <a:latin typeface="Calibri"/>
              </a:rPr>
              <a:t>→</a:t>
            </a:r>
          </a:p>
        </p:txBody>
      </p:sp>
      <p:sp>
        <p:nvSpPr>
          <p:cNvPr id="17" name="Rounded Rectangle 16"/>
          <p:cNvSpPr/>
          <p:nvPr/>
        </p:nvSpPr>
        <p:spPr>
          <a:xfrm>
            <a:off x="10268712" y="3732275"/>
            <a:ext cx="1143000"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val / test</a:t>
            </a:r>
          </a:p>
        </p:txBody>
      </p:sp>
      <p:sp>
        <p:nvSpPr>
          <p:cNvPr id="18" name="Rectangle 17"/>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0" name="TextBox 19"/>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Trần thiết bị: giữ + cờ. Mọi phép biến đổi học từ dữ liệu (median, scaler) chỉ fit trên tập train.</a:t>
            </a:r>
          </a:p>
        </p:txBody>
      </p:sp>
      <p:sp>
        <p:nvSpPr>
          <p:cNvPr id="21" name="TextBox 20"/>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9 / 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DỮ LIỆU</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Rời rạc hoá — gom mức chi tiết thành mức phân tích</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Dữ liệu thô quá mịn cho câu hỏi nghiệp vụ: không ai hỏi “quận Dongcheng giờ thứ 17 thế nào”, họ hỏi “</a:t>
            </a:r>
            <a:r>
              <a:rPr sz="1450" b="1">
                <a:solidFill>
                  <a:srgbClr val="1F2A37"/>
                </a:solidFill>
                <a:latin typeface="Cambria"/>
              </a:rPr>
              <a:t>buổi tối mùa đông</a:t>
            </a:r>
            <a:r>
              <a:rPr sz="1450" b="0">
                <a:solidFill>
                  <a:srgbClr val="1F2A37"/>
                </a:solidFill>
                <a:latin typeface="Cambria"/>
              </a:rPr>
              <a:t> thế nào”. Vì vậy một số cột được </a:t>
            </a:r>
            <a:r>
              <a:rPr sz="1450" b="1">
                <a:solidFill>
                  <a:srgbClr val="1F2A37"/>
                </a:solidFill>
                <a:latin typeface="Cambria"/>
              </a:rPr>
              <a:t>rời rạc hoá</a:t>
            </a:r>
            <a:r>
              <a:rPr sz="1450" b="0">
                <a:solidFill>
                  <a:srgbClr val="1F2A37"/>
                </a:solidFill>
                <a:latin typeface="Cambria"/>
              </a:rPr>
              <a:t> (gom thành nhóm): </a:t>
            </a:r>
            <a:r>
              <a:rPr sz="1450" b="1">
                <a:solidFill>
                  <a:srgbClr val="EA580C"/>
                </a:solidFill>
                <a:latin typeface="Cambria"/>
              </a:rPr>
              <a:t>giờ → buổi</a:t>
            </a:r>
            <a:r>
              <a:rPr sz="1450" b="0">
                <a:solidFill>
                  <a:srgbClr val="1F2A37"/>
                </a:solidFill>
                <a:latin typeface="Cambria"/>
              </a:rPr>
              <a:t>, </a:t>
            </a:r>
            <a:r>
              <a:rPr sz="1450" b="1">
                <a:solidFill>
                  <a:srgbClr val="EA580C"/>
                </a:solidFill>
                <a:latin typeface="Cambria"/>
              </a:rPr>
              <a:t>ngày → mùa</a:t>
            </a:r>
            <a:r>
              <a:rPr sz="1450" b="0">
                <a:solidFill>
                  <a:srgbClr val="1F2A37"/>
                </a:solidFill>
                <a:latin typeface="Cambria"/>
              </a:rPr>
              <a:t>, </a:t>
            </a:r>
            <a:r>
              <a:rPr sz="1450" b="1">
                <a:solidFill>
                  <a:srgbClr val="EA580C"/>
                </a:solidFill>
                <a:latin typeface="Cambria"/>
              </a:rPr>
              <a:t>16 hướng gió → 4 phần tư → bắc / nam</a:t>
            </a:r>
            <a:r>
              <a:rPr sz="1450" b="0">
                <a:solidFill>
                  <a:srgbClr val="1F2A37"/>
                </a:solidFill>
                <a:latin typeface="Cambria"/>
              </a:rPr>
              <a:t>.</a:t>
            </a:r>
          </a:p>
          <a:p>
            <a:pPr algn="just">
              <a:lnSpc>
                <a:spcPct val="113000"/>
              </a:lnSpc>
              <a:spcAft>
                <a:spcPts val="900"/>
              </a:spcAft>
            </a:pPr>
            <a:r>
              <a:rPr sz="1450" b="0">
                <a:solidFill>
                  <a:srgbClr val="1F2A37"/>
                </a:solidFill>
                <a:latin typeface="Cambria"/>
              </a:rPr>
              <a:t>Giới hạn của phép gom phải biết: gom giờ thành buổi </a:t>
            </a:r>
            <a:r>
              <a:rPr sz="1450" b="1">
                <a:solidFill>
                  <a:srgbClr val="1F2A37"/>
                </a:solidFill>
                <a:latin typeface="Cambria"/>
              </a:rPr>
              <a:t>mất khả năng so sánh từng giờ riêng</a:t>
            </a:r>
            <a:r>
              <a:rPr sz="1450" b="0">
                <a:solidFill>
                  <a:srgbClr val="1F2A37"/>
                </a:solidFill>
                <a:latin typeface="Cambria"/>
              </a:rPr>
              <a:t> — nên rời rạc hoá chỉ tạo </a:t>
            </a:r>
            <a:r>
              <a:rPr sz="1450" b="1">
                <a:solidFill>
                  <a:srgbClr val="1F2A37"/>
                </a:solidFill>
                <a:latin typeface="Cambria"/>
              </a:rPr>
              <a:t>cột bổ sung</a:t>
            </a:r>
            <a:r>
              <a:rPr sz="1450" b="0">
                <a:solidFill>
                  <a:srgbClr val="1F2A37"/>
                </a:solidFill>
                <a:latin typeface="Cambria"/>
              </a:rPr>
              <a:t>, grain gốc mức giờ vẫn giữ nguyên (phần B). Các mức này chính là </a:t>
            </a:r>
            <a:r>
              <a:rPr sz="1450" b="1">
                <a:solidFill>
                  <a:srgbClr val="1F2A37"/>
                </a:solidFill>
                <a:latin typeface="Cambria"/>
              </a:rPr>
              <a:t>phân cấp của bảng chiều</a:t>
            </a:r>
            <a:r>
              <a:rPr sz="1450" b="0">
                <a:solidFill>
                  <a:srgbClr val="1F2A37"/>
                </a:solidFill>
                <a:latin typeface="Cambria"/>
              </a:rPr>
              <a:t> sau này (buổi trong dim_time, mùa trong dim_date, phần tư gió trong dim_wind) — làm một lần, dùng lại toàn hệ thống.</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BA PHÉP GOM</a:t>
            </a:r>
          </a:p>
        </p:txBody>
      </p:sp>
      <p:sp>
        <p:nvSpPr>
          <p:cNvPr id="7" name="Rounded Rectangle 6"/>
          <p:cNvSpPr/>
          <p:nvPr/>
        </p:nvSpPr>
        <p:spPr>
          <a:xfrm>
            <a:off x="7543800" y="1883664"/>
            <a:ext cx="1691640" cy="402336"/>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giờ</a:t>
            </a:r>
          </a:p>
        </p:txBody>
      </p:sp>
      <p:sp>
        <p:nvSpPr>
          <p:cNvPr id="8" name="TextBox 7"/>
          <p:cNvSpPr txBox="1"/>
          <p:nvPr/>
        </p:nvSpPr>
        <p:spPr>
          <a:xfrm>
            <a:off x="9299448" y="1929384"/>
            <a:ext cx="274320" cy="310896"/>
          </a:xfrm>
          <a:prstGeom prst="rect">
            <a:avLst/>
          </a:prstGeom>
          <a:noFill/>
        </p:spPr>
        <p:txBody>
          <a:bodyPr wrap="square" anchor="t" lIns="27432" rIns="27432" tIns="0" bIns="0">
            <a:spAutoFit/>
          </a:bodyPr>
          <a:lstStyle/>
          <a:p>
            <a:pPr algn="ctr"/>
            <a:r>
              <a:rPr sz="1500" b="1" i="0">
                <a:solidFill>
                  <a:srgbClr val="EA580C"/>
                </a:solidFill>
                <a:latin typeface="Calibri"/>
              </a:rPr>
              <a:t>→</a:t>
            </a:r>
          </a:p>
        </p:txBody>
      </p:sp>
      <p:sp>
        <p:nvSpPr>
          <p:cNvPr id="9" name="Rounded Rectangle 8"/>
          <p:cNvSpPr/>
          <p:nvPr/>
        </p:nvSpPr>
        <p:spPr>
          <a:xfrm>
            <a:off x="9628631" y="1883664"/>
            <a:ext cx="1783081"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buổi</a:t>
            </a:r>
          </a:p>
        </p:txBody>
      </p:sp>
      <p:sp>
        <p:nvSpPr>
          <p:cNvPr id="10" name="Rounded Rectangle 9"/>
          <p:cNvSpPr/>
          <p:nvPr/>
        </p:nvSpPr>
        <p:spPr>
          <a:xfrm>
            <a:off x="7543800" y="2450592"/>
            <a:ext cx="1691640" cy="402336"/>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ngày</a:t>
            </a:r>
          </a:p>
        </p:txBody>
      </p:sp>
      <p:sp>
        <p:nvSpPr>
          <p:cNvPr id="11" name="TextBox 10"/>
          <p:cNvSpPr txBox="1"/>
          <p:nvPr/>
        </p:nvSpPr>
        <p:spPr>
          <a:xfrm>
            <a:off x="9299448" y="2496312"/>
            <a:ext cx="274320" cy="310896"/>
          </a:xfrm>
          <a:prstGeom prst="rect">
            <a:avLst/>
          </a:prstGeom>
          <a:noFill/>
        </p:spPr>
        <p:txBody>
          <a:bodyPr wrap="square" anchor="t" lIns="27432" rIns="27432" tIns="0" bIns="0">
            <a:spAutoFit/>
          </a:bodyPr>
          <a:lstStyle/>
          <a:p>
            <a:pPr algn="ctr"/>
            <a:r>
              <a:rPr sz="1500" b="1" i="0">
                <a:solidFill>
                  <a:srgbClr val="EA580C"/>
                </a:solidFill>
                <a:latin typeface="Calibri"/>
              </a:rPr>
              <a:t>→</a:t>
            </a:r>
          </a:p>
        </p:txBody>
      </p:sp>
      <p:sp>
        <p:nvSpPr>
          <p:cNvPr id="12" name="Rounded Rectangle 11"/>
          <p:cNvSpPr/>
          <p:nvPr/>
        </p:nvSpPr>
        <p:spPr>
          <a:xfrm>
            <a:off x="9628631" y="2450592"/>
            <a:ext cx="1783081"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mùa</a:t>
            </a:r>
          </a:p>
        </p:txBody>
      </p:sp>
      <p:sp>
        <p:nvSpPr>
          <p:cNvPr id="13" name="Rounded Rectangle 12"/>
          <p:cNvSpPr/>
          <p:nvPr/>
        </p:nvSpPr>
        <p:spPr>
          <a:xfrm>
            <a:off x="7543800" y="3017520"/>
            <a:ext cx="1691640" cy="402336"/>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16 hướng gió</a:t>
            </a:r>
          </a:p>
        </p:txBody>
      </p:sp>
      <p:sp>
        <p:nvSpPr>
          <p:cNvPr id="14" name="TextBox 13"/>
          <p:cNvSpPr txBox="1"/>
          <p:nvPr/>
        </p:nvSpPr>
        <p:spPr>
          <a:xfrm>
            <a:off x="9299448" y="3063240"/>
            <a:ext cx="274320" cy="310896"/>
          </a:xfrm>
          <a:prstGeom prst="rect">
            <a:avLst/>
          </a:prstGeom>
          <a:noFill/>
        </p:spPr>
        <p:txBody>
          <a:bodyPr wrap="square" anchor="t" lIns="27432" rIns="27432" tIns="0" bIns="0">
            <a:spAutoFit/>
          </a:bodyPr>
          <a:lstStyle/>
          <a:p>
            <a:pPr algn="ctr"/>
            <a:r>
              <a:rPr sz="1500" b="1" i="0">
                <a:solidFill>
                  <a:srgbClr val="EA580C"/>
                </a:solidFill>
                <a:latin typeface="Calibri"/>
              </a:rPr>
              <a:t>→</a:t>
            </a:r>
          </a:p>
        </p:txBody>
      </p:sp>
      <p:sp>
        <p:nvSpPr>
          <p:cNvPr id="15" name="Rounded Rectangle 14"/>
          <p:cNvSpPr/>
          <p:nvPr/>
        </p:nvSpPr>
        <p:spPr>
          <a:xfrm>
            <a:off x="9628631" y="3017520"/>
            <a:ext cx="1783081"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bắc / nam</a:t>
            </a:r>
          </a:p>
        </p:txBody>
      </p:sp>
      <p:sp>
        <p:nvSpPr>
          <p:cNvPr id="16" name="Rounded Rectangle 15"/>
          <p:cNvSpPr/>
          <p:nvPr/>
        </p:nvSpPr>
        <p:spPr>
          <a:xfrm>
            <a:off x="7543800" y="3657600"/>
            <a:ext cx="3867912" cy="877824"/>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3776472"/>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LƯU Ý</a:t>
            </a:r>
          </a:p>
        </p:txBody>
      </p:sp>
      <p:sp>
        <p:nvSpPr>
          <p:cNvPr id="18" name="TextBox 17"/>
          <p:cNvSpPr txBox="1"/>
          <p:nvPr/>
        </p:nvSpPr>
        <p:spPr>
          <a:xfrm>
            <a:off x="7708392" y="4087368"/>
            <a:ext cx="3538728" cy="374904"/>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cột BỔ SUNG — grain gốc</a:t>
            </a:r>
          </a:p>
          <a:p>
            <a:pPr>
              <a:lnSpc>
                <a:spcPct val="108000"/>
              </a:lnSpc>
              <a:spcAft>
                <a:spcPts val="300"/>
              </a:spcAft>
            </a:pPr>
            <a:r>
              <a:rPr sz="1200" b="0">
                <a:solidFill>
                  <a:srgbClr val="1F2A37"/>
                </a:solidFill>
                <a:latin typeface="Calibri"/>
              </a:rPr>
              <a:t>mức giờ vẫn giữ nguyên</a:t>
            </a:r>
          </a:p>
        </p:txBody>
      </p:sp>
      <p:sp>
        <p:nvSpPr>
          <p:cNvPr id="19" name="Rectangle 18"/>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1" name="TextBox 20"/>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Rời rạc hoá tạo CỘT bổ sung (buổi, mùa, phần tư gió) — grain gốc mức giờ vẫn được giữ nguyên.</a:t>
            </a:r>
          </a:p>
        </p:txBody>
      </p:sp>
      <p:sp>
        <p:nvSpPr>
          <p:cNvPr id="22" name="TextBox 21"/>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10 / 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KIẾN TRÚC</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Kiến trúc tổng: hai luồng vào, một kho</a:t>
            </a:r>
          </a:p>
        </p:txBody>
      </p:sp>
      <p:sp>
        <p:nvSpPr>
          <p:cNvPr id="4" name="TextBox 3"/>
          <p:cNvSpPr txBox="1"/>
          <p:nvPr/>
        </p:nvSpPr>
        <p:spPr>
          <a:xfrm>
            <a:off x="548640" y="1298448"/>
            <a:ext cx="11094415" cy="1051560"/>
          </a:xfrm>
          <a:prstGeom prst="rect">
            <a:avLst/>
          </a:prstGeom>
          <a:noFill/>
        </p:spPr>
        <p:txBody>
          <a:bodyPr wrap="square" lIns="27432" rIns="27432" tIns="0" bIns="0">
            <a:spAutoFit/>
          </a:bodyPr>
          <a:lstStyle/>
          <a:p>
            <a:pPr algn="just">
              <a:lnSpc>
                <a:spcPct val="113000"/>
              </a:lnSpc>
              <a:spcAft>
                <a:spcPts val="900"/>
              </a:spcAft>
            </a:pPr>
            <a:r>
              <a:rPr sz="1450" b="1">
                <a:solidFill>
                  <a:srgbClr val="1F2A37"/>
                </a:solidFill>
                <a:latin typeface="Cambria"/>
              </a:rPr>
              <a:t>Luồng 1 — batch (nạp lịch sử):</a:t>
            </a:r>
            <a:r>
              <a:rPr sz="1450" b="0">
                <a:solidFill>
                  <a:srgbClr val="1F2A37"/>
                </a:solidFill>
                <a:latin typeface="Cambria"/>
              </a:rPr>
              <a:t> CSV UCI + Open-Meteo → </a:t>
            </a:r>
            <a:r>
              <a:rPr sz="1450" b="1">
                <a:solidFill>
                  <a:srgbClr val="EA580C"/>
                </a:solidFill>
                <a:latin typeface="Cambria"/>
              </a:rPr>
              <a:t>MinIO data lake</a:t>
            </a:r>
            <a:r>
              <a:rPr sz="1450" b="0">
                <a:solidFill>
                  <a:srgbClr val="1F2A37"/>
                </a:solidFill>
                <a:latin typeface="Cambria"/>
              </a:rPr>
              <a:t> → </a:t>
            </a:r>
            <a:r>
              <a:rPr sz="1450" b="1">
                <a:solidFill>
                  <a:srgbClr val="EA580C"/>
                </a:solidFill>
                <a:latin typeface="Cambria"/>
              </a:rPr>
              <a:t>PostgreSQL staging</a:t>
            </a:r>
            <a:r>
              <a:rPr sz="1450" b="0">
                <a:solidFill>
                  <a:srgbClr val="1F2A37"/>
                </a:solidFill>
                <a:latin typeface="Cambria"/>
              </a:rPr>
              <a:t> → </a:t>
            </a:r>
            <a:r>
              <a:rPr sz="1450" b="1">
                <a:solidFill>
                  <a:srgbClr val="EA580C"/>
                </a:solidFill>
                <a:latin typeface="Cambria"/>
              </a:rPr>
              <a:t>dbt</a:t>
            </a:r>
            <a:r>
              <a:rPr sz="1450" b="0">
                <a:solidFill>
                  <a:srgbClr val="1F2A37"/>
                </a:solidFill>
                <a:latin typeface="Cambria"/>
              </a:rPr>
              <a:t> dựng kho fact + dimension và các mart → đặc trưng ML → dashboard </a:t>
            </a:r>
            <a:r>
              <a:rPr sz="1450" b="1">
                <a:solidFill>
                  <a:srgbClr val="EA580C"/>
                </a:solidFill>
                <a:latin typeface="Cambria"/>
              </a:rPr>
              <a:t>FastAPI + React</a:t>
            </a:r>
            <a:r>
              <a:rPr sz="1450" b="0">
                <a:solidFill>
                  <a:srgbClr val="1F2A37"/>
                </a:solidFill>
                <a:latin typeface="Cambria"/>
              </a:rPr>
              <a:t>.</a:t>
            </a:r>
          </a:p>
          <a:p>
            <a:pPr algn="just">
              <a:lnSpc>
                <a:spcPct val="113000"/>
              </a:lnSpc>
              <a:spcAft>
                <a:spcPts val="900"/>
              </a:spcAft>
            </a:pPr>
            <a:r>
              <a:rPr sz="1450" b="1">
                <a:solidFill>
                  <a:srgbClr val="1F2A37"/>
                </a:solidFill>
                <a:latin typeface="Cambria"/>
              </a:rPr>
              <a:t>Luồng 2 — tác nghiệp (mô phỏng vận hành):</a:t>
            </a:r>
            <a:r>
              <a:rPr sz="1450" b="0">
                <a:solidFill>
                  <a:srgbClr val="1F2A37"/>
                </a:solidFill>
                <a:latin typeface="Cambria"/>
              </a:rPr>
              <a:t> </a:t>
            </a:r>
            <a:r>
              <a:rPr sz="1450" b="1">
                <a:solidFill>
                  <a:srgbClr val="EA580C"/>
                </a:solidFill>
                <a:latin typeface="Cambria"/>
              </a:rPr>
              <a:t>SQLite</a:t>
            </a:r>
            <a:r>
              <a:rPr sz="1450" b="0">
                <a:solidFill>
                  <a:srgbClr val="1F2A37"/>
                </a:solidFill>
                <a:latin typeface="Cambria"/>
              </a:rPr>
              <a:t> đóng vai nguồn giao dịch → CDC theo watermark (phần D) → góp vào cùng lake và staging. </a:t>
            </a:r>
            <a:r>
              <a:rPr sz="1450" b="1">
                <a:solidFill>
                  <a:srgbClr val="EA580C"/>
                </a:solidFill>
                <a:latin typeface="Cambria"/>
              </a:rPr>
              <a:t>Airflow</a:t>
            </a:r>
            <a:r>
              <a:rPr sz="1450" b="0">
                <a:solidFill>
                  <a:srgbClr val="1F2A37"/>
                </a:solidFill>
                <a:latin typeface="Cambria"/>
              </a:rPr>
              <a:t> điều phối cả hai luồng theo lịch, </a:t>
            </a:r>
            <a:r>
              <a:rPr sz="1450" b="1">
                <a:solidFill>
                  <a:srgbClr val="EA580C"/>
                </a:solidFill>
                <a:latin typeface="Cambria"/>
              </a:rPr>
              <a:t>Docker</a:t>
            </a:r>
            <a:r>
              <a:rPr sz="1450" b="0">
                <a:solidFill>
                  <a:srgbClr val="1F2A37"/>
                </a:solidFill>
                <a:latin typeface="Cambria"/>
              </a:rPr>
              <a:t> đóng gói hạ tầng để chạy lại được y hệt.</a:t>
            </a:r>
          </a:p>
        </p:txBody>
      </p:sp>
      <p:sp>
        <p:nvSpPr>
          <p:cNvPr id="5" name="Rounded Rectangle 4"/>
          <p:cNvSpPr/>
          <p:nvPr/>
        </p:nvSpPr>
        <p:spPr>
          <a:xfrm>
            <a:off x="548640" y="2395728"/>
            <a:ext cx="2103120" cy="292608"/>
          </a:xfrm>
          <a:prstGeom prst="roundRect">
            <a:avLst>
              <a:gd name="adj" fmla="val 50000"/>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LUỒNG 1 · BATCH</a:t>
            </a:r>
          </a:p>
        </p:txBody>
      </p:sp>
      <p:sp>
        <p:nvSpPr>
          <p:cNvPr id="6" name="Rounded Rectangle 5"/>
          <p:cNvSpPr/>
          <p:nvPr/>
        </p:nvSpPr>
        <p:spPr>
          <a:xfrm>
            <a:off x="548640" y="2798064"/>
            <a:ext cx="1591056" cy="402336"/>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Nguồn batch</a:t>
            </a:r>
          </a:p>
        </p:txBody>
      </p:sp>
      <p:sp>
        <p:nvSpPr>
          <p:cNvPr id="7" name="TextBox 6"/>
          <p:cNvSpPr txBox="1"/>
          <p:nvPr/>
        </p:nvSpPr>
        <p:spPr>
          <a:xfrm>
            <a:off x="548640"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UCI CSV · Open-Meteo</a:t>
            </a:r>
          </a:p>
        </p:txBody>
      </p:sp>
      <p:sp>
        <p:nvSpPr>
          <p:cNvPr id="8" name="TextBox 7"/>
          <p:cNvSpPr txBox="1"/>
          <p:nvPr/>
        </p:nvSpPr>
        <p:spPr>
          <a:xfrm>
            <a:off x="2139696" y="2816352"/>
            <a:ext cx="256032"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9" name="Rounded Rectangle 8"/>
          <p:cNvSpPr/>
          <p:nvPr/>
        </p:nvSpPr>
        <p:spPr>
          <a:xfrm>
            <a:off x="2395728" y="2798064"/>
            <a:ext cx="1591056" cy="40233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Data lake</a:t>
            </a:r>
          </a:p>
        </p:txBody>
      </p:sp>
      <p:sp>
        <p:nvSpPr>
          <p:cNvPr id="10" name="TextBox 9"/>
          <p:cNvSpPr txBox="1"/>
          <p:nvPr/>
        </p:nvSpPr>
        <p:spPr>
          <a:xfrm>
            <a:off x="2395728"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MinIO · raw + Parquet</a:t>
            </a:r>
          </a:p>
        </p:txBody>
      </p:sp>
      <p:sp>
        <p:nvSpPr>
          <p:cNvPr id="11" name="TextBox 10"/>
          <p:cNvSpPr txBox="1"/>
          <p:nvPr/>
        </p:nvSpPr>
        <p:spPr>
          <a:xfrm>
            <a:off x="3986784" y="2816352"/>
            <a:ext cx="256032"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12" name="Rounded Rectangle 11"/>
          <p:cNvSpPr/>
          <p:nvPr/>
        </p:nvSpPr>
        <p:spPr>
          <a:xfrm>
            <a:off x="4242816" y="2798064"/>
            <a:ext cx="1591056" cy="40233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Staging</a:t>
            </a:r>
          </a:p>
        </p:txBody>
      </p:sp>
      <p:sp>
        <p:nvSpPr>
          <p:cNvPr id="13" name="TextBox 12"/>
          <p:cNvSpPr txBox="1"/>
          <p:nvPr/>
        </p:nvSpPr>
        <p:spPr>
          <a:xfrm>
            <a:off x="4242816"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PostgreSQL · đối soát</a:t>
            </a:r>
          </a:p>
        </p:txBody>
      </p:sp>
      <p:sp>
        <p:nvSpPr>
          <p:cNvPr id="14" name="TextBox 13"/>
          <p:cNvSpPr txBox="1"/>
          <p:nvPr/>
        </p:nvSpPr>
        <p:spPr>
          <a:xfrm>
            <a:off x="5833872" y="2816352"/>
            <a:ext cx="256032"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15" name="Rounded Rectangle 14"/>
          <p:cNvSpPr/>
          <p:nvPr/>
        </p:nvSpPr>
        <p:spPr>
          <a:xfrm>
            <a:off x="6089904" y="2798064"/>
            <a:ext cx="1591056"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Kho — dbt</a:t>
            </a:r>
          </a:p>
        </p:txBody>
      </p:sp>
      <p:sp>
        <p:nvSpPr>
          <p:cNvPr id="16" name="TextBox 15"/>
          <p:cNvSpPr txBox="1"/>
          <p:nvPr/>
        </p:nvSpPr>
        <p:spPr>
          <a:xfrm>
            <a:off x="6089904"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fact + 4 chiều</a:t>
            </a:r>
          </a:p>
        </p:txBody>
      </p:sp>
      <p:sp>
        <p:nvSpPr>
          <p:cNvPr id="17" name="TextBox 16"/>
          <p:cNvSpPr txBox="1"/>
          <p:nvPr/>
        </p:nvSpPr>
        <p:spPr>
          <a:xfrm>
            <a:off x="7680960" y="2816352"/>
            <a:ext cx="256032"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18" name="Rounded Rectangle 17"/>
          <p:cNvSpPr/>
          <p:nvPr/>
        </p:nvSpPr>
        <p:spPr>
          <a:xfrm>
            <a:off x="7936992" y="2798064"/>
            <a:ext cx="1591056" cy="40233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Mart &amp; khối</a:t>
            </a:r>
          </a:p>
        </p:txBody>
      </p:sp>
      <p:sp>
        <p:nvSpPr>
          <p:cNvPr id="19" name="TextBox 18"/>
          <p:cNvSpPr txBox="1"/>
          <p:nvPr/>
        </p:nvSpPr>
        <p:spPr>
          <a:xfrm>
            <a:off x="7936992"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OLAP · báo cáo</a:t>
            </a:r>
          </a:p>
        </p:txBody>
      </p:sp>
      <p:sp>
        <p:nvSpPr>
          <p:cNvPr id="20" name="TextBox 19"/>
          <p:cNvSpPr txBox="1"/>
          <p:nvPr/>
        </p:nvSpPr>
        <p:spPr>
          <a:xfrm>
            <a:off x="9528048" y="2816352"/>
            <a:ext cx="256032"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21" name="Rounded Rectangle 20"/>
          <p:cNvSpPr/>
          <p:nvPr/>
        </p:nvSpPr>
        <p:spPr>
          <a:xfrm>
            <a:off x="9784080" y="2798064"/>
            <a:ext cx="1591056" cy="402336"/>
          </a:xfrm>
          <a:prstGeom prst="roundRect">
            <a:avLst>
              <a:gd name="adj" fmla="val 50000"/>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ML &amp; Dashboard</a:t>
            </a:r>
          </a:p>
        </p:txBody>
      </p:sp>
      <p:sp>
        <p:nvSpPr>
          <p:cNvPr id="22" name="TextBox 21"/>
          <p:cNvSpPr txBox="1"/>
          <p:nvPr/>
        </p:nvSpPr>
        <p:spPr>
          <a:xfrm>
            <a:off x="9784080" y="3255264"/>
            <a:ext cx="1591056" cy="502920"/>
          </a:xfrm>
          <a:prstGeom prst="rect">
            <a:avLst/>
          </a:prstGeom>
          <a:noFill/>
        </p:spPr>
        <p:txBody>
          <a:bodyPr wrap="square" anchor="t" lIns="27432" rIns="27432" tIns="0" bIns="0">
            <a:spAutoFit/>
          </a:bodyPr>
          <a:lstStyle/>
          <a:p>
            <a:pPr algn="ctr"/>
            <a:r>
              <a:rPr sz="1100" b="0" i="0">
                <a:solidFill>
                  <a:srgbClr val="64748B"/>
                </a:solidFill>
                <a:latin typeface="Calibri"/>
              </a:rPr>
              <a:t>FastAPI + React</a:t>
            </a:r>
          </a:p>
        </p:txBody>
      </p:sp>
      <p:sp>
        <p:nvSpPr>
          <p:cNvPr id="23" name="Rounded Rectangle 22"/>
          <p:cNvSpPr/>
          <p:nvPr/>
        </p:nvSpPr>
        <p:spPr>
          <a:xfrm>
            <a:off x="548640" y="3950208"/>
            <a:ext cx="2377440" cy="29260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LUỒNG 2 · TÁC NGHIỆP</a:t>
            </a:r>
          </a:p>
        </p:txBody>
      </p:sp>
      <p:sp>
        <p:nvSpPr>
          <p:cNvPr id="24" name="Rounded Rectangle 23"/>
          <p:cNvSpPr/>
          <p:nvPr/>
        </p:nvSpPr>
        <p:spPr>
          <a:xfrm>
            <a:off x="548640" y="4352544"/>
            <a:ext cx="2048256" cy="402336"/>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SQLite — tác nghiệp</a:t>
            </a:r>
          </a:p>
        </p:txBody>
      </p:sp>
      <p:sp>
        <p:nvSpPr>
          <p:cNvPr id="25" name="TextBox 24"/>
          <p:cNvSpPr txBox="1"/>
          <p:nvPr/>
        </p:nvSpPr>
        <p:spPr>
          <a:xfrm>
            <a:off x="2596896" y="4370832"/>
            <a:ext cx="237744"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26" name="Rounded Rectangle 25"/>
          <p:cNvSpPr/>
          <p:nvPr/>
        </p:nvSpPr>
        <p:spPr>
          <a:xfrm>
            <a:off x="2834640" y="4352544"/>
            <a:ext cx="2048256" cy="402336"/>
          </a:xfrm>
          <a:prstGeom prst="roundRect">
            <a:avLst>
              <a:gd name="adj" fmla="val 50000"/>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CDC theo watermark</a:t>
            </a:r>
          </a:p>
        </p:txBody>
      </p:sp>
      <p:sp>
        <p:nvSpPr>
          <p:cNvPr id="27" name="TextBox 26"/>
          <p:cNvSpPr txBox="1"/>
          <p:nvPr/>
        </p:nvSpPr>
        <p:spPr>
          <a:xfrm>
            <a:off x="4882896" y="4370832"/>
            <a:ext cx="237744" cy="365760"/>
          </a:xfrm>
          <a:prstGeom prst="rect">
            <a:avLst/>
          </a:prstGeom>
          <a:noFill/>
        </p:spPr>
        <p:txBody>
          <a:bodyPr wrap="square" anchor="t" lIns="27432" rIns="27432" tIns="0" bIns="0">
            <a:spAutoFit/>
          </a:bodyPr>
          <a:lstStyle/>
          <a:p>
            <a:pPr algn="ctr"/>
            <a:r>
              <a:rPr sz="1500" b="1" i="0">
                <a:solidFill>
                  <a:srgbClr val="64748B"/>
                </a:solidFill>
                <a:latin typeface="Calibri"/>
              </a:rPr>
              <a:t>→</a:t>
            </a:r>
          </a:p>
        </p:txBody>
      </p:sp>
      <p:sp>
        <p:nvSpPr>
          <p:cNvPr id="28" name="Rounded Rectangle 27"/>
          <p:cNvSpPr/>
          <p:nvPr/>
        </p:nvSpPr>
        <p:spPr>
          <a:xfrm>
            <a:off x="5120640" y="4352544"/>
            <a:ext cx="2048256" cy="40233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lake → staging (upsert)</a:t>
            </a:r>
          </a:p>
        </p:txBody>
      </p:sp>
      <p:sp>
        <p:nvSpPr>
          <p:cNvPr id="29" name="TextBox 28"/>
          <p:cNvSpPr txBox="1"/>
          <p:nvPr/>
        </p:nvSpPr>
        <p:spPr>
          <a:xfrm>
            <a:off x="548640" y="5029200"/>
            <a:ext cx="10972800" cy="365760"/>
          </a:xfrm>
          <a:prstGeom prst="rect">
            <a:avLst/>
          </a:prstGeom>
          <a:noFill/>
        </p:spPr>
        <p:txBody>
          <a:bodyPr wrap="square" anchor="t" lIns="27432" rIns="27432" tIns="0" bIns="0">
            <a:spAutoFit/>
          </a:bodyPr>
          <a:lstStyle/>
          <a:p>
            <a:pPr algn="l"/>
            <a:r>
              <a:rPr sz="1350" b="0" i="1">
                <a:solidFill>
                  <a:srgbClr val="64748B"/>
                </a:solidFill>
                <a:latin typeface="Cambria"/>
              </a:rPr>
              <a:t>Airflow điều phối cả hai luồng · Docker đóng gói hạ tầng · mọi bước idempotent.</a:t>
            </a:r>
          </a:p>
        </p:txBody>
      </p:sp>
      <p:sp>
        <p:nvSpPr>
          <p:cNvPr id="30" name="Rectangle 29"/>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32" name="TextBox 31"/>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Mọi dữ liệu đều đi qua lake → staging → kho → mart; không có đường tắt thẳng vào kho.</a:t>
            </a:r>
          </a:p>
        </p:txBody>
      </p:sp>
      <p:sp>
        <p:nvSpPr>
          <p:cNvPr id="33" name="TextBox 32"/>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11 / 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KIẾN TRÚC</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Mỗi lớp một việc — không phải tất cả đều là database</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Câu hỏi bẫy kinh điển: “4 công cụ kia đều là database à?”. Không — mỗi công cụ một loại: </a:t>
            </a:r>
            <a:r>
              <a:rPr sz="1450" b="1">
                <a:solidFill>
                  <a:srgbClr val="EA580C"/>
                </a:solidFill>
                <a:latin typeface="Cambria"/>
              </a:rPr>
              <a:t>MinIO</a:t>
            </a:r>
            <a:r>
              <a:rPr sz="1450" b="0">
                <a:solidFill>
                  <a:srgbClr val="1F2A37"/>
                </a:solidFill>
                <a:latin typeface="Cambria"/>
              </a:rPr>
              <a:t> là </a:t>
            </a:r>
            <a:r>
              <a:rPr sz="1450" b="1">
                <a:solidFill>
                  <a:srgbClr val="1F2A37"/>
                </a:solidFill>
                <a:latin typeface="Cambria"/>
              </a:rPr>
              <a:t>object storage</a:t>
            </a:r>
            <a:r>
              <a:rPr sz="1450" b="0">
                <a:solidFill>
                  <a:srgbClr val="1F2A37"/>
                </a:solidFill>
                <a:latin typeface="Cambria"/>
              </a:rPr>
              <a:t> (giữ file thô nguyên vẹn, không phải RDBMS); </a:t>
            </a:r>
            <a:r>
              <a:rPr sz="1450" b="1">
                <a:solidFill>
                  <a:srgbClr val="EA580C"/>
                </a:solidFill>
                <a:latin typeface="Cambria"/>
              </a:rPr>
              <a:t>PostgreSQL</a:t>
            </a:r>
            <a:r>
              <a:rPr sz="1450" b="0">
                <a:solidFill>
                  <a:srgbClr val="1F2A37"/>
                </a:solidFill>
                <a:latin typeface="Cambria"/>
              </a:rPr>
              <a:t> mới là RDBMS, giữ staging lẫn kho; </a:t>
            </a:r>
            <a:r>
              <a:rPr sz="1450" b="1">
                <a:solidFill>
                  <a:srgbClr val="EA580C"/>
                </a:solidFill>
                <a:latin typeface="Cambria"/>
              </a:rPr>
              <a:t>dbt</a:t>
            </a:r>
            <a:r>
              <a:rPr sz="1450" b="0">
                <a:solidFill>
                  <a:srgbClr val="1F2A37"/>
                </a:solidFill>
                <a:latin typeface="Cambria"/>
              </a:rPr>
              <a:t> là khung viết SQL biến đổi dữ liệu </a:t>
            </a:r>
            <a:r>
              <a:rPr sz="1450" b="1">
                <a:solidFill>
                  <a:srgbClr val="1F2A37"/>
                </a:solidFill>
                <a:latin typeface="Cambria"/>
              </a:rPr>
              <a:t>sau khi nạp</a:t>
            </a:r>
            <a:r>
              <a:rPr sz="1450" b="0">
                <a:solidFill>
                  <a:srgbClr val="1F2A37"/>
                </a:solidFill>
                <a:latin typeface="Cambria"/>
              </a:rPr>
              <a:t> (triết lý ELT); </a:t>
            </a:r>
            <a:r>
              <a:rPr sz="1450" b="1">
                <a:solidFill>
                  <a:srgbClr val="EA580C"/>
                </a:solidFill>
                <a:latin typeface="Cambria"/>
              </a:rPr>
              <a:t>Airflow</a:t>
            </a:r>
            <a:r>
              <a:rPr sz="1450" b="0">
                <a:solidFill>
                  <a:srgbClr val="1F2A37"/>
                </a:solidFill>
                <a:latin typeface="Cambria"/>
              </a:rPr>
              <a:t> là bộ điều phối — chạy việc gì, theo lịch nào.</a:t>
            </a:r>
          </a:p>
          <a:p>
            <a:pPr algn="just">
              <a:lnSpc>
                <a:spcPct val="113000"/>
              </a:lnSpc>
              <a:spcAft>
                <a:spcPts val="900"/>
              </a:spcAft>
            </a:pPr>
            <a:r>
              <a:rPr sz="1450" b="0">
                <a:solidFill>
                  <a:srgbClr val="1F2A37"/>
                </a:solidFill>
                <a:latin typeface="Cambria"/>
              </a:rPr>
              <a:t>Bốn “vùng” cũng khác nhau: </a:t>
            </a:r>
            <a:r>
              <a:rPr sz="1450" b="1">
                <a:solidFill>
                  <a:srgbClr val="1F2A37"/>
                </a:solidFill>
                <a:latin typeface="Cambria"/>
              </a:rPr>
              <a:t>lake</a:t>
            </a:r>
            <a:r>
              <a:rPr sz="1450" b="0">
                <a:solidFill>
                  <a:srgbClr val="1F2A37"/>
                </a:solidFill>
                <a:latin typeface="Cambria"/>
              </a:rPr>
              <a:t> giữ bản gốc bất biến (khi phát hiện lỗi, quay về gốc nạp lại — kho dựng lại từ lake bất cứ lúc nào); </a:t>
            </a:r>
            <a:r>
              <a:rPr sz="1450" b="1">
                <a:solidFill>
                  <a:srgbClr val="1F2A37"/>
                </a:solidFill>
                <a:latin typeface="Cambria"/>
              </a:rPr>
              <a:t>staging</a:t>
            </a:r>
            <a:r>
              <a:rPr sz="1450" b="0">
                <a:solidFill>
                  <a:srgbClr val="1F2A37"/>
                </a:solidFill>
                <a:latin typeface="Cambria"/>
              </a:rPr>
              <a:t> tiếp nhận có cấu trúc để đối soát nguồn trước khi tin; </a:t>
            </a:r>
            <a:r>
              <a:rPr sz="1450" b="1">
                <a:solidFill>
                  <a:srgbClr val="1F2A37"/>
                </a:solidFill>
                <a:latin typeface="Cambria"/>
              </a:rPr>
              <a:t>kho (DWH)</a:t>
            </a:r>
            <a:r>
              <a:rPr sz="1450" b="0">
                <a:solidFill>
                  <a:srgbClr val="1F2A37"/>
                </a:solidFill>
                <a:latin typeface="Cambria"/>
              </a:rPr>
              <a:t> tổ chức fact + dimension cho phân tích; </a:t>
            </a:r>
            <a:r>
              <a:rPr sz="1450" b="1">
                <a:solidFill>
                  <a:srgbClr val="1F2A37"/>
                </a:solidFill>
                <a:latin typeface="Cambria"/>
              </a:rPr>
              <a:t>mart</a:t>
            </a:r>
            <a:r>
              <a:rPr sz="1450" b="0">
                <a:solidFill>
                  <a:srgbClr val="1F2A37"/>
                </a:solidFill>
                <a:latin typeface="Cambria"/>
              </a:rPr>
              <a:t> là tập con phục vụ đúng một nhu cầu.</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X LÀ GÌ?</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MinIO  </a:t>
            </a:r>
            <a:r>
              <a:rPr sz="1250" b="0">
                <a:solidFill>
                  <a:srgbClr val="1F2A37"/>
                </a:solidFill>
                <a:latin typeface="Calibri"/>
              </a:rPr>
              <a:t>object storage — kho file thô, </a:t>
            </a:r>
            <a:r>
              <a:rPr sz="1250" b="1">
                <a:solidFill>
                  <a:srgbClr val="EA580C"/>
                </a:solidFill>
                <a:latin typeface="Calibri"/>
              </a:rPr>
              <a:t>không phải RDBMS</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PostgreSQL  </a:t>
            </a:r>
            <a:r>
              <a:rPr sz="1250" b="0">
                <a:solidFill>
                  <a:srgbClr val="1F2A37"/>
                </a:solidFill>
                <a:latin typeface="Calibri"/>
              </a:rPr>
              <a:t>RDBMS — giữ staging và kho (fact + chiều)</a:t>
            </a:r>
          </a:p>
        </p:txBody>
      </p:sp>
      <p:sp>
        <p:nvSpPr>
          <p:cNvPr id="9" name="TextBox 8"/>
          <p:cNvSpPr txBox="1"/>
          <p:nvPr/>
        </p:nvSpPr>
        <p:spPr>
          <a:xfrm>
            <a:off x="7543800" y="30906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dbt  </a:t>
            </a:r>
            <a:r>
              <a:rPr sz="1250" b="0">
                <a:solidFill>
                  <a:srgbClr val="1F2A37"/>
                </a:solidFill>
                <a:latin typeface="Calibri"/>
              </a:rPr>
              <a:t>khung SQL biến đổi SAU khi nạp (ELT)</a:t>
            </a:r>
          </a:p>
        </p:txBody>
      </p:sp>
      <p:sp>
        <p:nvSpPr>
          <p:cNvPr id="10" name="TextBox 9"/>
          <p:cNvSpPr txBox="1"/>
          <p:nvPr/>
        </p:nvSpPr>
        <p:spPr>
          <a:xfrm>
            <a:off x="7543800" y="369417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Airflow  </a:t>
            </a:r>
            <a:r>
              <a:rPr sz="1250" b="0">
                <a:solidFill>
                  <a:srgbClr val="1F2A37"/>
                </a:solidFill>
                <a:latin typeface="Calibri"/>
              </a:rPr>
              <a:t>điều phối — việc gì chạy theo lịch nào</a:t>
            </a:r>
          </a:p>
        </p:txBody>
      </p:sp>
      <p:sp>
        <p:nvSpPr>
          <p:cNvPr id="11" name="TextBox 10"/>
          <p:cNvSpPr txBox="1"/>
          <p:nvPr/>
        </p:nvSpPr>
        <p:spPr>
          <a:xfrm>
            <a:off x="7543800" y="4297680"/>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FastAPI + React  </a:t>
            </a:r>
            <a:r>
              <a:rPr sz="1250" b="0">
                <a:solidFill>
                  <a:srgbClr val="1F2A37"/>
                </a:solidFill>
                <a:latin typeface="Calibri"/>
              </a:rPr>
              <a:t>backend + frontend dashboard</a:t>
            </a:r>
          </a:p>
        </p:txBody>
      </p:sp>
      <p:sp>
        <p:nvSpPr>
          <p:cNvPr id="12" name="Rounded Rectangle 11"/>
          <p:cNvSpPr/>
          <p:nvPr/>
        </p:nvSpPr>
        <p:spPr>
          <a:xfrm>
            <a:off x="7543800" y="4992624"/>
            <a:ext cx="3867912" cy="1225296"/>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511149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BỐN VÙNG</a:t>
            </a:r>
          </a:p>
        </p:txBody>
      </p:sp>
      <p:sp>
        <p:nvSpPr>
          <p:cNvPr id="14" name="TextBox 13"/>
          <p:cNvSpPr txBox="1"/>
          <p:nvPr/>
        </p:nvSpPr>
        <p:spPr>
          <a:xfrm>
            <a:off x="7708392" y="5422392"/>
            <a:ext cx="3538728" cy="722376"/>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lake = giữ gốc · staging = đối soát</a:t>
            </a:r>
          </a:p>
          <a:p>
            <a:pPr>
              <a:lnSpc>
                <a:spcPct val="108000"/>
              </a:lnSpc>
              <a:spcAft>
                <a:spcPts val="300"/>
              </a:spcAft>
            </a:pPr>
            <a:r>
              <a:rPr sz="1200" b="0">
                <a:solidFill>
                  <a:srgbClr val="1F2A37"/>
                </a:solidFill>
                <a:latin typeface="Calibri"/>
              </a:rPr>
              <a:t>kho = phân tích · mart = phục vụ một nhu cầu</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Lake = giữ gốc · staging = tiếp nhận &amp; đối soát · kho = phân tích (fact/dim) · mart = phục vụ một nhu cầu.</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12 / 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KIẾN TRÚC</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Tái lập bằng một lệnh — vì sao đó là lời cam kết</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Cả hệ thống chạy lại từ đầu bằng đúng một lệnh: </a:t>
            </a:r>
            <a:r>
              <a:rPr sz="1450" b="1">
                <a:solidFill>
                  <a:srgbClr val="EA580C"/>
                </a:solidFill>
                <a:latin typeface="Cambria"/>
              </a:rPr>
              <a:t>python scripts/run_all.py</a:t>
            </a:r>
            <a:r>
              <a:rPr sz="1450" b="0">
                <a:solidFill>
                  <a:srgbClr val="1F2A37"/>
                </a:solidFill>
                <a:latin typeface="Cambria"/>
              </a:rPr>
              <a:t> — </a:t>
            </a:r>
            <a:r>
              <a:rPr sz="1450" b="1">
                <a:solidFill>
                  <a:srgbClr val="EA580C"/>
                </a:solidFill>
                <a:latin typeface="Cambria"/>
              </a:rPr>
              <a:t>14 bước</a:t>
            </a:r>
            <a:r>
              <a:rPr sz="1450" b="0">
                <a:solidFill>
                  <a:srgbClr val="1F2A37"/>
                </a:solidFill>
                <a:latin typeface="Cambria"/>
              </a:rPr>
              <a:t>, từ trạng thái trống tới dashboard mất </a:t>
            </a:r>
            <a:r>
              <a:rPr sz="1450" b="1">
                <a:solidFill>
                  <a:srgbClr val="EA580C"/>
                </a:solidFill>
                <a:latin typeface="Cambria"/>
              </a:rPr>
              <a:t>11,2 phút</a:t>
            </a:r>
            <a:r>
              <a:rPr sz="1450" b="0">
                <a:solidFill>
                  <a:srgbClr val="1F2A37"/>
                </a:solidFill>
                <a:latin typeface="Cambria"/>
              </a:rPr>
              <a:t>. Mọi bước </a:t>
            </a:r>
            <a:r>
              <a:rPr sz="1450" b="1">
                <a:solidFill>
                  <a:srgbClr val="1F2A37"/>
                </a:solidFill>
                <a:latin typeface="Cambria"/>
              </a:rPr>
              <a:t>idempotent</a:t>
            </a:r>
            <a:r>
              <a:rPr sz="1450" b="0">
                <a:solidFill>
                  <a:srgbClr val="1F2A37"/>
                </a:solidFill>
                <a:latin typeface="Cambria"/>
              </a:rPr>
              <a:t> (chạy lặp lại không đổi kết quả): nạp theo khóa grain + có sổ đăng ký từng batch (chi tiết phần D), nên chạy lại không nhân đôi dữ liệu.</a:t>
            </a:r>
          </a:p>
          <a:p>
            <a:pPr algn="just">
              <a:lnSpc>
                <a:spcPct val="113000"/>
              </a:lnSpc>
              <a:spcAft>
                <a:spcPts val="900"/>
              </a:spcAft>
            </a:pPr>
            <a:r>
              <a:rPr sz="1450" b="0">
                <a:solidFill>
                  <a:srgbClr val="1F2A37"/>
                </a:solidFill>
                <a:latin typeface="Cambria"/>
              </a:rPr>
              <a:t>Ý nghĩa lớn hơn mặt kỹ thuật: mọi kết quả trong bài — F1 của mô hình, 24.759 ô khối kiểm chứng, các biểu đồ — </a:t>
            </a:r>
            <a:r>
              <a:rPr sz="1450" b="1">
                <a:solidFill>
                  <a:srgbClr val="1F2A37"/>
                </a:solidFill>
                <a:latin typeface="Cambria"/>
              </a:rPr>
              <a:t>ai cũng tạo lại được như hệt</a:t>
            </a:r>
            <a:r>
              <a:rPr sz="1450" b="0">
                <a:solidFill>
                  <a:srgbClr val="1F2A37"/>
                </a:solidFill>
                <a:latin typeface="Cambria"/>
              </a:rPr>
              <a:t>. Nó biến các con số từ “tôi chạy được đấy” thành </a:t>
            </a:r>
            <a:r>
              <a:rPr sz="1450" b="1">
                <a:solidFill>
                  <a:srgbClr val="1F2A37"/>
                </a:solidFill>
                <a:latin typeface="Cambria"/>
              </a:rPr>
              <a:t>bằng chứng kiểm chứng được</a:t>
            </a:r>
            <a:r>
              <a:rPr sz="1450" b="0">
                <a:solidFill>
                  <a:srgbClr val="1F2A37"/>
                </a:solidFill>
                <a:latin typeface="Cambria"/>
              </a:rPr>
              <a:t>; và cũng là công cụ ôn tốt nhất: muốn biết số nào đến từ đâu, mở script tương ứng đọc.</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MỘT LỆNH — TOÀN HỆ THỐNG</a:t>
            </a:r>
          </a:p>
        </p:txBody>
      </p:sp>
      <p:sp>
        <p:nvSpPr>
          <p:cNvPr id="7" name="Rounded Rectangle 6"/>
          <p:cNvSpPr/>
          <p:nvPr/>
        </p:nvSpPr>
        <p:spPr>
          <a:xfrm>
            <a:off x="7543800" y="1883664"/>
            <a:ext cx="3867912" cy="457200"/>
          </a:xfrm>
          <a:prstGeom prst="roundRect">
            <a:avLst>
              <a:gd name="adj" fmla="val 50000"/>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300" b="1">
                <a:solidFill>
                  <a:srgbClr val="FFFFFF"/>
                </a:solidFill>
                <a:latin typeface="Courier New"/>
              </a:rPr>
              <a:t>python scripts/run_all.py</a:t>
            </a:r>
          </a:p>
        </p:txBody>
      </p:sp>
      <p:sp>
        <p:nvSpPr>
          <p:cNvPr id="8" name="TextBox 7"/>
          <p:cNvSpPr txBox="1"/>
          <p:nvPr/>
        </p:nvSpPr>
        <p:spPr>
          <a:xfrm>
            <a:off x="7543800" y="2542032"/>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14 bước</a:t>
            </a:r>
          </a:p>
        </p:txBody>
      </p:sp>
      <p:sp>
        <p:nvSpPr>
          <p:cNvPr id="9" name="TextBox 8"/>
          <p:cNvSpPr txBox="1"/>
          <p:nvPr/>
        </p:nvSpPr>
        <p:spPr>
          <a:xfrm>
            <a:off x="7543800" y="3110483"/>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thu thập → làm sạch → kho → ML → dashboard</a:t>
            </a:r>
          </a:p>
        </p:txBody>
      </p:sp>
      <p:sp>
        <p:nvSpPr>
          <p:cNvPr id="10" name="Rectangle 9"/>
          <p:cNvSpPr/>
          <p:nvPr/>
        </p:nvSpPr>
        <p:spPr>
          <a:xfrm>
            <a:off x="7543800" y="3348227"/>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3457955"/>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11,2 phút</a:t>
            </a:r>
          </a:p>
        </p:txBody>
      </p:sp>
      <p:sp>
        <p:nvSpPr>
          <p:cNvPr id="12" name="TextBox 11"/>
          <p:cNvSpPr txBox="1"/>
          <p:nvPr/>
        </p:nvSpPr>
        <p:spPr>
          <a:xfrm>
            <a:off x="7543800" y="402640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chạy lại từ trạng thái trống</a:t>
            </a:r>
          </a:p>
        </p:txBody>
      </p:sp>
      <p:sp>
        <p:nvSpPr>
          <p:cNvPr id="13" name="Rectangle 12"/>
          <p:cNvSpPr/>
          <p:nvPr/>
        </p:nvSpPr>
        <p:spPr>
          <a:xfrm>
            <a:off x="7543800" y="4264150"/>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43800" y="4392166"/>
            <a:ext cx="3867912"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idempotent ✓ chạy lại không nhân đôi</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run_all.py: 14 bước · 11,2 phút từ trống · idempotent — mọi con số trong bài đều tái lập được.</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13 / 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A · CHỐT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Nếu chỉ nhớ 5 điều về phần A</a:t>
            </a:r>
          </a:p>
        </p:txBody>
      </p:sp>
      <p:sp>
        <p:nvSpPr>
          <p:cNvPr id="4" name="Oval 3"/>
          <p:cNvSpPr/>
          <p:nvPr/>
        </p:nvSpPr>
        <p:spPr>
          <a:xfrm>
            <a:off x="548640" y="153619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170432" y="151790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Câu hỏi nghiệp vụ: </a:t>
            </a:r>
            <a:r>
              <a:rPr sz="1550" b="0">
                <a:solidFill>
                  <a:srgbClr val="1F2A37"/>
                </a:solidFill>
                <a:latin typeface="Cambria"/>
              </a:rPr>
              <a:t>giờ tới trạm này có ≥ 115 µg/m³ không — cảnh báo trước khi xảy ra, thay cho cách báo trễ 1 giờ.</a:t>
            </a:r>
          </a:p>
        </p:txBody>
      </p:sp>
      <p:sp>
        <p:nvSpPr>
          <p:cNvPr id="6" name="Oval 5"/>
          <p:cNvSpPr/>
          <p:nvPr/>
        </p:nvSpPr>
        <p:spPr>
          <a:xfrm>
            <a:off x="548640" y="235915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7" name="TextBox 6"/>
          <p:cNvSpPr txBox="1"/>
          <p:nvPr/>
        </p:nvSpPr>
        <p:spPr>
          <a:xfrm>
            <a:off x="1170432" y="234086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Dữ liệu: </a:t>
            </a:r>
            <a:r>
              <a:rPr sz="1550" b="0">
                <a:solidFill>
                  <a:srgbClr val="1F2A37"/>
                </a:solidFill>
                <a:latin typeface="Cambria"/>
              </a:rPr>
              <a:t>UCI #501 — </a:t>
            </a:r>
            <a:r>
              <a:rPr sz="1550" b="1">
                <a:solidFill>
                  <a:srgbClr val="EA580C"/>
                </a:solidFill>
                <a:latin typeface="Cambria"/>
              </a:rPr>
              <a:t>420.768</a:t>
            </a:r>
            <a:r>
              <a:rPr sz="1550" b="0">
                <a:solidFill>
                  <a:srgbClr val="1F2A37"/>
                </a:solidFill>
                <a:latin typeface="Cambria"/>
              </a:rPr>
              <a:t> dòng trạm×giờ, 12 trạm, 03/2013–02/2017; Open-Meteo lấp thiếu thời tiết, UCI ưu tiên, ghi nguồn từng ô.</a:t>
            </a:r>
          </a:p>
        </p:txBody>
      </p:sp>
      <p:sp>
        <p:nvSpPr>
          <p:cNvPr id="8" name="Oval 7"/>
          <p:cNvSpPr/>
          <p:nvPr/>
        </p:nvSpPr>
        <p:spPr>
          <a:xfrm>
            <a:off x="548640" y="318211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9" name="TextBox 8"/>
          <p:cNvSpPr txBox="1"/>
          <p:nvPr/>
        </p:nvSpPr>
        <p:spPr>
          <a:xfrm>
            <a:off x="1170432" y="316382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Làm sạch: </a:t>
            </a:r>
            <a:r>
              <a:rPr sz="1550" b="0">
                <a:solidFill>
                  <a:srgbClr val="1F2A37"/>
                </a:solidFill>
                <a:latin typeface="Cambria"/>
              </a:rPr>
              <a:t>chuỗi thiếu dài 343–1.517 giờ giữ NULL + cờ; 60 dòng trần giữ + cờ SUSPECT_CAP; median chỉ tính trên train.</a:t>
            </a:r>
          </a:p>
        </p:txBody>
      </p:sp>
      <p:sp>
        <p:nvSpPr>
          <p:cNvPr id="10" name="Oval 9"/>
          <p:cNvSpPr/>
          <p:nvPr/>
        </p:nvSpPr>
        <p:spPr>
          <a:xfrm>
            <a:off x="548640" y="400507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1" name="TextBox 10"/>
          <p:cNvSpPr txBox="1"/>
          <p:nvPr/>
        </p:nvSpPr>
        <p:spPr>
          <a:xfrm>
            <a:off x="1170432" y="398678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Kiến trúc: </a:t>
            </a:r>
            <a:r>
              <a:rPr sz="1550" b="0">
                <a:solidFill>
                  <a:srgbClr val="1F2A37"/>
                </a:solidFill>
                <a:latin typeface="Cambria"/>
              </a:rPr>
              <a:t>hai luồng (batch + CDC) → MinIO lake → staging → dbt dựng kho → mart → ML → dashboard; Airflow điều phối, Docker đóng gói.</a:t>
            </a:r>
          </a:p>
        </p:txBody>
      </p:sp>
      <p:sp>
        <p:nvSpPr>
          <p:cNvPr id="12" name="Oval 11"/>
          <p:cNvSpPr/>
          <p:nvPr/>
        </p:nvSpPr>
        <p:spPr>
          <a:xfrm>
            <a:off x="548640" y="482803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3" name="TextBox 12"/>
          <p:cNvSpPr txBox="1"/>
          <p:nvPr/>
        </p:nvSpPr>
        <p:spPr>
          <a:xfrm>
            <a:off x="1170432" y="480974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Tái lập: </a:t>
            </a:r>
            <a:r>
              <a:rPr sz="1550" b="1">
                <a:solidFill>
                  <a:srgbClr val="EA580C"/>
                </a:solidFill>
                <a:latin typeface="Cambria"/>
              </a:rPr>
              <a:t>run_all.py</a:t>
            </a:r>
            <a:r>
              <a:rPr sz="1550" b="0">
                <a:solidFill>
                  <a:srgbClr val="1F2A37"/>
                </a:solidFill>
                <a:latin typeface="Cambria"/>
              </a:rPr>
              <a:t> — 14 bước, </a:t>
            </a:r>
            <a:r>
              <a:rPr sz="1550" b="1">
                <a:solidFill>
                  <a:srgbClr val="EA580C"/>
                </a:solidFill>
                <a:latin typeface="Cambria"/>
              </a:rPr>
              <a:t>11,2 phút</a:t>
            </a:r>
            <a:r>
              <a:rPr sz="1550" b="0">
                <a:solidFill>
                  <a:srgbClr val="1F2A37"/>
                </a:solidFill>
                <a:latin typeface="Cambria"/>
              </a:rPr>
              <a:t> từ trống, idempotent.</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Phần A trả lời: vì sao làm · dữ liệu gì · sạch thế nào · hệ thống mấy lớp · chạy lại thế nào.</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14 / 49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8503920" y="1097280"/>
            <a:ext cx="3291840" cy="3840480"/>
          </a:xfrm>
          <a:prstGeom prst="rect">
            <a:avLst/>
          </a:prstGeom>
          <a:noFill/>
        </p:spPr>
        <p:txBody>
          <a:bodyPr wrap="square" anchor="t" lIns="27432" rIns="27432" tIns="0" bIns="0">
            <a:spAutoFit/>
          </a:bodyPr>
          <a:lstStyle/>
          <a:p>
            <a:pPr algn="r"/>
            <a:r>
              <a:rPr sz="22000" b="1" i="0">
                <a:solidFill>
                  <a:srgbClr val="334155"/>
                </a:solidFill>
                <a:latin typeface="Cambria"/>
              </a:rPr>
              <a:t>B</a:t>
            </a:r>
          </a:p>
        </p:txBody>
      </p:sp>
      <p:sp>
        <p:nvSpPr>
          <p:cNvPr id="3" name="TextBox 2"/>
          <p:cNvSpPr txBox="1"/>
          <p:nvPr/>
        </p:nvSpPr>
        <p:spPr>
          <a:xfrm>
            <a:off x="548640" y="777240"/>
            <a:ext cx="9144000" cy="320040"/>
          </a:xfrm>
          <a:prstGeom prst="rect">
            <a:avLst/>
          </a:prstGeom>
          <a:noFill/>
        </p:spPr>
        <p:txBody>
          <a:bodyPr wrap="square" anchor="t" lIns="27432" rIns="27432" tIns="0" bIns="0">
            <a:spAutoFit/>
          </a:bodyPr>
          <a:lstStyle/>
          <a:p>
            <a:pPr algn="l"/>
            <a:r>
              <a:rPr sz="1400" b="1" i="0">
                <a:solidFill>
                  <a:srgbClr val="FDBA74"/>
                </a:solidFill>
                <a:latin typeface="Calibri"/>
              </a:rPr>
              <a:t>PHẦN B · SLIDE 16–28</a:t>
            </a:r>
          </a:p>
        </p:txBody>
      </p:sp>
      <p:sp>
        <p:nvSpPr>
          <p:cNvPr id="4" name="TextBox 3"/>
          <p:cNvSpPr txBox="1"/>
          <p:nvPr/>
        </p:nvSpPr>
        <p:spPr>
          <a:xfrm>
            <a:off x="548640" y="1783080"/>
            <a:ext cx="7863840" cy="777240"/>
          </a:xfrm>
          <a:prstGeom prst="rect">
            <a:avLst/>
          </a:prstGeom>
          <a:noFill/>
        </p:spPr>
        <p:txBody>
          <a:bodyPr wrap="square" anchor="t" lIns="27432" rIns="27432" tIns="0" bIns="0">
            <a:spAutoFit/>
          </a:bodyPr>
          <a:lstStyle/>
          <a:p>
            <a:pPr algn="l"/>
            <a:r>
              <a:rPr sz="3600" b="1" i="0">
                <a:solidFill>
                  <a:srgbClr val="FFFFFF"/>
                </a:solidFill>
                <a:latin typeface="Cambria"/>
              </a:rPr>
              <a:t>Kho dữ liệu &amp; OLAP</a:t>
            </a:r>
          </a:p>
        </p:txBody>
      </p:sp>
      <p:sp>
        <p:nvSpPr>
          <p:cNvPr id="5" name="TextBox 4"/>
          <p:cNvSpPr txBox="1"/>
          <p:nvPr/>
        </p:nvSpPr>
        <p:spPr>
          <a:xfrm>
            <a:off x="548640" y="2926080"/>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Grain — quyết định quan trọng nhất khi thiết kế kho</a:t>
            </a:r>
          </a:p>
        </p:txBody>
      </p:sp>
      <p:sp>
        <p:nvSpPr>
          <p:cNvPr id="6" name="TextBox 5"/>
          <p:cNvSpPr txBox="1"/>
          <p:nvPr/>
        </p:nvSpPr>
        <p:spPr>
          <a:xfrm>
            <a:off x="548640" y="3401568"/>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Sao 4 chiều: vì sao gió là chiều mà thời tiết thì không</a:t>
            </a:r>
          </a:p>
        </p:txBody>
      </p:sp>
      <p:sp>
        <p:nvSpPr>
          <p:cNvPr id="7" name="TextBox 6"/>
          <p:cNvSpPr txBox="1"/>
          <p:nvPr/>
        </p:nvSpPr>
        <p:spPr>
          <a:xfrm>
            <a:off x="548640" y="3877056"/>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180 tổ hợp mức vs 32 grouping sets — hai số hay trộn</a:t>
            </a:r>
          </a:p>
        </p:txBody>
      </p:sp>
      <p:sp>
        <p:nvSpPr>
          <p:cNvPr id="8" name="TextBox 7"/>
          <p:cNvSpPr txBox="1"/>
          <p:nvPr/>
        </p:nvSpPr>
        <p:spPr>
          <a:xfrm>
            <a:off x="548640" y="4352544"/>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Kiểm chứng 100% · tổng hợp đúng (SUM + COUNT)</a:t>
            </a:r>
          </a:p>
        </p:txBody>
      </p:sp>
      <p:sp>
        <p:nvSpPr>
          <p:cNvPr id="9" name="TextBox 8"/>
          <p:cNvSpPr txBox="1"/>
          <p:nvPr/>
        </p:nvSpPr>
        <p:spPr>
          <a:xfrm>
            <a:off x="548640" y="4828031"/>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Năm phép OLAP · ROLAP vs MOLAP · khóa &amp; SCD · insight gió nam</a:t>
            </a:r>
          </a:p>
        </p:txBody>
      </p:sp>
      <p:sp>
        <p:nvSpPr>
          <p:cNvPr id="10" name="TextBox 9"/>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15 / 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Grain — quyết định quan trọng nhất khi thiết kế kho</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1">
                <a:solidFill>
                  <a:srgbClr val="1F2A37"/>
                </a:solidFill>
                <a:latin typeface="Cambria"/>
              </a:rPr>
              <a:t>Grain</a:t>
            </a:r>
            <a:r>
              <a:rPr sz="1450" b="0">
                <a:solidFill>
                  <a:srgbClr val="1F2A37"/>
                </a:solidFill>
                <a:latin typeface="Cambria"/>
              </a:rPr>
              <a:t> là câu trả lời cho “một dòng của bảng fact đại diện cho cái gì”. Ở dự án này: </a:t>
            </a:r>
            <a:r>
              <a:rPr sz="1450" b="1">
                <a:solidFill>
                  <a:srgbClr val="EA580C"/>
                </a:solidFill>
                <a:latin typeface="Cambria"/>
              </a:rPr>
              <a:t>một dòng fact = một trạm tại một giờ</a:t>
            </a:r>
            <a:r>
              <a:rPr sz="1450" b="0">
                <a:solidFill>
                  <a:srgbClr val="1F2A37"/>
                </a:solidFill>
                <a:latin typeface="Cambria"/>
              </a:rPr>
              <a:t>. Grain phải phát biểu đầu tiên: mọi độ đo, mọi khóa chiều sau này đều phải khớp grain; đổi grain về sau gần như thiết kế lại kho.</a:t>
            </a:r>
          </a:p>
          <a:p>
            <a:pPr algn="just">
              <a:lnSpc>
                <a:spcPct val="113000"/>
              </a:lnSpc>
              <a:spcAft>
                <a:spcPts val="900"/>
              </a:spcAft>
            </a:pPr>
            <a:r>
              <a:rPr sz="1450" b="0">
                <a:solidFill>
                  <a:srgbClr val="1F2A37"/>
                </a:solidFill>
                <a:latin typeface="Cambria"/>
              </a:rPr>
              <a:t>Vì sao mức giờ chứ không mức ngày cho “nhẹ”: </a:t>
            </a:r>
            <a:r>
              <a:rPr sz="1450" b="1">
                <a:solidFill>
                  <a:srgbClr val="1F2A37"/>
                </a:solidFill>
                <a:latin typeface="Cambria"/>
              </a:rPr>
              <a:t>(1)</a:t>
            </a:r>
            <a:r>
              <a:rPr sz="1450" b="0">
                <a:solidFill>
                  <a:srgbClr val="1F2A37"/>
                </a:solidFill>
                <a:latin typeface="Cambria"/>
              </a:rPr>
              <a:t> giờ cuộn lên ngày/tháng/năm được, ngày về giờ thì </a:t>
            </a:r>
            <a:r>
              <a:rPr sz="1450" b="1">
                <a:solidFill>
                  <a:srgbClr val="1F2A37"/>
                </a:solidFill>
                <a:latin typeface="Cambria"/>
              </a:rPr>
              <a:t>không bao giờ</a:t>
            </a:r>
            <a:r>
              <a:rPr sz="1450" b="0">
                <a:solidFill>
                  <a:srgbClr val="1F2A37"/>
                </a:solidFill>
                <a:latin typeface="Cambria"/>
              </a:rPr>
              <a:t> — mất thông tin vĩnh viễn; </a:t>
            </a:r>
            <a:r>
              <a:rPr sz="1450" b="1">
                <a:solidFill>
                  <a:srgbClr val="1F2A37"/>
                </a:solidFill>
                <a:latin typeface="Cambria"/>
              </a:rPr>
              <a:t>(2)</a:t>
            </a:r>
            <a:r>
              <a:rPr sz="1450" b="0">
                <a:solidFill>
                  <a:srgbClr val="1F2A37"/>
                </a:solidFill>
                <a:latin typeface="Cambria"/>
              </a:rPr>
              <a:t> bài toán cảnh báo cần đúng mức giờ; </a:t>
            </a:r>
            <a:r>
              <a:rPr sz="1450" b="1">
                <a:solidFill>
                  <a:srgbClr val="1F2A37"/>
                </a:solidFill>
                <a:latin typeface="Cambria"/>
              </a:rPr>
              <a:t>(3)</a:t>
            </a:r>
            <a:r>
              <a:rPr sz="1450" b="0">
                <a:solidFill>
                  <a:srgbClr val="1F2A37"/>
                </a:solidFill>
                <a:latin typeface="Cambria"/>
              </a:rPr>
              <a:t> mức ngày mất biến động trong ngày (đỉnh buổi tối) — chính thứ mô hình dùng làm đặc trưng. Nguyên tắc chung: </a:t>
            </a:r>
            <a:r>
              <a:rPr sz="1450" b="1">
                <a:solidFill>
                  <a:srgbClr val="1F2A37"/>
                </a:solidFill>
                <a:latin typeface="Cambria"/>
              </a:rPr>
              <a:t>lưu ở độ mịn gốc nhất mà nghiệp vụ cần</a:t>
            </a:r>
            <a:r>
              <a:rPr sz="1450" b="0">
                <a:solidFill>
                  <a:srgbClr val="1F2A37"/>
                </a:solidFill>
                <a:latin typeface="Cambria"/>
              </a:rPr>
              <a:t>, tổng hợp để sau.</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GRAIN CỦA DỰ ÁN</a:t>
            </a:r>
          </a:p>
        </p:txBody>
      </p:sp>
      <p:sp>
        <p:nvSpPr>
          <p:cNvPr id="7" name="Rounded Rectangle 6"/>
          <p:cNvSpPr/>
          <p:nvPr/>
        </p:nvSpPr>
        <p:spPr>
          <a:xfrm>
            <a:off x="7543800" y="1883664"/>
            <a:ext cx="3867912" cy="86868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956816"/>
            <a:ext cx="3593592" cy="731520"/>
          </a:xfrm>
          <a:prstGeom prst="rect">
            <a:avLst/>
          </a:prstGeom>
          <a:noFill/>
        </p:spPr>
        <p:txBody>
          <a:bodyPr wrap="square" anchor="ctr" lIns="27432" rIns="27432" tIns="0" bIns="0">
            <a:spAutoFit/>
          </a:bodyPr>
          <a:lstStyle/>
          <a:p>
            <a:pPr algn="ctr"/>
            <a:r>
              <a:rPr sz="1900" b="1" i="0">
                <a:solidFill>
                  <a:srgbClr val="EA580C"/>
                </a:solidFill>
                <a:latin typeface="Cambria"/>
              </a:rPr>
              <a:t>1 dòng fact = 1 trạm × 1 giờ</a:t>
            </a:r>
          </a:p>
        </p:txBody>
      </p:sp>
      <p:sp>
        <p:nvSpPr>
          <p:cNvPr id="9" name="TextBox 8"/>
          <p:cNvSpPr txBox="1"/>
          <p:nvPr/>
        </p:nvSpPr>
        <p:spPr>
          <a:xfrm>
            <a:off x="7543800" y="293522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Cuộn một chiều  </a:t>
            </a:r>
            <a:r>
              <a:rPr sz="1250" b="0">
                <a:solidFill>
                  <a:srgbClr val="1F2A37"/>
                </a:solidFill>
                <a:latin typeface="Calibri"/>
              </a:rPr>
              <a:t>giờ → ngày → năm được; ngược lại không</a:t>
            </a:r>
          </a:p>
        </p:txBody>
      </p:sp>
      <p:sp>
        <p:nvSpPr>
          <p:cNvPr id="10" name="TextBox 9"/>
          <p:cNvSpPr txBox="1"/>
          <p:nvPr/>
        </p:nvSpPr>
        <p:spPr>
          <a:xfrm>
            <a:off x="7543800" y="353872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Bài toán cần  </a:t>
            </a:r>
            <a:r>
              <a:rPr sz="1250" b="0">
                <a:solidFill>
                  <a:srgbClr val="1F2A37"/>
                </a:solidFill>
                <a:latin typeface="Calibri"/>
              </a:rPr>
              <a:t>cảnh báo t+1h cần đúng mức giờ</a:t>
            </a:r>
          </a:p>
        </p:txBody>
      </p:sp>
      <p:sp>
        <p:nvSpPr>
          <p:cNvPr id="11" name="TextBox 10"/>
          <p:cNvSpPr txBox="1"/>
          <p:nvPr/>
        </p:nvSpPr>
        <p:spPr>
          <a:xfrm>
            <a:off x="7543800" y="414223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Mất gì nếu lưu ngày  </a:t>
            </a:r>
            <a:r>
              <a:rPr sz="1250" b="0">
                <a:solidFill>
                  <a:srgbClr val="1F2A37"/>
                </a:solidFill>
                <a:latin typeface="Calibri"/>
              </a:rPr>
              <a:t>biến động buổi tối — đặc trưng của ML</a:t>
            </a:r>
          </a:p>
        </p:txBody>
      </p:sp>
      <p:sp>
        <p:nvSpPr>
          <p:cNvPr id="12" name="Rectangle 11"/>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4" name="TextBox 13"/>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Fact = trạm × giờ. Cuộn giờ→ngày được, ngày→giờ không — nên giữ mức mịn gốc.</a:t>
            </a:r>
          </a:p>
        </p:txBody>
      </p:sp>
      <p:sp>
        <p:nvSpPr>
          <p:cNvPr id="15" name="TextBox 14"/>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16 / 49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Lược đồ hình sao: fact ở giữa, 4 chiều xung quanh</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Bảng trung tâm là </a:t>
            </a:r>
            <a:r>
              <a:rPr sz="1450" b="1">
                <a:solidFill>
                  <a:srgbClr val="EA580C"/>
                </a:solidFill>
                <a:latin typeface="Cambria"/>
              </a:rPr>
              <a:t>fact_air_quality_hourly</a:t>
            </a:r>
            <a:r>
              <a:rPr sz="1450" b="0">
                <a:solidFill>
                  <a:srgbClr val="1F2A37"/>
                </a:solidFill>
                <a:latin typeface="Cambria"/>
              </a:rPr>
              <a:t> — mỗi dòng một lần đo, chứa các </a:t>
            </a:r>
            <a:r>
              <a:rPr sz="1450" b="1">
                <a:solidFill>
                  <a:srgbClr val="1F2A37"/>
                </a:solidFill>
                <a:latin typeface="Cambria"/>
              </a:rPr>
              <a:t>độ đo</a:t>
            </a:r>
            <a:r>
              <a:rPr sz="1450" b="0">
                <a:solidFill>
                  <a:srgbClr val="1F2A37"/>
                </a:solidFill>
                <a:latin typeface="Cambria"/>
              </a:rPr>
              <a:t> (nồng độ 6 chất, 5 biến khí tượng, cờ chất lượng) và khóa nối 4 bảng </a:t>
            </a:r>
            <a:r>
              <a:rPr sz="1450" b="1">
                <a:solidFill>
                  <a:srgbClr val="1F2A37"/>
                </a:solidFill>
                <a:latin typeface="Cambria"/>
              </a:rPr>
              <a:t>chiều</a:t>
            </a:r>
            <a:r>
              <a:rPr sz="1450" b="0">
                <a:solidFill>
                  <a:srgbClr val="1F2A37"/>
                </a:solidFill>
                <a:latin typeface="Cambria"/>
              </a:rPr>
              <a:t> (dimension): </a:t>
            </a:r>
            <a:r>
              <a:rPr sz="1450" b="1">
                <a:solidFill>
                  <a:srgbClr val="EA580C"/>
                </a:solidFill>
                <a:latin typeface="Cambria"/>
              </a:rPr>
              <a:t>dim_date</a:t>
            </a:r>
            <a:r>
              <a:rPr sz="1450" b="0">
                <a:solidFill>
                  <a:srgbClr val="1F2A37"/>
                </a:solidFill>
                <a:latin typeface="Cambria"/>
              </a:rPr>
              <a:t>, </a:t>
            </a:r>
            <a:r>
              <a:rPr sz="1450" b="1">
                <a:solidFill>
                  <a:srgbClr val="EA580C"/>
                </a:solidFill>
                <a:latin typeface="Cambria"/>
              </a:rPr>
              <a:t>dim_time</a:t>
            </a:r>
            <a:r>
              <a:rPr sz="1450" b="0">
                <a:solidFill>
                  <a:srgbClr val="1F2A37"/>
                </a:solidFill>
                <a:latin typeface="Cambria"/>
              </a:rPr>
              <a:t>, </a:t>
            </a:r>
            <a:r>
              <a:rPr sz="1450" b="1">
                <a:solidFill>
                  <a:srgbClr val="EA580C"/>
                </a:solidFill>
                <a:latin typeface="Cambria"/>
              </a:rPr>
              <a:t>dim_station</a:t>
            </a:r>
            <a:r>
              <a:rPr sz="1450" b="0">
                <a:solidFill>
                  <a:srgbClr val="1F2A37"/>
                </a:solidFill>
                <a:latin typeface="Cambria"/>
              </a:rPr>
              <a:t>, </a:t>
            </a:r>
            <a:r>
              <a:rPr sz="1450" b="1">
                <a:solidFill>
                  <a:srgbClr val="EA580C"/>
                </a:solidFill>
                <a:latin typeface="Cambria"/>
              </a:rPr>
              <a:t>dim_wind</a:t>
            </a:r>
            <a:r>
              <a:rPr sz="1450" b="0">
                <a:solidFill>
                  <a:srgbClr val="1F2A37"/>
                </a:solidFill>
                <a:latin typeface="Cambria"/>
              </a:rPr>
              <a:t>.</a:t>
            </a:r>
          </a:p>
          <a:p>
            <a:pPr algn="just">
              <a:lnSpc>
                <a:spcPct val="113000"/>
              </a:lnSpc>
              <a:spcAft>
                <a:spcPts val="900"/>
              </a:spcAft>
            </a:pPr>
            <a:r>
              <a:rPr sz="1450" b="0">
                <a:solidFill>
                  <a:srgbClr val="1F2A37"/>
                </a:solidFill>
                <a:latin typeface="Cambria"/>
              </a:rPr>
              <a:t>Phân công rất rõ: </a:t>
            </a:r>
            <a:r>
              <a:rPr sz="1450" b="1">
                <a:solidFill>
                  <a:srgbClr val="1F2A37"/>
                </a:solidFill>
                <a:latin typeface="Cambria"/>
              </a:rPr>
              <a:t>fact lưu số để tổng hợp</a:t>
            </a:r>
            <a:r>
              <a:rPr sz="1450" b="0">
                <a:solidFill>
                  <a:srgbClr val="1F2A37"/>
                </a:solidFill>
                <a:latin typeface="Cambria"/>
              </a:rPr>
              <a:t> (cộng, trung bình); </a:t>
            </a:r>
            <a:r>
              <a:rPr sz="1450" b="1">
                <a:solidFill>
                  <a:srgbClr val="1F2A37"/>
                </a:solidFill>
                <a:latin typeface="Cambria"/>
              </a:rPr>
              <a:t>dimension lưu ngữ cảnh để lọc và nhóm</a:t>
            </a:r>
            <a:r>
              <a:rPr sz="1450" b="0">
                <a:solidFill>
                  <a:srgbClr val="1F2A37"/>
                </a:solidFill>
                <a:latin typeface="Cambria"/>
              </a:rPr>
              <a:t> (mùa nào? quận nào? gió hướng gì?). Mọi truy vấn phân tích đều là “chọn subset của fact theo điều kiện chiều, rồi tổng hợp độ đo”. Gọi là </a:t>
            </a:r>
            <a:r>
              <a:rPr sz="1450" b="1">
                <a:solidFill>
                  <a:srgbClr val="1F2A37"/>
                </a:solidFill>
                <a:latin typeface="Cambria"/>
              </a:rPr>
              <a:t>hình sao</a:t>
            </a:r>
            <a:r>
              <a:rPr sz="1450" b="0">
                <a:solidFill>
                  <a:srgbClr val="1F2A37"/>
                </a:solidFill>
                <a:latin typeface="Cambria"/>
              </a:rPr>
              <a:t> vì fact ở giữa, các chiều tỏa quanh — mỗi chiều nối fact bằng một liên kết. (Snowflake chuẩn hoá chiều thành nhiều bảng con — ít dư thừa nhưng join dài hơn, với 4 chiều nhỏ không đáng.)</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SƠ ĐỒ HÌNH SAO</a:t>
            </a:r>
          </a:p>
        </p:txBody>
      </p:sp>
      <p:sp>
        <p:nvSpPr>
          <p:cNvPr id="7" name="Rounded Rectangle 6"/>
          <p:cNvSpPr/>
          <p:nvPr/>
        </p:nvSpPr>
        <p:spPr>
          <a:xfrm>
            <a:off x="8151876" y="3136392"/>
            <a:ext cx="2651760" cy="786384"/>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43316" y="3209544"/>
            <a:ext cx="2468880" cy="320040"/>
          </a:xfrm>
          <a:prstGeom prst="rect">
            <a:avLst/>
          </a:prstGeom>
          <a:noFill/>
        </p:spPr>
        <p:txBody>
          <a:bodyPr wrap="square" anchor="t" lIns="27432" rIns="27432" tIns="0" bIns="0">
            <a:spAutoFit/>
          </a:bodyPr>
          <a:lstStyle/>
          <a:p>
            <a:pPr algn="ctr"/>
            <a:r>
              <a:rPr sz="1150" b="1" i="0">
                <a:solidFill>
                  <a:srgbClr val="EA580C"/>
                </a:solidFill>
                <a:latin typeface="Courier New"/>
              </a:rPr>
              <a:t>fact_air_quality_hourly</a:t>
            </a:r>
          </a:p>
        </p:txBody>
      </p:sp>
      <p:sp>
        <p:nvSpPr>
          <p:cNvPr id="9" name="TextBox 8"/>
          <p:cNvSpPr txBox="1"/>
          <p:nvPr/>
        </p:nvSpPr>
        <p:spPr>
          <a:xfrm>
            <a:off x="8243316" y="3529584"/>
            <a:ext cx="2468880" cy="274320"/>
          </a:xfrm>
          <a:prstGeom prst="rect">
            <a:avLst/>
          </a:prstGeom>
          <a:noFill/>
        </p:spPr>
        <p:txBody>
          <a:bodyPr wrap="square" anchor="t" lIns="27432" rIns="27432" tIns="0" bIns="0">
            <a:spAutoFit/>
          </a:bodyPr>
          <a:lstStyle/>
          <a:p>
            <a:pPr algn="ctr"/>
            <a:r>
              <a:rPr sz="1050" b="0" i="0">
                <a:solidFill>
                  <a:srgbClr val="1F2A37"/>
                </a:solidFill>
                <a:latin typeface="Calibri"/>
              </a:rPr>
              <a:t>độ đo + 4 khóa chiều</a:t>
            </a:r>
          </a:p>
        </p:txBody>
      </p:sp>
      <p:sp>
        <p:nvSpPr>
          <p:cNvPr id="10" name="Rounded Rectangle 9"/>
          <p:cNvSpPr/>
          <p:nvPr/>
        </p:nvSpPr>
        <p:spPr>
          <a:xfrm>
            <a:off x="7543800" y="1929384"/>
            <a:ext cx="1783080" cy="7132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1993392"/>
            <a:ext cx="1600200" cy="274320"/>
          </a:xfrm>
          <a:prstGeom prst="rect">
            <a:avLst/>
          </a:prstGeom>
          <a:noFill/>
        </p:spPr>
        <p:txBody>
          <a:bodyPr wrap="square" anchor="t" lIns="27432" rIns="27432" tIns="0" bIns="0">
            <a:spAutoFit/>
          </a:bodyPr>
          <a:lstStyle/>
          <a:p>
            <a:pPr algn="ctr"/>
            <a:r>
              <a:rPr sz="1100" b="1" i="0">
                <a:solidFill>
                  <a:srgbClr val="0F766E"/>
                </a:solidFill>
                <a:latin typeface="Courier New"/>
              </a:rPr>
              <a:t>dim_date</a:t>
            </a:r>
          </a:p>
        </p:txBody>
      </p:sp>
      <p:sp>
        <p:nvSpPr>
          <p:cNvPr id="12" name="TextBox 11"/>
          <p:cNvSpPr txBox="1"/>
          <p:nvPr/>
        </p:nvSpPr>
        <p:spPr>
          <a:xfrm>
            <a:off x="7616952" y="2276856"/>
            <a:ext cx="1636776" cy="274320"/>
          </a:xfrm>
          <a:prstGeom prst="rect">
            <a:avLst/>
          </a:prstGeom>
          <a:noFill/>
        </p:spPr>
        <p:txBody>
          <a:bodyPr wrap="square" anchor="t" lIns="27432" rIns="27432" tIns="0" bIns="0">
            <a:spAutoFit/>
          </a:bodyPr>
          <a:lstStyle/>
          <a:p>
            <a:pPr algn="ctr"/>
            <a:r>
              <a:rPr sz="1000" b="0" i="0">
                <a:solidFill>
                  <a:srgbClr val="64748B"/>
                </a:solidFill>
                <a:latin typeface="Calibri"/>
              </a:rPr>
              <a:t>ngày→năm · mùa</a:t>
            </a:r>
          </a:p>
        </p:txBody>
      </p:sp>
      <p:sp>
        <p:nvSpPr>
          <p:cNvPr id="13" name="Rectangle 12"/>
          <p:cNvSpPr/>
          <p:nvPr/>
        </p:nvSpPr>
        <p:spPr>
          <a:xfrm>
            <a:off x="9326880" y="3502152"/>
            <a:ext cx="15087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43800" y="4215384"/>
            <a:ext cx="1783080" cy="7132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4279392"/>
            <a:ext cx="1600200" cy="274320"/>
          </a:xfrm>
          <a:prstGeom prst="rect">
            <a:avLst/>
          </a:prstGeom>
          <a:noFill/>
        </p:spPr>
        <p:txBody>
          <a:bodyPr wrap="square" anchor="t" lIns="27432" rIns="27432" tIns="0" bIns="0">
            <a:spAutoFit/>
          </a:bodyPr>
          <a:lstStyle/>
          <a:p>
            <a:pPr algn="ctr"/>
            <a:r>
              <a:rPr sz="1100" b="1" i="0">
                <a:solidFill>
                  <a:srgbClr val="0F766E"/>
                </a:solidFill>
                <a:latin typeface="Courier New"/>
              </a:rPr>
              <a:t>dim_time</a:t>
            </a:r>
          </a:p>
        </p:txBody>
      </p:sp>
      <p:sp>
        <p:nvSpPr>
          <p:cNvPr id="16" name="TextBox 15"/>
          <p:cNvSpPr txBox="1"/>
          <p:nvPr/>
        </p:nvSpPr>
        <p:spPr>
          <a:xfrm>
            <a:off x="7616952" y="4562856"/>
            <a:ext cx="1636776" cy="274320"/>
          </a:xfrm>
          <a:prstGeom prst="rect">
            <a:avLst/>
          </a:prstGeom>
          <a:noFill/>
        </p:spPr>
        <p:txBody>
          <a:bodyPr wrap="square" anchor="t" lIns="27432" rIns="27432" tIns="0" bIns="0">
            <a:spAutoFit/>
          </a:bodyPr>
          <a:lstStyle/>
          <a:p>
            <a:pPr algn="ctr"/>
            <a:r>
              <a:rPr sz="1000" b="0" i="0">
                <a:solidFill>
                  <a:srgbClr val="64748B"/>
                </a:solidFill>
                <a:latin typeface="Calibri"/>
              </a:rPr>
              <a:t>giờ · buổi</a:t>
            </a:r>
          </a:p>
        </p:txBody>
      </p:sp>
      <p:sp>
        <p:nvSpPr>
          <p:cNvPr id="17" name="Rectangle 16"/>
          <p:cNvSpPr/>
          <p:nvPr/>
        </p:nvSpPr>
        <p:spPr>
          <a:xfrm>
            <a:off x="9326880" y="3502152"/>
            <a:ext cx="15087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0" y="1929384"/>
            <a:ext cx="1783080" cy="7132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0" y="1993392"/>
            <a:ext cx="1600200" cy="274320"/>
          </a:xfrm>
          <a:prstGeom prst="rect">
            <a:avLst/>
          </a:prstGeom>
          <a:noFill/>
        </p:spPr>
        <p:txBody>
          <a:bodyPr wrap="square" anchor="t" lIns="27432" rIns="27432" tIns="0" bIns="0">
            <a:spAutoFit/>
          </a:bodyPr>
          <a:lstStyle/>
          <a:p>
            <a:pPr algn="ctr"/>
            <a:r>
              <a:rPr sz="1100" b="1" i="0">
                <a:solidFill>
                  <a:srgbClr val="0F766E"/>
                </a:solidFill>
                <a:latin typeface="Courier New"/>
              </a:rPr>
              <a:t>dim_station</a:t>
            </a:r>
          </a:p>
        </p:txBody>
      </p:sp>
      <p:sp>
        <p:nvSpPr>
          <p:cNvPr id="20" name="TextBox 19"/>
          <p:cNvSpPr txBox="1"/>
          <p:nvPr/>
        </p:nvSpPr>
        <p:spPr>
          <a:xfrm>
            <a:off x="9674352" y="2276856"/>
            <a:ext cx="1636776" cy="274320"/>
          </a:xfrm>
          <a:prstGeom prst="rect">
            <a:avLst/>
          </a:prstGeom>
          <a:noFill/>
        </p:spPr>
        <p:txBody>
          <a:bodyPr wrap="square" anchor="t" lIns="27432" rIns="27432" tIns="0" bIns="0">
            <a:spAutoFit/>
          </a:bodyPr>
          <a:lstStyle/>
          <a:p>
            <a:pPr algn="ctr"/>
            <a:r>
              <a:rPr sz="1000" b="0" i="0">
                <a:solidFill>
                  <a:srgbClr val="64748B"/>
                </a:solidFill>
                <a:latin typeface="Calibri"/>
              </a:rPr>
              <a:t>trạm · quận</a:t>
            </a:r>
          </a:p>
        </p:txBody>
      </p:sp>
      <p:sp>
        <p:nvSpPr>
          <p:cNvPr id="21" name="Rectangle 20"/>
          <p:cNvSpPr/>
          <p:nvPr/>
        </p:nvSpPr>
        <p:spPr>
          <a:xfrm>
            <a:off x="9477756" y="3502152"/>
            <a:ext cx="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1200" y="4215384"/>
            <a:ext cx="1783080" cy="7132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4279392"/>
            <a:ext cx="1600200" cy="274320"/>
          </a:xfrm>
          <a:prstGeom prst="rect">
            <a:avLst/>
          </a:prstGeom>
          <a:noFill/>
        </p:spPr>
        <p:txBody>
          <a:bodyPr wrap="square" anchor="t" lIns="27432" rIns="27432" tIns="0" bIns="0">
            <a:spAutoFit/>
          </a:bodyPr>
          <a:lstStyle/>
          <a:p>
            <a:pPr algn="ctr"/>
            <a:r>
              <a:rPr sz="1100" b="1" i="0">
                <a:solidFill>
                  <a:srgbClr val="0F766E"/>
                </a:solidFill>
                <a:latin typeface="Courier New"/>
              </a:rPr>
              <a:t>dim_wind</a:t>
            </a:r>
          </a:p>
        </p:txBody>
      </p:sp>
      <p:sp>
        <p:nvSpPr>
          <p:cNvPr id="24" name="TextBox 23"/>
          <p:cNvSpPr txBox="1"/>
          <p:nvPr/>
        </p:nvSpPr>
        <p:spPr>
          <a:xfrm>
            <a:off x="9674352" y="4562856"/>
            <a:ext cx="1636776" cy="274320"/>
          </a:xfrm>
          <a:prstGeom prst="rect">
            <a:avLst/>
          </a:prstGeom>
          <a:noFill/>
        </p:spPr>
        <p:txBody>
          <a:bodyPr wrap="square" anchor="t" lIns="27432" rIns="27432" tIns="0" bIns="0">
            <a:spAutoFit/>
          </a:bodyPr>
          <a:lstStyle/>
          <a:p>
            <a:pPr algn="ctr"/>
            <a:r>
              <a:rPr sz="1000" b="0" i="0">
                <a:solidFill>
                  <a:srgbClr val="64748B"/>
                </a:solidFill>
                <a:latin typeface="Calibri"/>
              </a:rPr>
              <a:t>hướng · bắc/nam</a:t>
            </a:r>
          </a:p>
        </p:txBody>
      </p:sp>
      <p:sp>
        <p:nvSpPr>
          <p:cNvPr id="25" name="Rectangle 24"/>
          <p:cNvSpPr/>
          <p:nvPr/>
        </p:nvSpPr>
        <p:spPr>
          <a:xfrm>
            <a:off x="9477756" y="3502152"/>
            <a:ext cx="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8" name="TextBox 2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Fact = sự kiện đo (độ đo + khóa nối) · dimension = ngữ cảnh để lọc/nhóm — mỗi chiều một bước tới fact.</a:t>
            </a:r>
          </a:p>
        </p:txBody>
      </p:sp>
      <p:sp>
        <p:nvSpPr>
          <p:cNvPr id="29" name="TextBox 2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17 / 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Vì sao hướng gió là chiều, còn thời tiết thì không</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Một cột nên làm </a:t>
            </a:r>
            <a:r>
              <a:rPr sz="1450" b="1">
                <a:solidFill>
                  <a:srgbClr val="1F2A37"/>
                </a:solidFill>
                <a:latin typeface="Cambria"/>
              </a:rPr>
              <a:t>chiều</a:t>
            </a:r>
            <a:r>
              <a:rPr sz="1450" b="0">
                <a:solidFill>
                  <a:srgbClr val="1F2A37"/>
                </a:solidFill>
                <a:latin typeface="Cambria"/>
              </a:rPr>
              <a:t> khi nó là ngữ cảnh lọc/nhóm với ít giá trị lặp lại; nên làm </a:t>
            </a:r>
            <a:r>
              <a:rPr sz="1450" b="1">
                <a:solidFill>
                  <a:srgbClr val="1F2A37"/>
                </a:solidFill>
                <a:latin typeface="Cambria"/>
              </a:rPr>
              <a:t>độ đo</a:t>
            </a:r>
            <a:r>
              <a:rPr sz="1450" b="0">
                <a:solidFill>
                  <a:srgbClr val="1F2A37"/>
                </a:solidFill>
                <a:latin typeface="Cambria"/>
              </a:rPr>
              <a:t> khi nó là thuộc tính số của chính sự kiện. </a:t>
            </a:r>
            <a:r>
              <a:rPr sz="1450" b="1">
                <a:solidFill>
                  <a:srgbClr val="1F2A37"/>
                </a:solidFill>
                <a:latin typeface="Cambria"/>
              </a:rPr>
              <a:t>Hướng gió làm chiều</a:t>
            </a:r>
            <a:r>
              <a:rPr sz="1450" b="0">
                <a:solidFill>
                  <a:srgbClr val="1F2A37"/>
                </a:solidFill>
                <a:latin typeface="Cambria"/>
              </a:rPr>
              <a:t> vì nó trả lời “</a:t>
            </a:r>
            <a:r>
              <a:rPr sz="1450" b="1">
                <a:solidFill>
                  <a:srgbClr val="1F2A37"/>
                </a:solidFill>
                <a:latin typeface="Cambria"/>
              </a:rPr>
              <a:t>vì sao ô nhiễm đến</a:t>
            </a:r>
            <a:r>
              <a:rPr sz="1450" b="0">
                <a:solidFill>
                  <a:srgbClr val="1F2A37"/>
                </a:solidFill>
                <a:latin typeface="Cambria"/>
              </a:rPr>
              <a:t>” — gió là điều kiện vận tải khí, nhóm theo hướng gió là cách soi nguồn khí (slide 27).</a:t>
            </a:r>
          </a:p>
          <a:p>
            <a:pPr algn="just">
              <a:lnSpc>
                <a:spcPct val="113000"/>
              </a:lnSpc>
              <a:spcAft>
                <a:spcPts val="900"/>
              </a:spcAft>
            </a:pPr>
            <a:r>
              <a:rPr sz="1450" b="1">
                <a:solidFill>
                  <a:srgbClr val="1F2A37"/>
                </a:solidFill>
                <a:latin typeface="Cambria"/>
              </a:rPr>
              <a:t>Thời tiết không làm chiều riêng</a:t>
            </a:r>
            <a:r>
              <a:rPr sz="1450" b="0">
                <a:solidFill>
                  <a:srgbClr val="1F2A37"/>
                </a:solidFill>
                <a:latin typeface="Cambria"/>
              </a:rPr>
              <a:t>: nhiệt độ, mưa… được đo </a:t>
            </a:r>
            <a:r>
              <a:rPr sz="1450" b="1">
                <a:solidFill>
                  <a:srgbClr val="1F2A37"/>
                </a:solidFill>
                <a:latin typeface="Cambria"/>
              </a:rPr>
              <a:t>cùng lúc, cùng grain trạm×giờ với chính sự kiện</a:t>
            </a:r>
            <a:r>
              <a:rPr sz="1450" b="0">
                <a:solidFill>
                  <a:srgbClr val="1F2A37"/>
                </a:solidFill>
                <a:latin typeface="Cambria"/>
              </a:rPr>
              <a:t> — tức là thuộc tính số của sự kiện, để làm độ đo trên fact. Phản chứng dễ thấy: nếu nhiệt độ thành chiều, mỗi giá trị đo một dòng chiều — bảng chiều nổ ra hàng nghìn dòng vô nghĩa phân tích. Nếu sau này cần phân tích “hồ sơ thời tiết” riêng → dựng </a:t>
            </a:r>
            <a:r>
              <a:rPr sz="1450" b="1">
                <a:solidFill>
                  <a:srgbClr val="1F2A37"/>
                </a:solidFill>
                <a:latin typeface="Cambria"/>
              </a:rPr>
              <a:t>fact riêng</a:t>
            </a:r>
            <a:r>
              <a:rPr sz="1450" b="0">
                <a:solidFill>
                  <a:srgbClr val="1F2A37"/>
                </a:solidFill>
                <a:latin typeface="Cambria"/>
              </a:rPr>
              <a:t>, không nhét thêm chiều.</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PHÂN CÔNG NÀY</a:t>
            </a:r>
          </a:p>
        </p:txBody>
      </p:sp>
      <p:sp>
        <p:nvSpPr>
          <p:cNvPr id="7" name="Rounded Rectangle 6"/>
          <p:cNvSpPr/>
          <p:nvPr/>
        </p:nvSpPr>
        <p:spPr>
          <a:xfrm>
            <a:off x="7543800" y="1883664"/>
            <a:ext cx="3867912" cy="137160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HƯỚNG GIÓ → CHIỀU</a:t>
            </a:r>
          </a:p>
        </p:txBody>
      </p:sp>
      <p:sp>
        <p:nvSpPr>
          <p:cNvPr id="9" name="TextBox 8"/>
          <p:cNvSpPr txBox="1"/>
          <p:nvPr/>
        </p:nvSpPr>
        <p:spPr>
          <a:xfrm>
            <a:off x="7708392" y="2313432"/>
            <a:ext cx="3538728" cy="86868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ngữ cảnh lọc/nhóm, ít giá trị</a:t>
            </a:r>
          </a:p>
          <a:p>
            <a:pPr>
              <a:lnSpc>
                <a:spcPct val="108000"/>
              </a:lnSpc>
              <a:spcAft>
                <a:spcPts val="300"/>
              </a:spcAft>
            </a:pPr>
            <a:r>
              <a:rPr sz="1200" b="0">
                <a:solidFill>
                  <a:srgbClr val="1F2A37"/>
                </a:solidFill>
                <a:latin typeface="Calibri"/>
              </a:rPr>
              <a:t>điều kiện vận tải khí —</a:t>
            </a:r>
          </a:p>
          <a:p>
            <a:pPr>
              <a:lnSpc>
                <a:spcPct val="108000"/>
              </a:lnSpc>
              <a:spcAft>
                <a:spcPts val="300"/>
              </a:spcAft>
            </a:pPr>
            <a:r>
              <a:rPr sz="1200" b="0">
                <a:solidFill>
                  <a:srgbClr val="1F2A37"/>
                </a:solidFill>
                <a:latin typeface="Calibri"/>
              </a:rPr>
              <a:t>soi nguồn khí theo hướng gió</a:t>
            </a:r>
          </a:p>
        </p:txBody>
      </p:sp>
      <p:sp>
        <p:nvSpPr>
          <p:cNvPr id="10" name="Rounded Rectangle 9"/>
          <p:cNvSpPr/>
          <p:nvPr/>
        </p:nvSpPr>
        <p:spPr>
          <a:xfrm>
            <a:off x="7543800" y="3383280"/>
            <a:ext cx="3867912" cy="137160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502152"/>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THỜI TIẾT → ĐỘ ĐO</a:t>
            </a:r>
          </a:p>
        </p:txBody>
      </p:sp>
      <p:sp>
        <p:nvSpPr>
          <p:cNvPr id="12" name="TextBox 11"/>
          <p:cNvSpPr txBox="1"/>
          <p:nvPr/>
        </p:nvSpPr>
        <p:spPr>
          <a:xfrm>
            <a:off x="7708392" y="3813048"/>
            <a:ext cx="3538728" cy="86868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đo CÙNG sự kiện, cùng grain</a:t>
            </a:r>
          </a:p>
          <a:p>
            <a:pPr>
              <a:lnSpc>
                <a:spcPct val="108000"/>
              </a:lnSpc>
              <a:spcAft>
                <a:spcPts val="300"/>
              </a:spcAft>
            </a:pPr>
            <a:r>
              <a:rPr sz="1200" b="0">
                <a:solidFill>
                  <a:srgbClr val="1F2A37"/>
                </a:solidFill>
                <a:latin typeface="Calibri"/>
              </a:rPr>
              <a:t>thuộc tính số của lần đo —</a:t>
            </a:r>
          </a:p>
          <a:p>
            <a:pPr>
              <a:lnSpc>
                <a:spcPct val="108000"/>
              </a:lnSpc>
              <a:spcAft>
                <a:spcPts val="300"/>
              </a:spcAft>
            </a:pPr>
            <a:r>
              <a:rPr sz="1200" b="0">
                <a:solidFill>
                  <a:srgbClr val="1F2A37"/>
                </a:solidFill>
                <a:latin typeface="Calibri"/>
              </a:rPr>
              <a:t>nếu thành chiều: nổ bảng chiều</a:t>
            </a:r>
          </a:p>
        </p:txBody>
      </p:sp>
      <p:sp>
        <p:nvSpPr>
          <p:cNvPr id="13" name="Rounded Rectangle 12"/>
          <p:cNvSpPr/>
          <p:nvPr/>
        </p:nvSpPr>
        <p:spPr>
          <a:xfrm>
            <a:off x="7543800" y="4901184"/>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DBA74"/>
                </a:solidFill>
                <a:latin typeface="Calibri"/>
              </a:rPr>
              <a:t>cần phân tích thời tiết riêng → fact riêng</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Chiều = ngữ cảnh lọc/nhóm (ít giá trị) · độ đo = thuộc tính số của sự kiện — thời tiết đo cùng sự kiện nên là độ đo.</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18 / 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Phân cấp chiều và con số 180 tổ hợp mức</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Mỗi chiều có </a:t>
            </a:r>
            <a:r>
              <a:rPr sz="1450" b="1">
                <a:solidFill>
                  <a:srgbClr val="1F2A37"/>
                </a:solidFill>
                <a:latin typeface="Cambria"/>
              </a:rPr>
              <a:t>phân cấp</a:t>
            </a:r>
            <a:r>
              <a:rPr sz="1450" b="0">
                <a:solidFill>
                  <a:srgbClr val="1F2A37"/>
                </a:solidFill>
                <a:latin typeface="Cambria"/>
              </a:rPr>
              <a:t> (hierarchy) để cuộn lên — khoan xuống: ngày→tháng→quý→năm; giờ→buổi; trạm→quận; hướng→phần tư→bắc/nam. Đếm mức mỗi chiều </a:t>
            </a:r>
            <a:r>
              <a:rPr sz="1450" b="1">
                <a:solidFill>
                  <a:srgbClr val="1F2A37"/>
                </a:solidFill>
                <a:latin typeface="Cambria"/>
              </a:rPr>
              <a:t>tính cả mức ALL</a:t>
            </a:r>
            <a:r>
              <a:rPr sz="1450" b="0">
                <a:solidFill>
                  <a:srgbClr val="1F2A37"/>
                </a:solidFill>
                <a:latin typeface="Cambria"/>
              </a:rPr>
              <a:t> (tổng thể, không lọc): dim_date có 5 mức, dim_time 3, dim_station 3, dim_wind 4 — nhân lại </a:t>
            </a:r>
            <a:r>
              <a:rPr sz="1450" b="1">
                <a:solidFill>
                  <a:srgbClr val="EA580C"/>
                </a:solidFill>
                <a:latin typeface="Cambria"/>
              </a:rPr>
              <a:t>5·3·3·4 = 180</a:t>
            </a:r>
            <a:r>
              <a:rPr sz="1450" b="0">
                <a:solidFill>
                  <a:srgbClr val="1F2A37"/>
                </a:solidFill>
                <a:latin typeface="Cambria"/>
              </a:rPr>
              <a:t> tổ hợp mức.</a:t>
            </a:r>
          </a:p>
          <a:p>
            <a:pPr algn="just">
              <a:lnSpc>
                <a:spcPct val="113000"/>
              </a:lnSpc>
              <a:spcAft>
                <a:spcPts val="900"/>
              </a:spcAft>
            </a:pPr>
            <a:r>
              <a:rPr sz="1450" b="0">
                <a:solidFill>
                  <a:srgbClr val="1F2A37"/>
                </a:solidFill>
                <a:latin typeface="Cambria"/>
              </a:rPr>
              <a:t>Đọc 180 đúng nghĩa: đó là </a:t>
            </a:r>
            <a:r>
              <a:rPr sz="1450" b="1">
                <a:solidFill>
                  <a:srgbClr val="1F2A37"/>
                </a:solidFill>
                <a:latin typeface="Cambria"/>
              </a:rPr>
              <a:t>số “góc nhìn” khác nhau</a:t>
            </a:r>
            <a:r>
              <a:rPr sz="1450" b="0">
                <a:solidFill>
                  <a:srgbClr val="1F2A37"/>
                </a:solidFill>
                <a:latin typeface="Cambria"/>
              </a:rPr>
              <a:t> kho có thể trả lời — không phải số bảng, cũng không phải số gì đã tính trước. </a:t>
            </a:r>
            <a:r>
              <a:rPr sz="1450" b="1">
                <a:solidFill>
                  <a:srgbClr val="EA580C"/>
                </a:solidFill>
                <a:latin typeface="Cambria"/>
              </a:rPr>
              <a:t>Không cần — và không nên — tính trước hết 180 tổ hợp</a:t>
            </a:r>
            <a:r>
              <a:rPr sz="1450" b="0">
                <a:solidFill>
                  <a:srgbClr val="1F2A37"/>
                </a:solidFill>
                <a:latin typeface="Cambria"/>
              </a:rPr>
              <a:t>: chỉ tính trước góc nhìn dashboard thật dùng (slide 21), còn lại tính lúc truy vấn từ fact.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ĐẾM MỨC — CÓ ALL</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dim_date  </a:t>
            </a:r>
            <a:r>
              <a:rPr sz="1250" b="0">
                <a:solidFill>
                  <a:srgbClr val="1F2A37"/>
                </a:solidFill>
                <a:latin typeface="Calibri"/>
              </a:rPr>
              <a:t>ngày · tháng · quý · năm + ALL = </a:t>
            </a:r>
            <a:r>
              <a:rPr sz="1250" b="1">
                <a:solidFill>
                  <a:srgbClr val="EA580C"/>
                </a:solidFill>
                <a:latin typeface="Calibri"/>
              </a:rPr>
              <a:t>5 mức</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dim_time  </a:t>
            </a:r>
            <a:r>
              <a:rPr sz="1250" b="0">
                <a:solidFill>
                  <a:srgbClr val="1F2A37"/>
                </a:solidFill>
                <a:latin typeface="Calibri"/>
              </a:rPr>
              <a:t>giờ · buổi + ALL = </a:t>
            </a:r>
            <a:r>
              <a:rPr sz="1250" b="1">
                <a:solidFill>
                  <a:srgbClr val="EA580C"/>
                </a:solidFill>
                <a:latin typeface="Calibri"/>
              </a:rPr>
              <a:t>3 mức</a:t>
            </a:r>
          </a:p>
        </p:txBody>
      </p:sp>
      <p:sp>
        <p:nvSpPr>
          <p:cNvPr id="9" name="TextBox 8"/>
          <p:cNvSpPr txBox="1"/>
          <p:nvPr/>
        </p:nvSpPr>
        <p:spPr>
          <a:xfrm>
            <a:off x="7543800" y="30906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dim_station  </a:t>
            </a:r>
            <a:r>
              <a:rPr sz="1250" b="0">
                <a:solidFill>
                  <a:srgbClr val="1F2A37"/>
                </a:solidFill>
                <a:latin typeface="Calibri"/>
              </a:rPr>
              <a:t>trạm · quận + ALL = </a:t>
            </a:r>
            <a:r>
              <a:rPr sz="1250" b="1">
                <a:solidFill>
                  <a:srgbClr val="EA580C"/>
                </a:solidFill>
                <a:latin typeface="Calibri"/>
              </a:rPr>
              <a:t>3 mức</a:t>
            </a:r>
          </a:p>
        </p:txBody>
      </p:sp>
      <p:sp>
        <p:nvSpPr>
          <p:cNvPr id="10" name="TextBox 9"/>
          <p:cNvSpPr txBox="1"/>
          <p:nvPr/>
        </p:nvSpPr>
        <p:spPr>
          <a:xfrm>
            <a:off x="7543800" y="369417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dim_wind  </a:t>
            </a:r>
            <a:r>
              <a:rPr sz="1250" b="0">
                <a:solidFill>
                  <a:srgbClr val="1F2A37"/>
                </a:solidFill>
                <a:latin typeface="Calibri"/>
              </a:rPr>
              <a:t>hướng · phần tư · bắc-nam + ALL = </a:t>
            </a:r>
            <a:r>
              <a:rPr sz="1250" b="1">
                <a:solidFill>
                  <a:srgbClr val="EA580C"/>
                </a:solidFill>
                <a:latin typeface="Calibri"/>
              </a:rPr>
              <a:t>4 mức</a:t>
            </a:r>
          </a:p>
        </p:txBody>
      </p:sp>
      <p:sp>
        <p:nvSpPr>
          <p:cNvPr id="11" name="Rounded Rectangle 10"/>
          <p:cNvSpPr/>
          <p:nvPr/>
        </p:nvSpPr>
        <p:spPr>
          <a:xfrm>
            <a:off x="7543800" y="4389120"/>
            <a:ext cx="3867912" cy="82296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4462272"/>
            <a:ext cx="3593592" cy="548640"/>
          </a:xfrm>
          <a:prstGeom prst="rect">
            <a:avLst/>
          </a:prstGeom>
          <a:noFill/>
        </p:spPr>
        <p:txBody>
          <a:bodyPr wrap="square" anchor="t" lIns="27432" rIns="27432" tIns="0" bIns="0">
            <a:spAutoFit/>
          </a:bodyPr>
          <a:lstStyle/>
          <a:p>
            <a:pPr algn="ctr"/>
            <a:r>
              <a:rPr sz="2600" b="1" i="0">
                <a:solidFill>
                  <a:srgbClr val="EA580C"/>
                </a:solidFill>
                <a:latin typeface="Cambria"/>
              </a:rPr>
              <a:t>5·3·3·4 = 180</a:t>
            </a:r>
          </a:p>
        </p:txBody>
      </p:sp>
      <p:sp>
        <p:nvSpPr>
          <p:cNvPr id="13" name="Rectangle 12"/>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5" name="TextBox 14"/>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180 = tổ hợp MỨC của 4 phân cấp (5·3·3·4, có ALL) — không phải số đã tính trước; chỉ tính trước góc nhìn thật dùng.</a:t>
            </a:r>
          </a:p>
        </p:txBody>
      </p:sp>
      <p:sp>
        <p:nvSpPr>
          <p:cNvPr id="16" name="TextBox 15"/>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19 / 49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Khóa chiều: khi nào khóa tự nhiên ổn, SCD là gì</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Dự án đang dùng </a:t>
            </a:r>
            <a:r>
              <a:rPr sz="1450" b="1">
                <a:solidFill>
                  <a:srgbClr val="1F2A37"/>
                </a:solidFill>
                <a:latin typeface="Cambria"/>
              </a:rPr>
              <a:t>khóa tự nhiên</a:t>
            </a:r>
            <a:r>
              <a:rPr sz="1450" b="0">
                <a:solidFill>
                  <a:srgbClr val="1F2A37"/>
                </a:solidFill>
                <a:latin typeface="Cambria"/>
              </a:rPr>
              <a:t> (natural key) — giá trị có sẵn từ nghiệp vụ: </a:t>
            </a:r>
            <a:r>
              <a:rPr sz="1450" b="1">
                <a:solidFill>
                  <a:srgbClr val="EA580C"/>
                </a:solidFill>
                <a:latin typeface="Cambria"/>
              </a:rPr>
              <a:t>station_key = station_id</a:t>
            </a:r>
            <a:r>
              <a:rPr sz="1450" b="0">
                <a:solidFill>
                  <a:srgbClr val="1F2A37"/>
                </a:solidFill>
                <a:latin typeface="Cambria"/>
              </a:rPr>
              <a:t>, </a:t>
            </a:r>
            <a:r>
              <a:rPr sz="1450" b="1">
                <a:solidFill>
                  <a:srgbClr val="EA580C"/>
                </a:solidFill>
                <a:latin typeface="Cambria"/>
              </a:rPr>
              <a:t>date_key = YYYYMMDD</a:t>
            </a:r>
            <a:r>
              <a:rPr sz="1450" b="0">
                <a:solidFill>
                  <a:srgbClr val="1F2A37"/>
                </a:solidFill>
                <a:latin typeface="Cambria"/>
              </a:rPr>
              <a:t>, </a:t>
            </a:r>
            <a:r>
              <a:rPr sz="1450" b="1">
                <a:solidFill>
                  <a:srgbClr val="EA580C"/>
                </a:solidFill>
                <a:latin typeface="Cambria"/>
              </a:rPr>
              <a:t>time_key = 0–23</a:t>
            </a:r>
            <a:r>
              <a:rPr sz="1450" b="0">
                <a:solidFill>
                  <a:srgbClr val="1F2A37"/>
                </a:solidFill>
                <a:latin typeface="Cambria"/>
              </a:rPr>
              <a:t>, </a:t>
            </a:r>
            <a:r>
              <a:rPr sz="1450" b="1">
                <a:solidFill>
                  <a:srgbClr val="EA580C"/>
                </a:solidFill>
                <a:latin typeface="Cambria"/>
              </a:rPr>
              <a:t>wind_key</a:t>
            </a:r>
            <a:r>
              <a:rPr sz="1450" b="0">
                <a:solidFill>
                  <a:srgbClr val="1F2A37"/>
                </a:solidFill>
                <a:latin typeface="Cambria"/>
              </a:rPr>
              <a:t> với 0 = “không rõ”. Ổn vì các chiều </a:t>
            </a:r>
            <a:r>
              <a:rPr sz="1450" b="1">
                <a:solidFill>
                  <a:srgbClr val="1F2A37"/>
                </a:solidFill>
                <a:latin typeface="Cambria"/>
              </a:rPr>
              <a:t>tĩnh</a:t>
            </a:r>
            <a:r>
              <a:rPr sz="1450" b="0">
                <a:solidFill>
                  <a:srgbClr val="1F2A37"/>
                </a:solidFill>
                <a:latin typeface="Cambria"/>
              </a:rPr>
              <a:t>, có </a:t>
            </a:r>
            <a:r>
              <a:rPr sz="1450" b="1">
                <a:solidFill>
                  <a:srgbClr val="1F2A37"/>
                </a:solidFill>
                <a:latin typeface="Cambria"/>
              </a:rPr>
              <a:t>một nguồn duy nhất</a:t>
            </a:r>
            <a:r>
              <a:rPr sz="1450" b="0">
                <a:solidFill>
                  <a:srgbClr val="1F2A37"/>
                </a:solidFill>
                <a:latin typeface="Cambria"/>
              </a:rPr>
              <a:t>, không có thành viên đổi thuộc tính.</a:t>
            </a:r>
          </a:p>
          <a:p>
            <a:pPr algn="just">
              <a:lnSpc>
                <a:spcPct val="113000"/>
              </a:lnSpc>
              <a:spcAft>
                <a:spcPts val="900"/>
              </a:spcAft>
            </a:pPr>
            <a:r>
              <a:rPr sz="1450" b="0">
                <a:solidFill>
                  <a:srgbClr val="1F2A37"/>
                </a:solidFill>
                <a:latin typeface="Cambria"/>
              </a:rPr>
              <a:t>Kịch bản buộc phải khác: một trạm </a:t>
            </a:r>
            <a:r>
              <a:rPr sz="1450" b="1">
                <a:solidFill>
                  <a:srgbClr val="1F2A37"/>
                </a:solidFill>
                <a:latin typeface="Cambria"/>
              </a:rPr>
              <a:t>đổi quận</a:t>
            </a:r>
            <a:r>
              <a:rPr sz="1450" b="0">
                <a:solidFill>
                  <a:srgbClr val="1F2A37"/>
                </a:solidFill>
                <a:latin typeface="Cambria"/>
              </a:rPr>
              <a:t> sau khi dữ liệu đã nạp. Nếu chỉ UPDATE dòng chiều, mọi fact cũ tự động “nằm” ở quận mới — </a:t>
            </a:r>
            <a:r>
              <a:rPr sz="1450" b="1">
                <a:solidFill>
                  <a:srgbClr val="1F2A37"/>
                </a:solidFill>
                <a:latin typeface="Cambria"/>
              </a:rPr>
              <a:t>lịch sử bị viết lại</a:t>
            </a:r>
            <a:r>
              <a:rPr sz="1450" b="0">
                <a:solidFill>
                  <a:srgbClr val="1F2A37"/>
                </a:solidFill>
                <a:latin typeface="Cambria"/>
              </a:rPr>
              <a:t>. Giải pháp chuẩn: </a:t>
            </a:r>
            <a:r>
              <a:rPr sz="1450" b="1">
                <a:solidFill>
                  <a:srgbClr val="EA580C"/>
                </a:solidFill>
                <a:latin typeface="Cambria"/>
              </a:rPr>
              <a:t>surrogate key</a:t>
            </a:r>
            <a:r>
              <a:rPr sz="1450" b="0">
                <a:solidFill>
                  <a:srgbClr val="1F2A37"/>
                </a:solidFill>
                <a:latin typeface="Cambria"/>
              </a:rPr>
              <a:t> (khóa vô nghĩa do hệ thống sinh) + </a:t>
            </a:r>
            <a:r>
              <a:rPr sz="1450" b="1">
                <a:solidFill>
                  <a:srgbClr val="1F2A37"/>
                </a:solidFill>
                <a:latin typeface="Cambria"/>
              </a:rPr>
              <a:t>SCD type 2</a:t>
            </a:r>
            <a:r>
              <a:rPr sz="1450" b="0">
                <a:solidFill>
                  <a:srgbClr val="1F2A37"/>
                </a:solidFill>
                <a:latin typeface="Cambria"/>
              </a:rPr>
              <a:t>: khi thuộc tính đổi, </a:t>
            </a:r>
            <a:r>
              <a:rPr sz="1450" b="1">
                <a:solidFill>
                  <a:srgbClr val="1F2A37"/>
                </a:solidFill>
                <a:latin typeface="Cambria"/>
              </a:rPr>
              <a:t>thêm bản ghi mới</a:t>
            </a:r>
            <a:r>
              <a:rPr sz="1450" b="0">
                <a:solidFill>
                  <a:srgbClr val="1F2A37"/>
                </a:solidFill>
                <a:latin typeface="Cambria"/>
              </a:rPr>
              <a:t> có valid_from / valid_to; fact cũ nối bản mô tả đúng thời điểm của nó — lịch sử nguyên vẹn.</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KHÓA HIỆN TẠI → SCD2</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station_key  </a:t>
            </a:r>
            <a:r>
              <a:rPr sz="1250" b="0">
                <a:solidFill>
                  <a:srgbClr val="1F2A37"/>
                </a:solidFill>
                <a:latin typeface="Calibri"/>
              </a:rPr>
              <a:t>= station_id (tự nhiên)</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date_key  </a:t>
            </a:r>
            <a:r>
              <a:rPr sz="1250" b="0">
                <a:solidFill>
                  <a:srgbClr val="1F2A37"/>
                </a:solidFill>
                <a:latin typeface="Calibri"/>
              </a:rPr>
              <a:t>= YYYYMMDD · time_key = 0–23</a:t>
            </a:r>
          </a:p>
        </p:txBody>
      </p:sp>
      <p:sp>
        <p:nvSpPr>
          <p:cNvPr id="9" name="TextBox 8"/>
          <p:cNvSpPr txBox="1"/>
          <p:nvPr/>
        </p:nvSpPr>
        <p:spPr>
          <a:xfrm>
            <a:off x="7543800" y="30906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Vì sao ổn  </a:t>
            </a:r>
            <a:r>
              <a:rPr sz="1250" b="0">
                <a:solidFill>
                  <a:srgbClr val="1F2A37"/>
                </a:solidFill>
                <a:latin typeface="Calibri"/>
              </a:rPr>
              <a:t>chiều tĩnh · một nguồn · không đổi thuộc tính</a:t>
            </a:r>
          </a:p>
        </p:txBody>
      </p:sp>
      <p:sp>
        <p:nvSpPr>
          <p:cNvPr id="10" name="Rounded Rectangle 9"/>
          <p:cNvSpPr/>
          <p:nvPr/>
        </p:nvSpPr>
        <p:spPr>
          <a:xfrm>
            <a:off x="7543800" y="3785616"/>
            <a:ext cx="3867912" cy="1481328"/>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904488"/>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NẾU TRẠM ĐỔI QUẬN</a:t>
            </a:r>
          </a:p>
        </p:txBody>
      </p:sp>
      <p:sp>
        <p:nvSpPr>
          <p:cNvPr id="12" name="TextBox 11"/>
          <p:cNvSpPr txBox="1"/>
          <p:nvPr/>
        </p:nvSpPr>
        <p:spPr>
          <a:xfrm>
            <a:off x="7708392" y="4215384"/>
            <a:ext cx="3538728" cy="978408"/>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UPDATE chiều = viết lại lịch sử ✗</a:t>
            </a:r>
          </a:p>
          <a:p>
            <a:pPr>
              <a:lnSpc>
                <a:spcPct val="108000"/>
              </a:lnSpc>
              <a:spcAft>
                <a:spcPts val="300"/>
              </a:spcAft>
            </a:pPr>
            <a:r>
              <a:rPr sz="1150" b="0">
                <a:solidFill>
                  <a:srgbClr val="1F2A37"/>
                </a:solidFill>
                <a:latin typeface="Calibri"/>
              </a:rPr>
              <a:t>→ surrogate key + </a:t>
            </a:r>
            <a:r>
              <a:rPr sz="1150" b="1">
                <a:solidFill>
                  <a:srgbClr val="EA580C"/>
                </a:solidFill>
                <a:latin typeface="Calibri"/>
              </a:rPr>
              <a:t>SCD type 2</a:t>
            </a:r>
            <a:r>
              <a:rPr sz="1150" b="0">
                <a:solidFill>
                  <a:srgbClr val="1F2A37"/>
                </a:solidFill>
                <a:latin typeface="Calibri"/>
              </a:rPr>
              <a:t>:</a:t>
            </a:r>
          </a:p>
          <a:p>
            <a:pPr>
              <a:lnSpc>
                <a:spcPct val="108000"/>
              </a:lnSpc>
              <a:spcAft>
                <a:spcPts val="300"/>
              </a:spcAft>
            </a:pPr>
            <a:r>
              <a:rPr sz="1150" b="0">
                <a:solidFill>
                  <a:srgbClr val="1F2A37"/>
                </a:solidFill>
                <a:latin typeface="Calibri"/>
              </a:rPr>
              <a:t>bản ghi MỚI + valid_from / valid_to</a:t>
            </a:r>
          </a:p>
          <a:p>
            <a:pPr>
              <a:lnSpc>
                <a:spcPct val="108000"/>
              </a:lnSpc>
              <a:spcAft>
                <a:spcPts val="300"/>
              </a:spcAft>
            </a:pPr>
            <a:r>
              <a:rPr sz="1150" b="0">
                <a:solidFill>
                  <a:srgbClr val="1F2A37"/>
                </a:solidFill>
                <a:latin typeface="Calibri"/>
              </a:rPr>
              <a:t>— fact cũ giữ mô tả đúng thời điểm</a:t>
            </a:r>
          </a:p>
        </p:txBody>
      </p:sp>
      <p:sp>
        <p:nvSpPr>
          <p:cNvPr id="13" name="Rectangle 12"/>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5" name="TextBox 14"/>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Chiều tĩnh → khóa tự nhiên đủ. Chiều đổi thuộc tính → surrogate key + SCD type 2 (bản ghi mới + valid_from/to).</a:t>
            </a:r>
          </a:p>
        </p:txBody>
      </p:sp>
      <p:sp>
        <p:nvSpPr>
          <p:cNvPr id="16" name="TextBox 15"/>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20 / 49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Ba khối tính trước (mart) — chọn theo truy vấn thật</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Ba mart chính: </a:t>
            </a:r>
            <a:r>
              <a:rPr sz="1450" b="1">
                <a:solidFill>
                  <a:srgbClr val="EA580C"/>
                </a:solidFill>
                <a:latin typeface="Cambria"/>
              </a:rPr>
              <a:t>mart_station_daily</a:t>
            </a:r>
            <a:r>
              <a:rPr sz="1450" b="0">
                <a:solidFill>
                  <a:srgbClr val="1F2A37"/>
                </a:solidFill>
                <a:latin typeface="Cambria"/>
              </a:rPr>
              <a:t> (trạm × ngày) </a:t>
            </a:r>
            <a:r>
              <a:rPr sz="1450" b="1">
                <a:solidFill>
                  <a:srgbClr val="EA580C"/>
                </a:solidFill>
                <a:latin typeface="Cambria"/>
              </a:rPr>
              <a:t>17.532 dòng</a:t>
            </a:r>
            <a:r>
              <a:rPr sz="1450" b="0">
                <a:solidFill>
                  <a:srgbClr val="1F2A37"/>
                </a:solidFill>
                <a:latin typeface="Cambria"/>
              </a:rPr>
              <a:t> — fact cuộn lại nhỏ hơn </a:t>
            </a:r>
            <a:r>
              <a:rPr sz="1450" b="1">
                <a:solidFill>
                  <a:srgbClr val="EA580C"/>
                </a:solidFill>
                <a:latin typeface="Cambria"/>
              </a:rPr>
              <a:t>24 lần</a:t>
            </a:r>
            <a:r>
              <a:rPr sz="1450" b="0">
                <a:solidFill>
                  <a:srgbClr val="1F2A37"/>
                </a:solidFill>
                <a:latin typeface="Cambria"/>
              </a:rPr>
              <a:t>, vẽ xu hướng nhanh; </a:t>
            </a:r>
            <a:r>
              <a:rPr sz="1450" b="1">
                <a:solidFill>
                  <a:srgbClr val="EA580C"/>
                </a:solidFill>
                <a:latin typeface="Cambria"/>
              </a:rPr>
              <a:t>mart_station_monthly</a:t>
            </a:r>
            <a:r>
              <a:rPr sz="1450" b="0">
                <a:solidFill>
                  <a:srgbClr val="1F2A37"/>
                </a:solidFill>
                <a:latin typeface="Cambria"/>
              </a:rPr>
              <a:t> </a:t>
            </a:r>
            <a:r>
              <a:rPr sz="1450" b="1">
                <a:solidFill>
                  <a:srgbClr val="EA580C"/>
                </a:solidFill>
                <a:latin typeface="Cambria"/>
              </a:rPr>
              <a:t>576 dòng</a:t>
            </a:r>
            <a:r>
              <a:rPr sz="1450" b="0">
                <a:solidFill>
                  <a:srgbClr val="1F2A37"/>
                </a:solidFill>
                <a:latin typeface="Cambria"/>
              </a:rPr>
              <a:t> — báo cáo tháng/mùa; </a:t>
            </a:r>
            <a:r>
              <a:rPr sz="1450" b="1">
                <a:solidFill>
                  <a:srgbClr val="EA580C"/>
                </a:solidFill>
                <a:latin typeface="Cambria"/>
              </a:rPr>
              <a:t>mart_olap_cube</a:t>
            </a:r>
            <a:r>
              <a:rPr sz="1450" b="0">
                <a:solidFill>
                  <a:srgbClr val="1F2A37"/>
                </a:solidFill>
                <a:latin typeface="Cambria"/>
              </a:rPr>
              <a:t> </a:t>
            </a:r>
            <a:r>
              <a:rPr sz="1450" b="1">
                <a:solidFill>
                  <a:srgbClr val="EA580C"/>
                </a:solidFill>
                <a:latin typeface="Cambria"/>
              </a:rPr>
              <a:t>6.075 dòng</a:t>
            </a:r>
            <a:r>
              <a:rPr sz="1450" b="0">
                <a:solidFill>
                  <a:srgbClr val="1F2A37"/>
                </a:solidFill>
                <a:latin typeface="Cambria"/>
              </a:rPr>
              <a:t> — chứa 32 khối con của CUBE, trang OLAP đọc chỉ vài ms.</a:t>
            </a:r>
          </a:p>
          <a:p>
            <a:pPr algn="just">
              <a:lnSpc>
                <a:spcPct val="113000"/>
              </a:lnSpc>
              <a:spcAft>
                <a:spcPts val="900"/>
              </a:spcAft>
            </a:pPr>
            <a:r>
              <a:rPr sz="1450" b="0">
                <a:solidFill>
                  <a:srgbClr val="1F2A37"/>
                </a:solidFill>
                <a:latin typeface="Cambria"/>
              </a:rPr>
              <a:t>Tiêu chí chọn: </a:t>
            </a:r>
            <a:r>
              <a:rPr sz="1450" b="1">
                <a:solidFill>
                  <a:srgbClr val="1F2A37"/>
                </a:solidFill>
                <a:latin typeface="Cambria"/>
              </a:rPr>
              <a:t>đúng các truy vấn dashboard thật phát ra</a:t>
            </a:r>
            <a:r>
              <a:rPr sz="1450" b="0">
                <a:solidFill>
                  <a:srgbClr val="1F2A37"/>
                </a:solidFill>
                <a:latin typeface="Cambria"/>
              </a:rPr>
              <a:t> — không tính trước theo cảm tính. Truy vấn đủ thuộc tính nằm trong cube → đọc mart </a:t>
            </a:r>
            <a:r>
              <a:rPr sz="1450" b="1">
                <a:solidFill>
                  <a:srgbClr val="EA580C"/>
                </a:solidFill>
                <a:latin typeface="Cambria"/>
              </a:rPr>
              <a:t>2–6 ms</a:t>
            </a:r>
            <a:r>
              <a:rPr sz="1450" b="0">
                <a:solidFill>
                  <a:srgbClr val="1F2A37"/>
                </a:solidFill>
                <a:latin typeface="Cambria"/>
              </a:rPr>
              <a:t>; thiếu một thuộc tính là quét fact </a:t>
            </a:r>
            <a:r>
              <a:rPr sz="1450" b="1">
                <a:solidFill>
                  <a:srgbClr val="EA580C"/>
                </a:solidFill>
                <a:latin typeface="Cambria"/>
              </a:rPr>
              <a:t>130–400 ms</a:t>
            </a:r>
            <a:r>
              <a:rPr sz="1450" b="0">
                <a:solidFill>
                  <a:srgbClr val="1F2A37"/>
                </a:solidFill>
                <a:latin typeface="Cambria"/>
              </a:rPr>
              <a:t>. Đây là bài đánh đổi chung của mọi kho: tính trước = nhanh nhưng phải giữ đồng bộ; tính lúc chạy = đúng mọi truy vấn nhưng chậm. Dự án chọn: tính trước phần hay dùng, phần còn lại quét fact vẫn chịu được.</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BA MART + TỐC ĐỘ</a:t>
            </a:r>
          </a:p>
        </p:txBody>
      </p:sp>
      <p:sp>
        <p:nvSpPr>
          <p:cNvPr id="7" name="TextBox 6"/>
          <p:cNvSpPr txBox="1"/>
          <p:nvPr/>
        </p:nvSpPr>
        <p:spPr>
          <a:xfrm>
            <a:off x="7543800" y="1883664"/>
            <a:ext cx="3867912" cy="473964"/>
          </a:xfrm>
          <a:prstGeom prst="rect">
            <a:avLst/>
          </a:prstGeom>
          <a:noFill/>
        </p:spPr>
        <p:txBody>
          <a:bodyPr wrap="square" anchor="t" lIns="27432" rIns="27432" tIns="0" bIns="0">
            <a:spAutoFit/>
          </a:bodyPr>
          <a:lstStyle/>
          <a:p>
            <a:pPr algn="l"/>
            <a:r>
              <a:rPr sz="2200" b="1" i="0">
                <a:solidFill>
                  <a:srgbClr val="EA580C"/>
                </a:solidFill>
                <a:latin typeface="Cambria"/>
              </a:rPr>
              <a:t>17.532</a:t>
            </a:r>
          </a:p>
        </p:txBody>
      </p:sp>
      <p:sp>
        <p:nvSpPr>
          <p:cNvPr id="8" name="TextBox 7"/>
          <p:cNvSpPr txBox="1"/>
          <p:nvPr/>
        </p:nvSpPr>
        <p:spPr>
          <a:xfrm>
            <a:off x="7543800" y="23759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mart_station_daily — trạm × ngày (nhỏ hơn fact 24×)</a:t>
            </a:r>
          </a:p>
        </p:txBody>
      </p:sp>
      <p:sp>
        <p:nvSpPr>
          <p:cNvPr id="9" name="TextBox 8"/>
          <p:cNvSpPr txBox="1"/>
          <p:nvPr/>
        </p:nvSpPr>
        <p:spPr>
          <a:xfrm>
            <a:off x="7543800" y="2668524"/>
            <a:ext cx="3867912" cy="473964"/>
          </a:xfrm>
          <a:prstGeom prst="rect">
            <a:avLst/>
          </a:prstGeom>
          <a:noFill/>
        </p:spPr>
        <p:txBody>
          <a:bodyPr wrap="square" anchor="t" lIns="27432" rIns="27432" tIns="0" bIns="0">
            <a:spAutoFit/>
          </a:bodyPr>
          <a:lstStyle/>
          <a:p>
            <a:pPr algn="l"/>
            <a:r>
              <a:rPr sz="2200" b="1" i="0">
                <a:solidFill>
                  <a:srgbClr val="EA580C"/>
                </a:solidFill>
                <a:latin typeface="Cambria"/>
              </a:rPr>
              <a:t>576</a:t>
            </a:r>
          </a:p>
        </p:txBody>
      </p:sp>
      <p:sp>
        <p:nvSpPr>
          <p:cNvPr id="10" name="TextBox 9"/>
          <p:cNvSpPr txBox="1"/>
          <p:nvPr/>
        </p:nvSpPr>
        <p:spPr>
          <a:xfrm>
            <a:off x="7543800" y="316077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mart_station_monthly — báo cáo tháng/mùa</a:t>
            </a:r>
          </a:p>
        </p:txBody>
      </p:sp>
      <p:sp>
        <p:nvSpPr>
          <p:cNvPr id="11" name="TextBox 10"/>
          <p:cNvSpPr txBox="1"/>
          <p:nvPr/>
        </p:nvSpPr>
        <p:spPr>
          <a:xfrm>
            <a:off x="7543800" y="3453384"/>
            <a:ext cx="3867912" cy="473964"/>
          </a:xfrm>
          <a:prstGeom prst="rect">
            <a:avLst/>
          </a:prstGeom>
          <a:noFill/>
        </p:spPr>
        <p:txBody>
          <a:bodyPr wrap="square" anchor="t" lIns="27432" rIns="27432" tIns="0" bIns="0">
            <a:spAutoFit/>
          </a:bodyPr>
          <a:lstStyle/>
          <a:p>
            <a:pPr algn="l"/>
            <a:r>
              <a:rPr sz="2200" b="1" i="0">
                <a:solidFill>
                  <a:srgbClr val="EA580C"/>
                </a:solidFill>
                <a:latin typeface="Cambria"/>
              </a:rPr>
              <a:t>6.075</a:t>
            </a:r>
          </a:p>
        </p:txBody>
      </p:sp>
      <p:sp>
        <p:nvSpPr>
          <p:cNvPr id="12" name="TextBox 11"/>
          <p:cNvSpPr txBox="1"/>
          <p:nvPr/>
        </p:nvSpPr>
        <p:spPr>
          <a:xfrm>
            <a:off x="7543800" y="394563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mart_olap_cube — 32 khối cho trang OLAP</a:t>
            </a:r>
          </a:p>
        </p:txBody>
      </p:sp>
      <p:sp>
        <p:nvSpPr>
          <p:cNvPr id="13" name="Rounded Rectangle 12"/>
          <p:cNvSpPr/>
          <p:nvPr/>
        </p:nvSpPr>
        <p:spPr>
          <a:xfrm>
            <a:off x="7543800" y="4256532"/>
            <a:ext cx="3867912" cy="786384"/>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08392" y="4375404"/>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TỐC ĐỘ ĐỌC</a:t>
            </a:r>
          </a:p>
        </p:txBody>
      </p:sp>
      <p:sp>
        <p:nvSpPr>
          <p:cNvPr id="15" name="TextBox 14"/>
          <p:cNvSpPr txBox="1"/>
          <p:nvPr/>
        </p:nvSpPr>
        <p:spPr>
          <a:xfrm>
            <a:off x="7708392" y="4686300"/>
            <a:ext cx="3538728" cy="283464"/>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đủ thuộc tính → </a:t>
            </a:r>
            <a:r>
              <a:rPr sz="1150" b="1">
                <a:solidFill>
                  <a:srgbClr val="EA580C"/>
                </a:solidFill>
                <a:latin typeface="Calibri"/>
              </a:rPr>
              <a:t>2–6 ms</a:t>
            </a:r>
          </a:p>
          <a:p>
            <a:pPr>
              <a:lnSpc>
                <a:spcPct val="108000"/>
              </a:lnSpc>
              <a:spcAft>
                <a:spcPts val="300"/>
              </a:spcAft>
            </a:pPr>
            <a:r>
              <a:rPr sz="1150" b="0">
                <a:solidFill>
                  <a:srgbClr val="1F2A37"/>
                </a:solidFill>
                <a:latin typeface="Calibri"/>
              </a:rPr>
              <a:t>thiếu → quét fact </a:t>
            </a:r>
            <a:r>
              <a:rPr sz="1150" b="1">
                <a:solidFill>
                  <a:srgbClr val="EA580C"/>
                </a:solidFill>
                <a:latin typeface="Calibri"/>
              </a:rPr>
              <a:t>130–400 ms</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3 mart: 17.532 (ngày) · 576 (tháng) · 6.075 (cube) — chọn theo truy vấn thật; đủ thuộc tính đọc 2–6 ms, thiếu thì quét fact.</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21 / 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CUBE 5 thuộc tính = 2⁵ = 32 grouping sets</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Trang OLAP tổng hợp theo </a:t>
            </a:r>
            <a:r>
              <a:rPr sz="1450" b="1">
                <a:solidFill>
                  <a:srgbClr val="EA580C"/>
                </a:solidFill>
                <a:latin typeface="Cambria"/>
              </a:rPr>
              <a:t>CUBE(năm, mùa, quận, buổi, phần tư gió)</a:t>
            </a:r>
            <a:r>
              <a:rPr sz="1450" b="0">
                <a:solidFill>
                  <a:srgbClr val="1F2A37"/>
                </a:solidFill>
                <a:latin typeface="Cambria"/>
              </a:rPr>
              <a:t>. Với CUBE, mỗi thuộc tính có 2 lựa chọn — </a:t>
            </a:r>
            <a:r>
              <a:rPr sz="1450" b="1">
                <a:solidFill>
                  <a:srgbClr val="1F2A37"/>
                </a:solidFill>
                <a:latin typeface="Cambria"/>
              </a:rPr>
              <a:t>giữ nguyên giá trị</a:t>
            </a:r>
            <a:r>
              <a:rPr sz="1450" b="0">
                <a:solidFill>
                  <a:srgbClr val="1F2A37"/>
                </a:solidFill>
                <a:latin typeface="Cambria"/>
              </a:rPr>
              <a:t> hoặc </a:t>
            </a:r>
            <a:r>
              <a:rPr sz="1450" b="1">
                <a:solidFill>
                  <a:srgbClr val="1F2A37"/>
                </a:solidFill>
                <a:latin typeface="Cambria"/>
              </a:rPr>
              <a:t>cuộn lên ALL</a:t>
            </a:r>
            <a:r>
              <a:rPr sz="1450" b="0">
                <a:solidFill>
                  <a:srgbClr val="1F2A37"/>
                </a:solidFill>
                <a:latin typeface="Cambria"/>
              </a:rPr>
              <a:t> — và CUBE sinh </a:t>
            </a:r>
            <a:r>
              <a:rPr sz="1450" b="1">
                <a:solidFill>
                  <a:srgbClr val="1F2A37"/>
                </a:solidFill>
                <a:latin typeface="Cambria"/>
              </a:rPr>
              <a:t>mọi tổ hợp</a:t>
            </a:r>
            <a:r>
              <a:rPr sz="1450" b="0">
                <a:solidFill>
                  <a:srgbClr val="1F2A37"/>
                </a:solidFill>
                <a:latin typeface="Cambria"/>
              </a:rPr>
              <a:t>: 2×2×2×2×2 = </a:t>
            </a:r>
            <a:r>
              <a:rPr sz="1450" b="1">
                <a:solidFill>
                  <a:srgbClr val="EA580C"/>
                </a:solidFill>
                <a:latin typeface="Cambria"/>
              </a:rPr>
              <a:t>32 grouping sets</a:t>
            </a:r>
            <a:r>
              <a:rPr sz="1450" b="0">
                <a:solidFill>
                  <a:srgbClr val="1F2A37"/>
                </a:solidFill>
                <a:latin typeface="Cambria"/>
              </a:rPr>
              <a:t>. Ví dụ một khối: (2015, Đông, ALL, ALL, Nam) — tổng cả thành phố mùa đông 2015, chỉ giờ gió nam.</a:t>
            </a:r>
          </a:p>
          <a:p>
            <a:pPr algn="just">
              <a:lnSpc>
                <a:spcPct val="113000"/>
              </a:lnSpc>
              <a:spcAft>
                <a:spcPts val="900"/>
              </a:spcAft>
            </a:pPr>
            <a:r>
              <a:rPr sz="1450" b="0">
                <a:solidFill>
                  <a:srgbClr val="1F2A37"/>
                </a:solidFill>
                <a:latin typeface="Cambria"/>
              </a:rPr>
              <a:t>Hai bẫy hay hỏi: </a:t>
            </a:r>
            <a:r>
              <a:rPr sz="1450" b="1">
                <a:solidFill>
                  <a:srgbClr val="1F2A37"/>
                </a:solidFill>
                <a:latin typeface="Cambria"/>
              </a:rPr>
              <a:t>(1)</a:t>
            </a:r>
            <a:r>
              <a:rPr sz="1450" b="0">
                <a:solidFill>
                  <a:srgbClr val="1F2A37"/>
                </a:solidFill>
                <a:latin typeface="Cambria"/>
              </a:rPr>
              <a:t> 5 thuộc tính trong CUBE </a:t>
            </a:r>
            <a:r>
              <a:rPr sz="1450" b="1">
                <a:solidFill>
                  <a:srgbClr val="EA580C"/>
                </a:solidFill>
                <a:latin typeface="Cambria"/>
              </a:rPr>
              <a:t>không bằng</a:t>
            </a:r>
            <a:r>
              <a:rPr sz="1450" b="0">
                <a:solidFill>
                  <a:srgbClr val="1F2A37"/>
                </a:solidFill>
                <a:latin typeface="Cambria"/>
              </a:rPr>
              <a:t> 4 bảng chiều — năm và mùa cùng nằm trong dim_date; </a:t>
            </a:r>
            <a:r>
              <a:rPr sz="1450" b="1">
                <a:solidFill>
                  <a:srgbClr val="1F2A37"/>
                </a:solidFill>
                <a:latin typeface="Cambria"/>
              </a:rPr>
              <a:t>(2)</a:t>
            </a:r>
            <a:r>
              <a:rPr sz="1450" b="0">
                <a:solidFill>
                  <a:srgbClr val="1F2A37"/>
                </a:solidFill>
                <a:latin typeface="Cambria"/>
              </a:rPr>
              <a:t> </a:t>
            </a:r>
            <a:r>
              <a:rPr sz="1450" b="1">
                <a:solidFill>
                  <a:srgbClr val="EA580C"/>
                </a:solidFill>
                <a:latin typeface="Cambria"/>
              </a:rPr>
              <a:t>32 ≠ 180</a:t>
            </a:r>
            <a:r>
              <a:rPr sz="1450" b="0">
                <a:solidFill>
                  <a:srgbClr val="1F2A37"/>
                </a:solidFill>
                <a:latin typeface="Cambria"/>
              </a:rPr>
              <a:t> — 32 là grouping sets của CUBE này; 180 là tổ hợp mức phân cấp của cả 4 chiều (kể cả thuộc tính ngoài CUBE như trạm cụ thể, ngày cụ thể). GROUPING SETS là cú pháp SQL đằng sau: mỗi grouping set = một cách GROUP BY một tập cột.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2⁵ = 32</a:t>
            </a:r>
          </a:p>
        </p:txBody>
      </p:sp>
      <p:sp>
        <p:nvSpPr>
          <p:cNvPr id="7" name="Rounded Rectangle 6"/>
          <p:cNvSpPr/>
          <p:nvPr/>
        </p:nvSpPr>
        <p:spPr>
          <a:xfrm>
            <a:off x="7543800" y="1883664"/>
            <a:ext cx="3867912" cy="96012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975104"/>
            <a:ext cx="3593592" cy="777240"/>
          </a:xfrm>
          <a:prstGeom prst="rect">
            <a:avLst/>
          </a:prstGeom>
          <a:noFill/>
        </p:spPr>
        <p:txBody>
          <a:bodyPr wrap="square" anchor="ctr" lIns="27432" rIns="27432" tIns="0" bIns="0">
            <a:spAutoFit/>
          </a:bodyPr>
          <a:lstStyle/>
          <a:p>
            <a:pPr algn="ctr"/>
            <a:r>
              <a:rPr sz="3400" b="1" i="0">
                <a:solidFill>
                  <a:srgbClr val="0F766E"/>
                </a:solidFill>
                <a:latin typeface="Cambria"/>
              </a:rPr>
              <a:t>2⁵ = 32</a:t>
            </a:r>
          </a:p>
        </p:txBody>
      </p:sp>
      <p:sp>
        <p:nvSpPr>
          <p:cNvPr id="9" name="TextBox 8"/>
          <p:cNvSpPr txBox="1"/>
          <p:nvPr/>
        </p:nvSpPr>
        <p:spPr>
          <a:xfrm>
            <a:off x="7543800" y="3026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Mỗi thuộc tính  </a:t>
            </a:r>
            <a:r>
              <a:rPr sz="1250" b="0">
                <a:solidFill>
                  <a:srgbClr val="1F2A37"/>
                </a:solidFill>
                <a:latin typeface="Calibri"/>
              </a:rPr>
              <a:t>giữ nguyên giá trị hoặc cuộn lên ALL</a:t>
            </a:r>
          </a:p>
        </p:txBody>
      </p:sp>
      <p:sp>
        <p:nvSpPr>
          <p:cNvPr id="10" name="TextBox 9"/>
          <p:cNvSpPr txBox="1"/>
          <p:nvPr/>
        </p:nvSpPr>
        <p:spPr>
          <a:xfrm>
            <a:off x="7543800" y="3630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Ví dụ khối  </a:t>
            </a:r>
            <a:r>
              <a:rPr sz="1250" b="0">
                <a:solidFill>
                  <a:srgbClr val="1F2A37"/>
                </a:solidFill>
                <a:latin typeface="Calibri"/>
              </a:rPr>
              <a:t>(2015, Đông, ALL, ALL, Nam)</a:t>
            </a:r>
          </a:p>
        </p:txBody>
      </p:sp>
      <p:sp>
        <p:nvSpPr>
          <p:cNvPr id="11" name="Rounded Rectangle 10"/>
          <p:cNvSpPr/>
          <p:nvPr/>
        </p:nvSpPr>
        <p:spPr>
          <a:xfrm>
            <a:off x="7543800" y="4306824"/>
            <a:ext cx="3867912" cy="118872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4425696"/>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HAI BẪY</a:t>
            </a:r>
          </a:p>
        </p:txBody>
      </p:sp>
      <p:sp>
        <p:nvSpPr>
          <p:cNvPr id="13" name="TextBox 12"/>
          <p:cNvSpPr txBox="1"/>
          <p:nvPr/>
        </p:nvSpPr>
        <p:spPr>
          <a:xfrm>
            <a:off x="7708392" y="4736592"/>
            <a:ext cx="3538728" cy="685800"/>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5 thuộc tính </a:t>
            </a:r>
            <a:r>
              <a:rPr sz="1150" b="1">
                <a:solidFill>
                  <a:srgbClr val="EA580C"/>
                </a:solidFill>
                <a:latin typeface="Calibri"/>
              </a:rPr>
              <a:t>≠</a:t>
            </a:r>
            <a:r>
              <a:rPr sz="1150" b="0">
                <a:solidFill>
                  <a:srgbClr val="1F2A37"/>
                </a:solidFill>
                <a:latin typeface="Calibri"/>
              </a:rPr>
              <a:t> 4 bảng chiều —</a:t>
            </a:r>
          </a:p>
          <a:p>
            <a:pPr>
              <a:lnSpc>
                <a:spcPct val="108000"/>
              </a:lnSpc>
              <a:spcAft>
                <a:spcPts val="300"/>
              </a:spcAft>
            </a:pPr>
            <a:r>
              <a:rPr sz="1150" b="0">
                <a:solidFill>
                  <a:srgbClr val="1F2A37"/>
                </a:solidFill>
                <a:latin typeface="Calibri"/>
              </a:rPr>
              <a:t>năm + mùa cùng dim_date</a:t>
            </a:r>
          </a:p>
          <a:p>
            <a:pPr>
              <a:lnSpc>
                <a:spcPct val="108000"/>
              </a:lnSpc>
              <a:spcAft>
                <a:spcPts val="300"/>
              </a:spcAft>
            </a:pPr>
            <a:r>
              <a:rPr sz="1150" b="1">
                <a:solidFill>
                  <a:srgbClr val="EA580C"/>
                </a:solidFill>
                <a:latin typeface="Calibri"/>
              </a:rPr>
              <a:t>32 ≠ 180</a:t>
            </a:r>
            <a:r>
              <a:rPr sz="1150" b="0">
                <a:solidFill>
                  <a:srgbClr val="1F2A37"/>
                </a:solidFill>
                <a:latin typeface="Calibri"/>
              </a:rPr>
              <a:t> (mức phân cấp)</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2⁵ = 32 grouping sets (giữ/ALL cho từng thuộc tính) · thuộc tính CUBE ≠ số bảng chiều · 32 ≠ 180.</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22 / 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Kiểm chứng kho: tính lại từng ô — 100% khớp</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Phần tự hào nhất của kho: mọi ô tính trước đều được </a:t>
            </a:r>
            <a:r>
              <a:rPr sz="1450" b="1">
                <a:solidFill>
                  <a:srgbClr val="1F2A37"/>
                </a:solidFill>
                <a:latin typeface="Cambria"/>
              </a:rPr>
              <a:t>kiểm chứng độc lập</a:t>
            </a:r>
            <a:r>
              <a:rPr sz="1450" b="0">
                <a:solidFill>
                  <a:srgbClr val="1F2A37"/>
                </a:solidFill>
                <a:latin typeface="Cambria"/>
              </a:rPr>
              <a:t>. Script chạy lại GROUPING SETS từng khối </a:t>
            </a:r>
            <a:r>
              <a:rPr sz="1450" b="1">
                <a:solidFill>
                  <a:srgbClr val="1F2A37"/>
                </a:solidFill>
                <a:latin typeface="Cambria"/>
              </a:rPr>
              <a:t>trực tiếp từ bảng fact</a:t>
            </a:r>
            <a:r>
              <a:rPr sz="1450" b="0">
                <a:solidFill>
                  <a:srgbClr val="1F2A37"/>
                </a:solidFill>
                <a:latin typeface="Cambria"/>
              </a:rPr>
              <a:t>, rồi so </a:t>
            </a:r>
            <a:r>
              <a:rPr sz="1450" b="1">
                <a:solidFill>
                  <a:srgbClr val="1F2A37"/>
                </a:solidFill>
                <a:latin typeface="Cambria"/>
              </a:rPr>
              <a:t>từng ô một</a:t>
            </a:r>
            <a:r>
              <a:rPr sz="1450" b="0">
                <a:solidFill>
                  <a:srgbClr val="1F2A37"/>
                </a:solidFill>
                <a:latin typeface="Cambria"/>
              </a:rPr>
              <a:t> với mart đã tính trước: </a:t>
            </a:r>
            <a:r>
              <a:rPr sz="1450" b="1">
                <a:solidFill>
                  <a:srgbClr val="EA580C"/>
                </a:solidFill>
                <a:latin typeface="Cambria"/>
              </a:rPr>
              <a:t>24.759 / 24.759 ô khớp = 100%</a:t>
            </a:r>
            <a:r>
              <a:rPr sz="1450" b="0">
                <a:solidFill>
                  <a:srgbClr val="1F2A37"/>
                </a:solidFill>
                <a:latin typeface="Cambria"/>
              </a:rPr>
              <a:t>.</a:t>
            </a:r>
          </a:p>
          <a:p>
            <a:pPr algn="just">
              <a:lnSpc>
                <a:spcPct val="113000"/>
              </a:lnSpc>
              <a:spcAft>
                <a:spcPts val="900"/>
              </a:spcAft>
            </a:pPr>
            <a:r>
              <a:rPr sz="1450" b="0">
                <a:solidFill>
                  <a:srgbClr val="1F2A37"/>
                </a:solidFill>
                <a:latin typeface="Cambria"/>
              </a:rPr>
              <a:t>Lớp thứ hai là </a:t>
            </a:r>
            <a:r>
              <a:rPr sz="1450" b="1">
                <a:solidFill>
                  <a:srgbClr val="EA580C"/>
                </a:solidFill>
                <a:latin typeface="Cambria"/>
              </a:rPr>
              <a:t>130 dbt test</a:t>
            </a:r>
            <a:r>
              <a:rPr sz="1450" b="0">
                <a:solidFill>
                  <a:srgbClr val="1F2A37"/>
                </a:solidFill>
                <a:latin typeface="Cambria"/>
              </a:rPr>
              <a:t> chạy tự động mỗi lần dựng kho: khóa duy nhất, not-null, khóa ngoại fact↔chiều, và test </a:t>
            </a:r>
            <a:r>
              <a:rPr sz="1450" b="1">
                <a:solidFill>
                  <a:srgbClr val="1F2A37"/>
                </a:solidFill>
                <a:latin typeface="Cambria"/>
              </a:rPr>
              <a:t>phân hoạch</a:t>
            </a:r>
            <a:r>
              <a:rPr sz="1450" b="0">
                <a:solidFill>
                  <a:srgbClr val="1F2A37"/>
                </a:solidFill>
                <a:latin typeface="Cambria"/>
              </a:rPr>
              <a:t> — mỗi dòng fact đóng góp đúng MỘT lần vào mỗi grouping set (nếu một dòng rơi vào 2 khối, tổng các khối sẽ vượt tổng fact → bị bắt). Nói đủ cả hạn chế: khối tính trước chỉ phục vụ truy v vấn có đủ thuộc tính trong cube; kiểm chứng không phải “mọi truy vấn đều nhanh” mà là “</a:t>
            </a:r>
            <a:r>
              <a:rPr sz="1450" b="1">
                <a:solidFill>
                  <a:srgbClr val="1F2A37"/>
                </a:solidFill>
                <a:latin typeface="Cambria"/>
              </a:rPr>
              <a:t>mọi ô đã tính đều đúng, sai thì máy móc phát hiện</a:t>
            </a:r>
            <a:r>
              <a:rPr sz="1450" b="0">
                <a:solidFill>
                  <a:srgbClr val="1F2A37"/>
                </a:solidFill>
                <a:latin typeface="Cambria"/>
              </a:rPr>
              <a: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HAI LỚP KIỂM CHỨNG</a:t>
            </a:r>
          </a:p>
        </p:txBody>
      </p:sp>
      <p:sp>
        <p:nvSpPr>
          <p:cNvPr id="7" name="TextBox 6"/>
          <p:cNvSpPr txBox="1"/>
          <p:nvPr/>
        </p:nvSpPr>
        <p:spPr>
          <a:xfrm>
            <a:off x="7543800" y="1883664"/>
            <a:ext cx="3867912" cy="816864"/>
          </a:xfrm>
          <a:prstGeom prst="rect">
            <a:avLst/>
          </a:prstGeom>
          <a:noFill/>
        </p:spPr>
        <p:txBody>
          <a:bodyPr wrap="square" anchor="t" lIns="27432" rIns="27432" tIns="0" bIns="0">
            <a:spAutoFit/>
          </a:bodyPr>
          <a:lstStyle/>
          <a:p>
            <a:pPr algn="l"/>
            <a:r>
              <a:rPr sz="4000" b="1" i="0">
                <a:solidFill>
                  <a:srgbClr val="EA580C"/>
                </a:solidFill>
                <a:latin typeface="Cambria"/>
              </a:rPr>
              <a:t>100%</a:t>
            </a:r>
          </a:p>
        </p:txBody>
      </p:sp>
      <p:sp>
        <p:nvSpPr>
          <p:cNvPr id="8" name="TextBox 7"/>
          <p:cNvSpPr txBox="1"/>
          <p:nvPr/>
        </p:nvSpPr>
        <p:spPr>
          <a:xfrm>
            <a:off x="7543800" y="27188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24.759/24.759 ô khớp khi tính lại trực tiếp từ fact</a:t>
            </a:r>
          </a:p>
        </p:txBody>
      </p:sp>
      <p:sp>
        <p:nvSpPr>
          <p:cNvPr id="9" name="Rectangle 8"/>
          <p:cNvSpPr/>
          <p:nvPr/>
        </p:nvSpPr>
        <p:spPr>
          <a:xfrm>
            <a:off x="7543800" y="3002280"/>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3112008"/>
            <a:ext cx="3867912" cy="473964"/>
          </a:xfrm>
          <a:prstGeom prst="rect">
            <a:avLst/>
          </a:prstGeom>
          <a:noFill/>
        </p:spPr>
        <p:txBody>
          <a:bodyPr wrap="square" anchor="t" lIns="27432" rIns="27432" tIns="0" bIns="0">
            <a:spAutoFit/>
          </a:bodyPr>
          <a:lstStyle/>
          <a:p>
            <a:pPr algn="l"/>
            <a:r>
              <a:rPr sz="2200" b="1" i="0">
                <a:solidFill>
                  <a:srgbClr val="EA580C"/>
                </a:solidFill>
                <a:latin typeface="Cambria"/>
              </a:rPr>
              <a:t>130 dbt test</a:t>
            </a:r>
          </a:p>
        </p:txBody>
      </p:sp>
      <p:sp>
        <p:nvSpPr>
          <p:cNvPr id="11" name="TextBox 10"/>
          <p:cNvSpPr txBox="1"/>
          <p:nvPr/>
        </p:nvSpPr>
        <p:spPr>
          <a:xfrm>
            <a:off x="7543800" y="3604260"/>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khóa duy nhất · not-null · khóa ngoại · phân hoạch fact</a:t>
            </a:r>
          </a:p>
        </p:txBody>
      </p:sp>
      <p:sp>
        <p:nvSpPr>
          <p:cNvPr id="12" name="Rounded Rectangle 11"/>
          <p:cNvSpPr/>
          <p:nvPr/>
        </p:nvSpPr>
        <p:spPr>
          <a:xfrm>
            <a:off x="7543800" y="3933444"/>
            <a:ext cx="3867912" cy="91440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405231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PHÂN HOẠCH</a:t>
            </a:r>
          </a:p>
        </p:txBody>
      </p:sp>
      <p:sp>
        <p:nvSpPr>
          <p:cNvPr id="14" name="TextBox 13"/>
          <p:cNvSpPr txBox="1"/>
          <p:nvPr/>
        </p:nvSpPr>
        <p:spPr>
          <a:xfrm>
            <a:off x="7708392" y="4363212"/>
            <a:ext cx="3538728" cy="411480"/>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mỗi dòng fact đóng góp đúng 1 lần</a:t>
            </a:r>
          </a:p>
          <a:p>
            <a:pPr>
              <a:lnSpc>
                <a:spcPct val="108000"/>
              </a:lnSpc>
              <a:spcAft>
                <a:spcPts val="300"/>
              </a:spcAft>
            </a:pPr>
            <a:r>
              <a:rPr sz="1150" b="0">
                <a:solidFill>
                  <a:srgbClr val="1F2A37"/>
                </a:solidFill>
                <a:latin typeface="Calibri"/>
              </a:rPr>
              <a:t>vào MỖI grouping set</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24.759/24.759 ô = 100% khớp khi tính lại từ fact · 130 dbt test — hai lớp kiểm chứng độc lập.</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23 / 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KHO</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Tổng hợp đúng: lưu SUM + COUNT, không lưu trung bình</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Trung bình là </a:t>
            </a:r>
            <a:r>
              <a:rPr sz="1450" b="1">
                <a:solidFill>
                  <a:srgbClr val="1F2A37"/>
                </a:solidFill>
                <a:latin typeface="Cambria"/>
              </a:rPr>
              <a:t>độ đo “không cộng”</a:t>
            </a:r>
            <a:r>
              <a:rPr sz="1450" b="0">
                <a:solidFill>
                  <a:srgbClr val="1F2A37"/>
                </a:solidFill>
                <a:latin typeface="Cambria"/>
              </a:rPr>
              <a:t> — không thể cộng hai trung bình thành một trung bình đúng. Vì vậy mart và cube chỉ lưu </a:t>
            </a:r>
            <a:r>
              <a:rPr sz="1450" b="1">
                <a:solidFill>
                  <a:srgbClr val="EA580C"/>
                </a:solidFill>
                <a:latin typeface="Cambria"/>
              </a:rPr>
              <a:t>SUM</a:t>
            </a:r>
            <a:r>
              <a:rPr sz="1450" b="0">
                <a:solidFill>
                  <a:srgbClr val="1F2A37"/>
                </a:solidFill>
                <a:latin typeface="Cambria"/>
              </a:rPr>
              <a:t> và </a:t>
            </a:r>
            <a:r>
              <a:rPr sz="1450" b="1">
                <a:solidFill>
                  <a:srgbClr val="EA580C"/>
                </a:solidFill>
                <a:latin typeface="Cambria"/>
              </a:rPr>
              <a:t>COUNT</a:t>
            </a:r>
            <a:r>
              <a:rPr sz="1450" b="0">
                <a:solidFill>
                  <a:srgbClr val="1F2A37"/>
                </a:solidFill>
                <a:latin typeface="Cambria"/>
              </a:rPr>
              <a:t> của từng nhóm, chia ra khi đọc. Cùng nguyên tắc, </a:t>
            </a:r>
            <a:r>
              <a:rPr sz="1450" b="1">
                <a:solidFill>
                  <a:srgbClr val="EA580C"/>
                </a:solidFill>
                <a:latin typeface="Cambria"/>
              </a:rPr>
              <a:t>không được SUM cả bảng cube</a:t>
            </a:r>
            <a:r>
              <a:rPr sz="1450" b="0">
                <a:solidFill>
                  <a:srgbClr val="1F2A37"/>
                </a:solidFill>
                <a:latin typeface="Cambria"/>
              </a:rPr>
              <a:t> để đếm tổng số giờ: mỗi dòng fact nằm trong NHIỀU grouping set — cộng cả bảng là </a:t>
            </a:r>
            <a:r>
              <a:rPr sz="1450" b="1">
                <a:solidFill>
                  <a:srgbClr val="1F2A37"/>
                </a:solidFill>
                <a:latin typeface="Cambria"/>
              </a:rPr>
              <a:t>đếm trùng</a:t>
            </a:r>
            <a:r>
              <a:rPr sz="1450" b="0">
                <a:solidFill>
                  <a:srgbClr val="1F2A37"/>
                </a:solidFill>
                <a:latin typeface="Cambria"/>
              </a:rPr>
              <a:t> một quan trắc nhiều lần.</a:t>
            </a:r>
          </a:p>
          <a:p>
            <a:pPr algn="just">
              <a:lnSpc>
                <a:spcPct val="113000"/>
              </a:lnSpc>
              <a:spcAft>
                <a:spcPts val="900"/>
              </a:spcAft>
            </a:pPr>
            <a:r>
              <a:rPr sz="1450" b="0">
                <a:solidFill>
                  <a:srgbClr val="1F2A37"/>
                </a:solidFill>
                <a:latin typeface="Cambria"/>
              </a:rPr>
              <a:t>Lưu SUM + COUNT còn có lợi nữa: khi </a:t>
            </a:r>
            <a:r>
              <a:rPr sz="1450" b="1">
                <a:solidFill>
                  <a:srgbClr val="1F2A37"/>
                </a:solidFill>
                <a:latin typeface="Cambria"/>
              </a:rPr>
              <a:t>mức thiếu khác nhau giữa các nhóm</a:t>
            </a:r>
            <a:r>
              <a:rPr sz="1450" b="0">
                <a:solidFill>
                  <a:srgbClr val="1F2A37"/>
                </a:solidFill>
                <a:latin typeface="Cambria"/>
              </a:rPr>
              <a:t> (nhóm này thiếu nhiều giờ hơn nhóm kia), COUNT phản ánh đúng số giờ đo hợp lệ thật — gộp lên cấp cao vẫn đúng trọng số.</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VÍ DỤ 30 GIỜ ĐO</a:t>
            </a:r>
          </a:p>
        </p:txBody>
      </p:sp>
      <p:sp>
        <p:nvSpPr>
          <p:cNvPr id="7" name="TextBox 6"/>
          <p:cNvSpPr txBox="1"/>
          <p:nvPr/>
        </p:nvSpPr>
        <p:spPr>
          <a:xfrm>
            <a:off x="7543800" y="1883664"/>
            <a:ext cx="3867912" cy="274320"/>
          </a:xfrm>
          <a:prstGeom prst="rect">
            <a:avLst/>
          </a:prstGeom>
          <a:noFill/>
        </p:spPr>
        <p:txBody>
          <a:bodyPr wrap="square" anchor="t" lIns="27432" rIns="27432" tIns="0" bIns="0">
            <a:spAutoFit/>
          </a:bodyPr>
          <a:lstStyle/>
          <a:p>
            <a:pPr algn="ctr"/>
            <a:r>
              <a:rPr sz="1200" b="0" i="0">
                <a:solidFill>
                  <a:srgbClr val="64748B"/>
                </a:solidFill>
                <a:latin typeface="Calibri"/>
              </a:rPr>
              <a:t>24 giờ × 100 + 6 giờ × 200 µg/m³</a:t>
            </a:r>
          </a:p>
        </p:txBody>
      </p:sp>
      <p:sp>
        <p:nvSpPr>
          <p:cNvPr id="8" name="Rounded Rectangle 7"/>
          <p:cNvSpPr/>
          <p:nvPr/>
        </p:nvSpPr>
        <p:spPr>
          <a:xfrm>
            <a:off x="7543800" y="2249424"/>
            <a:ext cx="3867912" cy="1042415"/>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236829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ĐÚNG ✓</a:t>
            </a:r>
          </a:p>
        </p:txBody>
      </p:sp>
      <p:sp>
        <p:nvSpPr>
          <p:cNvPr id="10" name="TextBox 9"/>
          <p:cNvSpPr txBox="1"/>
          <p:nvPr/>
        </p:nvSpPr>
        <p:spPr>
          <a:xfrm>
            <a:off x="7708392" y="2679192"/>
            <a:ext cx="3538728" cy="539495"/>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(2.400 + 1.200) / 30</a:t>
            </a:r>
          </a:p>
          <a:p>
            <a:pPr>
              <a:lnSpc>
                <a:spcPct val="108000"/>
              </a:lnSpc>
              <a:spcAft>
                <a:spcPts val="300"/>
              </a:spcAft>
            </a:pPr>
            <a:r>
              <a:rPr sz="1200" b="0">
                <a:solidFill>
                  <a:srgbClr val="1F2A37"/>
                </a:solidFill>
                <a:latin typeface="Calibri"/>
              </a:rPr>
              <a:t>= </a:t>
            </a:r>
            <a:r>
              <a:rPr sz="1200" b="1">
                <a:solidFill>
                  <a:srgbClr val="EA580C"/>
                </a:solidFill>
                <a:latin typeface="Calibri"/>
              </a:rPr>
              <a:t>3.600 / 30 = 120</a:t>
            </a:r>
          </a:p>
        </p:txBody>
      </p:sp>
      <p:sp>
        <p:nvSpPr>
          <p:cNvPr id="11" name="Rounded Rectangle 10"/>
          <p:cNvSpPr/>
          <p:nvPr/>
        </p:nvSpPr>
        <p:spPr>
          <a:xfrm>
            <a:off x="7543800" y="3419856"/>
            <a:ext cx="3867912" cy="1042415"/>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3538728"/>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SAI ✗</a:t>
            </a:r>
          </a:p>
        </p:txBody>
      </p:sp>
      <p:sp>
        <p:nvSpPr>
          <p:cNvPr id="13" name="TextBox 12"/>
          <p:cNvSpPr txBox="1"/>
          <p:nvPr/>
        </p:nvSpPr>
        <p:spPr>
          <a:xfrm>
            <a:off x="7708392" y="3849624"/>
            <a:ext cx="3538728" cy="539495"/>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trung bình của trung bình</a:t>
            </a:r>
          </a:p>
          <a:p>
            <a:pPr>
              <a:lnSpc>
                <a:spcPct val="108000"/>
              </a:lnSpc>
              <a:spcAft>
                <a:spcPts val="300"/>
              </a:spcAft>
            </a:pPr>
            <a:r>
              <a:rPr sz="1200" b="0">
                <a:solidFill>
                  <a:srgbClr val="1F2A37"/>
                </a:solidFill>
                <a:latin typeface="Calibri"/>
              </a:rPr>
              <a:t>=(100 + 200)/2 = </a:t>
            </a:r>
            <a:r>
              <a:rPr sz="1200" b="1">
                <a:solidFill>
                  <a:srgbClr val="EA580C"/>
                </a:solidFill>
                <a:latin typeface="Calibri"/>
              </a:rPr>
              <a:t>150</a:t>
            </a:r>
          </a:p>
        </p:txBody>
      </p:sp>
      <p:sp>
        <p:nvSpPr>
          <p:cNvPr id="14" name="Rounded Rectangle 13"/>
          <p:cNvSpPr/>
          <p:nvPr/>
        </p:nvSpPr>
        <p:spPr>
          <a:xfrm>
            <a:off x="7543800" y="4700016"/>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DBA74"/>
                </a:solidFill>
                <a:latin typeface="Calibri"/>
              </a:rPr>
              <a:t>SUM cả bảng cube = đếm trùng</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Khối lưu SUM + COUNT rồi chia lúc đọc · không SUM cả cube để đếm (đếm trùng) · không lấy trung bình của trung bình.</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24 / 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OLAP</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Năm phép OLAP — từ khóa gọi tên đúng thao tác</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OLAP (xử lý phân tích trực tuyến) có 5 thao tác kinh điển, và demo /olap gọi tên đúng từng thao tác khi bấm. Kịch bản demo nối đủ 5 phép: mở trang đang xem </a:t>
            </a:r>
            <a:r>
              <a:rPr sz="1450" b="1">
                <a:solidFill>
                  <a:srgbClr val="1F2A37"/>
                </a:solidFill>
                <a:latin typeface="Cambria"/>
              </a:rPr>
              <a:t>Năm × Mùa</a:t>
            </a:r>
            <a:r>
              <a:rPr sz="1450" b="0">
                <a:solidFill>
                  <a:srgbClr val="1F2A37"/>
                </a:solidFill>
                <a:latin typeface="Cambria"/>
              </a:rPr>
              <a:t> (đọc từ cube) → bấm 2015 </a:t>
            </a:r>
            <a:r>
              <a:rPr sz="1450" b="1">
                <a:solidFill>
                  <a:srgbClr val="1F2A37"/>
                </a:solidFill>
                <a:latin typeface="Cambria"/>
              </a:rPr>
              <a:t>drill-down</a:t>
            </a:r>
            <a:r>
              <a:rPr sz="1450" b="0">
                <a:solidFill>
                  <a:srgbClr val="1F2A37"/>
                </a:solidFill>
                <a:latin typeface="Cambria"/>
              </a:rPr>
              <a:t> quý → </a:t>
            </a:r>
            <a:r>
              <a:rPr sz="1450" b="1">
                <a:solidFill>
                  <a:srgbClr val="1F2A37"/>
                </a:solidFill>
                <a:latin typeface="Cambria"/>
              </a:rPr>
              <a:t>roll-up</a:t>
            </a:r>
            <a:r>
              <a:rPr sz="1450" b="0">
                <a:solidFill>
                  <a:srgbClr val="1F2A37"/>
                </a:solidFill>
                <a:latin typeface="Cambria"/>
              </a:rPr>
              <a:t> về năm → lọc Dongcheng (</a:t>
            </a:r>
            <a:r>
              <a:rPr sz="1450" b="1">
                <a:solidFill>
                  <a:srgbClr val="1F2A37"/>
                </a:solidFill>
                <a:latin typeface="Cambria"/>
              </a:rPr>
              <a:t>slice</a:t>
            </a:r>
            <a:r>
              <a:rPr sz="1450" b="0">
                <a:solidFill>
                  <a:srgbClr val="1F2A37"/>
                </a:solidFill>
                <a:latin typeface="Cambria"/>
              </a:rPr>
              <a:t>) → thêm Xicheng + 2016 (</a:t>
            </a:r>
            <a:r>
              <a:rPr sz="1450" b="1">
                <a:solidFill>
                  <a:srgbClr val="1F2A37"/>
                </a:solidFill>
                <a:latin typeface="Cambria"/>
              </a:rPr>
              <a:t>dice</a:t>
            </a:r>
            <a:r>
              <a:rPr sz="1450" b="0">
                <a:solidFill>
                  <a:srgbClr val="1F2A37"/>
                </a:solidFill>
                <a:latin typeface="Cambria"/>
              </a:rPr>
              <a:t>) → đổi hàng/cột (</a:t>
            </a:r>
            <a:r>
              <a:rPr sz="1450" b="1">
                <a:solidFill>
                  <a:srgbClr val="1F2A37"/>
                </a:solidFill>
                <a:latin typeface="Cambria"/>
              </a:rPr>
              <a:t>pivot</a:t>
            </a:r>
            <a:r>
              <a:rPr sz="1450" b="0">
                <a:solidFill>
                  <a:srgbClr val="1F2A37"/>
                </a:solidFill>
                <a:latin typeface="Cambria"/>
              </a:rPr>
              <a:t>).</a:t>
            </a:r>
          </a:p>
          <a:p>
            <a:pPr algn="just">
              <a:lnSpc>
                <a:spcPct val="113000"/>
              </a:lnSpc>
              <a:spcAft>
                <a:spcPts val="900"/>
              </a:spcAft>
            </a:pPr>
            <a:r>
              <a:rPr sz="1450" b="0">
                <a:solidFill>
                  <a:srgbClr val="1F2A37"/>
                </a:solidFill>
                <a:latin typeface="Cambria"/>
              </a:rPr>
              <a:t>Nhớ bằng bản chất: slice/dice là </a:t>
            </a:r>
            <a:r>
              <a:rPr sz="1450" b="1">
                <a:solidFill>
                  <a:srgbClr val="1F2A37"/>
                </a:solidFill>
                <a:latin typeface="Cambria"/>
              </a:rPr>
              <a:t>chọn tập con</a:t>
            </a:r>
            <a:r>
              <a:rPr sz="1450" b="0">
                <a:solidFill>
                  <a:srgbClr val="1F2A37"/>
                </a:solidFill>
                <a:latin typeface="Cambria"/>
              </a:rPr>
              <a:t> (1 giá trị hay nhiều giá trị); drill/roll là </a:t>
            </a:r>
            <a:r>
              <a:rPr sz="1450" b="1">
                <a:solidFill>
                  <a:srgbClr val="1F2A37"/>
                </a:solidFill>
                <a:latin typeface="Cambria"/>
              </a:rPr>
              <a:t>đổi mức mịn-thô</a:t>
            </a:r>
            <a:r>
              <a:rPr sz="1450" b="0">
                <a:solidFill>
                  <a:srgbClr val="1F2A37"/>
                </a:solidFill>
                <a:latin typeface="Cambria"/>
              </a:rPr>
              <a:t> trên phân cấp; pivot chỉ </a:t>
            </a:r>
            <a:r>
              <a:rPr sz="1450" b="1">
                <a:solidFill>
                  <a:srgbClr val="1F2A37"/>
                </a:solidFill>
                <a:latin typeface="Cambria"/>
              </a:rPr>
              <a:t>đổi góc trình bày</a:t>
            </a:r>
            <a:r>
              <a:rPr sz="1450" b="0">
                <a:solidFill>
                  <a:srgbClr val="1F2A37"/>
                </a:solidFill>
                <a:latin typeface="Cambria"/>
              </a:rPr>
              <a:t>, dữ liệu không đổi.</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NĂM PHÉP</a:t>
            </a:r>
          </a:p>
        </p:txBody>
      </p:sp>
      <p:sp>
        <p:nvSpPr>
          <p:cNvPr id="7" name="Rounded Rectangle 6"/>
          <p:cNvSpPr/>
          <p:nvPr/>
        </p:nvSpPr>
        <p:spPr>
          <a:xfrm>
            <a:off x="7543800" y="1883664"/>
            <a:ext cx="13258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Slice</a:t>
            </a:r>
          </a:p>
        </p:txBody>
      </p:sp>
      <p:sp>
        <p:nvSpPr>
          <p:cNvPr id="8" name="TextBox 7"/>
          <p:cNvSpPr txBox="1"/>
          <p:nvPr/>
        </p:nvSpPr>
        <p:spPr>
          <a:xfrm>
            <a:off x="9006840" y="1920240"/>
            <a:ext cx="2404872" cy="548640"/>
          </a:xfrm>
          <a:prstGeom prst="rect">
            <a:avLst/>
          </a:prstGeom>
          <a:noFill/>
        </p:spPr>
        <p:txBody>
          <a:bodyPr wrap="square" anchor="t" lIns="27432" rIns="27432" tIns="0" bIns="0">
            <a:spAutoFit/>
          </a:bodyPr>
          <a:lstStyle/>
          <a:p>
            <a:pPr algn="l">
              <a:spcAft>
                <a:spcPts val="100"/>
              </a:spcAft>
            </a:pPr>
            <a:r>
              <a:rPr sz="1150" b="0" i="0">
                <a:solidFill>
                  <a:srgbClr val="1F2A37"/>
                </a:solidFill>
                <a:latin typeface="Calibri"/>
              </a:rPr>
              <a:t>chọn MỘT giá trị — quận = Dongcheng</a:t>
            </a:r>
          </a:p>
        </p:txBody>
      </p:sp>
      <p:sp>
        <p:nvSpPr>
          <p:cNvPr id="9" name="Rounded Rectangle 8"/>
          <p:cNvSpPr/>
          <p:nvPr/>
        </p:nvSpPr>
        <p:spPr>
          <a:xfrm>
            <a:off x="7543800" y="2395728"/>
            <a:ext cx="13258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Dice</a:t>
            </a:r>
          </a:p>
        </p:txBody>
      </p:sp>
      <p:sp>
        <p:nvSpPr>
          <p:cNvPr id="10" name="TextBox 9"/>
          <p:cNvSpPr txBox="1"/>
          <p:nvPr/>
        </p:nvSpPr>
        <p:spPr>
          <a:xfrm>
            <a:off x="9006840" y="2432304"/>
            <a:ext cx="2404872" cy="548640"/>
          </a:xfrm>
          <a:prstGeom prst="rect">
            <a:avLst/>
          </a:prstGeom>
          <a:noFill/>
        </p:spPr>
        <p:txBody>
          <a:bodyPr wrap="square" anchor="t" lIns="27432" rIns="27432" tIns="0" bIns="0">
            <a:spAutoFit/>
          </a:bodyPr>
          <a:lstStyle/>
          <a:p>
            <a:pPr algn="l">
              <a:spcAft>
                <a:spcPts val="100"/>
              </a:spcAft>
            </a:pPr>
            <a:r>
              <a:rPr sz="1150" b="0" i="0">
                <a:solidFill>
                  <a:srgbClr val="1F2A37"/>
                </a:solidFill>
                <a:latin typeface="Calibri"/>
              </a:rPr>
              <a:t>chọn NHIỀU giá trị / miền — + Xicheng, 2016</a:t>
            </a:r>
          </a:p>
        </p:txBody>
      </p:sp>
      <p:sp>
        <p:nvSpPr>
          <p:cNvPr id="11" name="Rounded Rectangle 10"/>
          <p:cNvSpPr/>
          <p:nvPr/>
        </p:nvSpPr>
        <p:spPr>
          <a:xfrm>
            <a:off x="7543800" y="2907792"/>
            <a:ext cx="13258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Drill-down</a:t>
            </a:r>
          </a:p>
        </p:txBody>
      </p:sp>
      <p:sp>
        <p:nvSpPr>
          <p:cNvPr id="12" name="TextBox 11"/>
          <p:cNvSpPr txBox="1"/>
          <p:nvPr/>
        </p:nvSpPr>
        <p:spPr>
          <a:xfrm>
            <a:off x="9006840" y="2944368"/>
            <a:ext cx="2404872" cy="548640"/>
          </a:xfrm>
          <a:prstGeom prst="rect">
            <a:avLst/>
          </a:prstGeom>
          <a:noFill/>
        </p:spPr>
        <p:txBody>
          <a:bodyPr wrap="square" anchor="t" lIns="27432" rIns="27432" tIns="0" bIns="0">
            <a:spAutoFit/>
          </a:bodyPr>
          <a:lstStyle/>
          <a:p>
            <a:pPr algn="l">
              <a:spcAft>
                <a:spcPts val="100"/>
              </a:spcAft>
            </a:pPr>
            <a:r>
              <a:rPr sz="1150" b="0" i="0">
                <a:solidFill>
                  <a:srgbClr val="1F2A37"/>
                </a:solidFill>
                <a:latin typeface="Calibri"/>
              </a:rPr>
              <a:t>xuống mức mịn hơn — 2015 → quý</a:t>
            </a:r>
          </a:p>
        </p:txBody>
      </p:sp>
      <p:sp>
        <p:nvSpPr>
          <p:cNvPr id="13" name="Rounded Rectangle 12"/>
          <p:cNvSpPr/>
          <p:nvPr/>
        </p:nvSpPr>
        <p:spPr>
          <a:xfrm>
            <a:off x="7543800" y="3419856"/>
            <a:ext cx="13258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Roll-up</a:t>
            </a:r>
          </a:p>
        </p:txBody>
      </p:sp>
      <p:sp>
        <p:nvSpPr>
          <p:cNvPr id="14" name="TextBox 13"/>
          <p:cNvSpPr txBox="1"/>
          <p:nvPr/>
        </p:nvSpPr>
        <p:spPr>
          <a:xfrm>
            <a:off x="9006840" y="3456432"/>
            <a:ext cx="2404872" cy="548640"/>
          </a:xfrm>
          <a:prstGeom prst="rect">
            <a:avLst/>
          </a:prstGeom>
          <a:noFill/>
        </p:spPr>
        <p:txBody>
          <a:bodyPr wrap="square" anchor="t" lIns="27432" rIns="27432" tIns="0" bIns="0">
            <a:spAutoFit/>
          </a:bodyPr>
          <a:lstStyle/>
          <a:p>
            <a:pPr algn="l">
              <a:spcAft>
                <a:spcPts val="100"/>
              </a:spcAft>
            </a:pPr>
            <a:r>
              <a:rPr sz="1150" b="0" i="0">
                <a:solidFill>
                  <a:srgbClr val="1F2A37"/>
                </a:solidFill>
                <a:latin typeface="Calibri"/>
              </a:rPr>
              <a:t>lên mức thô hơn — quý → năm, hoặc về ALL</a:t>
            </a:r>
          </a:p>
        </p:txBody>
      </p:sp>
      <p:sp>
        <p:nvSpPr>
          <p:cNvPr id="15" name="Rounded Rectangle 14"/>
          <p:cNvSpPr/>
          <p:nvPr/>
        </p:nvSpPr>
        <p:spPr>
          <a:xfrm>
            <a:off x="7543800" y="3931920"/>
            <a:ext cx="13258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Pivot</a:t>
            </a:r>
          </a:p>
        </p:txBody>
      </p:sp>
      <p:sp>
        <p:nvSpPr>
          <p:cNvPr id="16" name="TextBox 15"/>
          <p:cNvSpPr txBox="1"/>
          <p:nvPr/>
        </p:nvSpPr>
        <p:spPr>
          <a:xfrm>
            <a:off x="9006840" y="3968496"/>
            <a:ext cx="2404872" cy="548640"/>
          </a:xfrm>
          <a:prstGeom prst="rect">
            <a:avLst/>
          </a:prstGeom>
          <a:noFill/>
        </p:spPr>
        <p:txBody>
          <a:bodyPr wrap="square" anchor="t" lIns="27432" rIns="27432" tIns="0" bIns="0">
            <a:spAutoFit/>
          </a:bodyPr>
          <a:lstStyle/>
          <a:p>
            <a:pPr algn="l">
              <a:spcAft>
                <a:spcPts val="100"/>
              </a:spcAft>
            </a:pPr>
            <a:r>
              <a:rPr sz="1150" b="0" i="0">
                <a:solidFill>
                  <a:srgbClr val="1F2A37"/>
                </a:solidFill>
                <a:latin typeface="Calibri"/>
              </a:rPr>
              <a:t>xoay trục — đổi hàng ↔ cột</a:t>
            </a:r>
          </a:p>
        </p:txBody>
      </p:sp>
      <p:sp>
        <p:nvSpPr>
          <p:cNvPr id="17" name="Rectangle 16"/>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9" name="TextBox 18"/>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Slice 1 giá trị · Dice nhiều giá trị/miền · Drill-down xuống mịn · Roll-up lên thô · Pivot xoay trục.</a:t>
            </a:r>
          </a:p>
        </p:txBody>
      </p:sp>
      <p:sp>
        <p:nvSpPr>
          <p:cNvPr id="20" name="TextBox 19"/>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25 / 49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OLAP</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ROLAP vs MOLAP — dự án dùng gì và vì sao</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Hai kiến trúc lưu trữ OLAP: </a:t>
            </a:r>
            <a:r>
              <a:rPr sz="1450" b="1">
                <a:solidFill>
                  <a:srgbClr val="EA580C"/>
                </a:solidFill>
                <a:latin typeface="Cambria"/>
              </a:rPr>
              <a:t>ROLAP</a:t>
            </a:r>
            <a:r>
              <a:rPr sz="1450" b="0">
                <a:solidFill>
                  <a:srgbClr val="1F2A37"/>
                </a:solidFill>
                <a:latin typeface="Cambria"/>
              </a:rPr>
              <a:t> — dữ liệu nằm trong </a:t>
            </a:r>
            <a:r>
              <a:rPr sz="1450" b="1">
                <a:solidFill>
                  <a:srgbClr val="1F2A37"/>
                </a:solidFill>
                <a:latin typeface="Cambria"/>
              </a:rPr>
              <a:t>cơ sở dữ liệu quan hệ</a:t>
            </a:r>
            <a:r>
              <a:rPr sz="1450" b="0">
                <a:solidFill>
                  <a:srgbClr val="1F2A37"/>
                </a:solidFill>
                <a:latin typeface="Cambria"/>
              </a:rPr>
              <a:t>, tổng hợp bằng SQL + khối tính trước trong mart; </a:t>
            </a:r>
            <a:r>
              <a:rPr sz="1450" b="1">
                <a:solidFill>
                  <a:srgbClr val="EA580C"/>
                </a:solidFill>
                <a:latin typeface="Cambria"/>
              </a:rPr>
              <a:t>MOLAP</a:t>
            </a:r>
            <a:r>
              <a:rPr sz="1450" b="0">
                <a:solidFill>
                  <a:srgbClr val="1F2A37"/>
                </a:solidFill>
                <a:latin typeface="Cambria"/>
              </a:rPr>
              <a:t> — engine </a:t>
            </a:r>
            <a:r>
              <a:rPr sz="1450" b="1">
                <a:solidFill>
                  <a:srgbClr val="1F2A37"/>
                </a:solidFill>
                <a:latin typeface="Cambria"/>
              </a:rPr>
              <a:t>ma trận đa chiều riêng</a:t>
            </a:r>
            <a:r>
              <a:rPr sz="1450" b="0">
                <a:solidFill>
                  <a:srgbClr val="1F2A37"/>
                </a:solidFill>
                <a:latin typeface="Cambria"/>
              </a:rPr>
              <a:t>, tính trước mọi ô của khối. Dự án dùng </a:t>
            </a:r>
            <a:r>
              <a:rPr sz="1450" b="1">
                <a:solidFill>
                  <a:srgbClr val="1F2A37"/>
                </a:solidFill>
                <a:latin typeface="Cambria"/>
              </a:rPr>
              <a:t>ROLAP</a:t>
            </a:r>
            <a:r>
              <a:rPr sz="1450" b="0">
                <a:solidFill>
                  <a:srgbClr val="1F2A37"/>
                </a:solidFill>
                <a:latin typeface="Cambria"/>
              </a:rPr>
              <a:t> (PostgreSQL + SQL + mart_olap_cube).</a:t>
            </a:r>
          </a:p>
          <a:p>
            <a:pPr algn="just">
              <a:lnSpc>
                <a:spcPct val="113000"/>
              </a:lnSpc>
              <a:spcAft>
                <a:spcPts val="900"/>
              </a:spcAft>
            </a:pPr>
            <a:r>
              <a:rPr sz="1450" b="0">
                <a:solidFill>
                  <a:srgbClr val="1F2A37"/>
                </a:solidFill>
                <a:latin typeface="Cambria"/>
              </a:rPr>
              <a:t>Vì sao: </a:t>
            </a:r>
            <a:r>
              <a:rPr sz="1450" b="1">
                <a:solidFill>
                  <a:srgbClr val="EA580C"/>
                </a:solidFill>
                <a:latin typeface="Cambria"/>
              </a:rPr>
              <a:t>420 nghìn dòng fact và 5 thuộc tính CUBE là quy mô PostgreSQL xử lý trong vài ms</a:t>
            </a:r>
            <a:r>
              <a:rPr sz="1450" b="0">
                <a:solidFill>
                  <a:srgbClr val="1F2A37"/>
                </a:solidFill>
                <a:latin typeface="Cambria"/>
              </a:rPr>
              <a:t> — xây engine MOLAP lúc này là phức tạp không mua thêm tốc độ. Câu “khi nào đổi”: nếu lên ~100 trạm × 10 năm (hàng chục triệu dòng) thì cân nhắc kho cột (columnar), engine MPP, hoặc Spark — vẫn giữ mô hình fact/dimension, chỉ đổi lớp lưu trữ bên dưới.</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DỰ ÁN DÙNG ROLAP</a:t>
            </a:r>
          </a:p>
        </p:txBody>
      </p:sp>
      <p:sp>
        <p:nvSpPr>
          <p:cNvPr id="7" name="Rounded Rectangle 6"/>
          <p:cNvSpPr/>
          <p:nvPr/>
        </p:nvSpPr>
        <p:spPr>
          <a:xfrm>
            <a:off x="7543800" y="1883664"/>
            <a:ext cx="3867912" cy="137160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ROLAP ✓</a:t>
            </a:r>
          </a:p>
        </p:txBody>
      </p:sp>
      <p:sp>
        <p:nvSpPr>
          <p:cNvPr id="9" name="TextBox 8"/>
          <p:cNvSpPr txBox="1"/>
          <p:nvPr/>
        </p:nvSpPr>
        <p:spPr>
          <a:xfrm>
            <a:off x="7708392" y="2313432"/>
            <a:ext cx="3538728" cy="86868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quan hệ (PostgreSQL) + SQL</a:t>
            </a:r>
          </a:p>
          <a:p>
            <a:pPr>
              <a:lnSpc>
                <a:spcPct val="108000"/>
              </a:lnSpc>
              <a:spcAft>
                <a:spcPts val="300"/>
              </a:spcAft>
            </a:pPr>
            <a:r>
              <a:rPr sz="1200" b="0">
                <a:solidFill>
                  <a:srgbClr val="1F2A37"/>
                </a:solidFill>
                <a:latin typeface="Calibri"/>
              </a:rPr>
              <a:t>+ mart tính trước — </a:t>
            </a:r>
            <a:r>
              <a:rPr sz="1200" b="1">
                <a:solidFill>
                  <a:srgbClr val="EA580C"/>
                </a:solidFill>
                <a:latin typeface="Calibri"/>
              </a:rPr>
              <a:t>dự án dùng</a:t>
            </a:r>
          </a:p>
          <a:p>
            <a:pPr>
              <a:lnSpc>
                <a:spcPct val="108000"/>
              </a:lnSpc>
              <a:spcAft>
                <a:spcPts val="300"/>
              </a:spcAft>
            </a:pPr>
            <a:r>
              <a:rPr sz="1200" b="0">
                <a:solidFill>
                  <a:srgbClr val="1F2A37"/>
                </a:solidFill>
                <a:latin typeface="Calibri"/>
              </a:rPr>
              <a:t>đủ nhanh: vài ms ở 420k dòng</a:t>
            </a:r>
          </a:p>
        </p:txBody>
      </p:sp>
      <p:sp>
        <p:nvSpPr>
          <p:cNvPr id="10" name="Rounded Rectangle 9"/>
          <p:cNvSpPr/>
          <p:nvPr/>
        </p:nvSpPr>
        <p:spPr>
          <a:xfrm>
            <a:off x="7543800" y="3383280"/>
            <a:ext cx="3867912" cy="118872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502152"/>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MOLAP — khi nào?</a:t>
            </a:r>
          </a:p>
        </p:txBody>
      </p:sp>
      <p:sp>
        <p:nvSpPr>
          <p:cNvPr id="12" name="TextBox 11"/>
          <p:cNvSpPr txBox="1"/>
          <p:nvPr/>
        </p:nvSpPr>
        <p:spPr>
          <a:xfrm>
            <a:off x="7708392" y="3813048"/>
            <a:ext cx="3538728" cy="68580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engine ma trận đa chiều riêng</a:t>
            </a:r>
          </a:p>
          <a:p>
            <a:pPr>
              <a:lnSpc>
                <a:spcPct val="108000"/>
              </a:lnSpc>
              <a:spcAft>
                <a:spcPts val="300"/>
              </a:spcAft>
            </a:pPr>
            <a:r>
              <a:rPr sz="1200" b="0">
                <a:solidFill>
                  <a:srgbClr val="1F2A37"/>
                </a:solidFill>
                <a:latin typeface="Calibri"/>
              </a:rPr>
              <a:t>tính trước mọi ô — đáng khi ~100 trạm × 10 năm</a:t>
            </a:r>
          </a:p>
        </p:txBody>
      </p:sp>
      <p:sp>
        <p:nvSpPr>
          <p:cNvPr id="13" name="Rounded Rectangle 12"/>
          <p:cNvSpPr/>
          <p:nvPr/>
        </p:nvSpPr>
        <p:spPr>
          <a:xfrm>
            <a:off x="7543800" y="4718304"/>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DBA74"/>
                </a:solidFill>
                <a:latin typeface="Calibri"/>
              </a:rPr>
              <a:t>quy mô lớn → columnar · MPP · Spark</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Dự án = ROLAP (quan hệ + SQL + mart tính trước) — đủ nhanh ở 420k dòng; quy mô lớn hẳn mới cần MOLAP/columnar/MPP.</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26 / 49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INSIGHT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Đọc một insight đúng cách: gió nam mùa đông +60%</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Kết quả dice thật từ kho: cùng nhóm quận lõi đô thị, mùa đông, những giờ </a:t>
            </a:r>
            <a:r>
              <a:rPr sz="1450" b="1">
                <a:solidFill>
                  <a:srgbClr val="1F2A37"/>
                </a:solidFill>
                <a:latin typeface="Cambria"/>
              </a:rPr>
              <a:t>gió bắc</a:t>
            </a:r>
            <a:r>
              <a:rPr sz="1450" b="0">
                <a:solidFill>
                  <a:srgbClr val="1F2A37"/>
                </a:solidFill>
                <a:latin typeface="Cambria"/>
              </a:rPr>
              <a:t> có PM2.5 trung bình </a:t>
            </a:r>
            <a:r>
              <a:rPr sz="1450" b="1">
                <a:solidFill>
                  <a:srgbClr val="EA580C"/>
                </a:solidFill>
                <a:latin typeface="Cambria"/>
              </a:rPr>
              <a:t>~85 µg/m³</a:t>
            </a:r>
            <a:r>
              <a:rPr sz="1450" b="0">
                <a:solidFill>
                  <a:srgbClr val="1F2A37"/>
                </a:solidFill>
                <a:latin typeface="Cambria"/>
              </a:rPr>
              <a:t> còn giờ </a:t>
            </a:r>
            <a:r>
              <a:rPr sz="1450" b="1">
                <a:solidFill>
                  <a:srgbClr val="1F2A37"/>
                </a:solidFill>
                <a:latin typeface="Cambria"/>
              </a:rPr>
              <a:t>gió nam</a:t>
            </a:r>
            <a:r>
              <a:rPr sz="1450" b="0">
                <a:solidFill>
                  <a:srgbClr val="1F2A37"/>
                </a:solidFill>
                <a:latin typeface="Cambria"/>
              </a:rPr>
              <a:t> lên </a:t>
            </a:r>
            <a:r>
              <a:rPr sz="1450" b="1">
                <a:solidFill>
                  <a:srgbClr val="EA580C"/>
                </a:solidFill>
                <a:latin typeface="Cambria"/>
              </a:rPr>
              <a:t>~133 µg/m³ (+60%)</a:t>
            </a:r>
            <a:r>
              <a:rPr sz="1450" b="0">
                <a:solidFill>
                  <a:srgbClr val="1F2A37"/>
                </a:solidFill>
                <a:latin typeface="Cambria"/>
              </a:rPr>
              <a:t>; tỷ lệ giờ vượt ngưỡng tăng </a:t>
            </a:r>
            <a:r>
              <a:rPr sz="1450" b="1">
                <a:solidFill>
                  <a:srgbClr val="EA580C"/>
                </a:solidFill>
                <a:latin typeface="Cambria"/>
              </a:rPr>
              <a:t>28% → 43%</a:t>
            </a:r>
            <a:r>
              <a:rPr sz="1450" b="0">
                <a:solidFill>
                  <a:srgbClr val="1F2A37"/>
                </a:solidFill>
                <a:latin typeface="Cambria"/>
              </a:rPr>
              <a:t>. Đây là giá trị nghiệp vụ của việc đưa hướng gió thành chiều: nó chỉ ra </a:t>
            </a:r>
            <a:r>
              <a:rPr sz="1450" b="1">
                <a:solidFill>
                  <a:srgbClr val="1F2A37"/>
                </a:solidFill>
                <a:latin typeface="Cambria"/>
              </a:rPr>
              <a:t>khi nào cần cảnh báo gắt hơn</a:t>
            </a:r>
            <a:r>
              <a:rPr sz="1450" b="0">
                <a:solidFill>
                  <a:srgbClr val="1F2A37"/>
                </a:solidFill>
                <a:latin typeface="Cambria"/>
              </a:rPr>
              <a:t>.</a:t>
            </a:r>
          </a:p>
          <a:p>
            <a:pPr algn="just">
              <a:lnSpc>
                <a:spcPct val="113000"/>
              </a:lnSpc>
              <a:spcAft>
                <a:spcPts val="900"/>
              </a:spcAft>
            </a:pPr>
            <a:r>
              <a:rPr sz="1450" b="0">
                <a:solidFill>
                  <a:srgbClr val="1F2A37"/>
                </a:solidFill>
                <a:latin typeface="Cambria"/>
              </a:rPr>
              <a:t>Diễn giải phải đúng mức: đây là </a:t>
            </a:r>
            <a:r>
              <a:rPr sz="1450" b="1">
                <a:solidFill>
                  <a:srgbClr val="EA580C"/>
                </a:solidFill>
                <a:latin typeface="Cambria"/>
              </a:rPr>
              <a:t>tương quan theo hướng gió</a:t>
            </a:r>
            <a:r>
              <a:rPr sz="1450" b="0">
                <a:solidFill>
                  <a:srgbClr val="1F2A37"/>
                </a:solidFill>
                <a:latin typeface="Cambria"/>
              </a:rPr>
              <a:t> — </a:t>
            </a:r>
            <a:r>
              <a:rPr sz="1450" b="1">
                <a:solidFill>
                  <a:srgbClr val="1F2A37"/>
                </a:solidFill>
                <a:latin typeface="Cambria"/>
              </a:rPr>
              <a:t>gợi ý</a:t>
            </a:r>
            <a:r>
              <a:rPr sz="1450" b="0">
                <a:solidFill>
                  <a:srgbClr val="1F2A37"/>
                </a:solidFill>
                <a:latin typeface="Cambria"/>
              </a:rPr>
              <a:t> nguồn khí phía nam (vùng công nghiệp Hà Bắc), nhưng dự án </a:t>
            </a:r>
            <a:r>
              <a:rPr sz="1450" b="1">
                <a:solidFill>
                  <a:srgbClr val="1F2A37"/>
                </a:solidFill>
                <a:latin typeface="Cambria"/>
              </a:rPr>
              <a:t>không mô phỏng đường vận chuyển khí</a:t>
            </a:r>
            <a:r>
              <a:rPr sz="1450" b="0">
                <a:solidFill>
                  <a:srgbClr val="1F2A37"/>
                </a:solidFill>
                <a:latin typeface="Cambria"/>
              </a:rPr>
              <a:t> nên không khẳng định nhân quả. Kho thấy </a:t>
            </a:r>
            <a:r>
              <a:rPr sz="1450" b="1">
                <a:solidFill>
                  <a:srgbClr val="1F2A37"/>
                </a:solidFill>
                <a:latin typeface="Cambria"/>
              </a:rPr>
              <a:t>sự đi kèm</a:t>
            </a:r>
            <a:r>
              <a:rPr sz="1450" b="0">
                <a:solidFill>
                  <a:srgbClr val="1F2A37"/>
                </a:solidFill>
                <a:latin typeface="Cambria"/>
              </a:rPr>
              <a:t>, mô hình tìm quan hệ để </a:t>
            </a:r>
            <a:r>
              <a:rPr sz="1450" b="1">
                <a:solidFill>
                  <a:srgbClr val="1F2A37"/>
                </a:solidFill>
                <a:latin typeface="Cambria"/>
              </a:rPr>
              <a:t>dự đoán</a:t>
            </a:r>
            <a:r>
              <a:rPr sz="1450" b="0">
                <a:solidFill>
                  <a:srgbClr val="1F2A37"/>
                </a:solidFill>
                <a:latin typeface="Cambria"/>
              </a:rPr>
              <a:t> — chứng minh nhân quả là việc của một thiết kế nghiên cứu khác.</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DICE THẬT — MÙA ĐÔNG</a:t>
            </a:r>
          </a:p>
        </p:txBody>
      </p:sp>
      <p:sp>
        <p:nvSpPr>
          <p:cNvPr id="7" name="TextBox 6"/>
          <p:cNvSpPr txBox="1"/>
          <p:nvPr/>
        </p:nvSpPr>
        <p:spPr>
          <a:xfrm>
            <a:off x="7543800" y="1883664"/>
            <a:ext cx="3867912" cy="588264"/>
          </a:xfrm>
          <a:prstGeom prst="rect">
            <a:avLst/>
          </a:prstGeom>
          <a:noFill/>
        </p:spPr>
        <p:txBody>
          <a:bodyPr wrap="square" anchor="t" lIns="27432" rIns="27432" tIns="0" bIns="0">
            <a:spAutoFit/>
          </a:bodyPr>
          <a:lstStyle/>
          <a:p>
            <a:pPr algn="l"/>
            <a:r>
              <a:rPr sz="2800" b="1" i="0">
                <a:solidFill>
                  <a:srgbClr val="EA580C"/>
                </a:solidFill>
                <a:latin typeface="Cambria"/>
              </a:rPr>
              <a:t>85 → 133</a:t>
            </a:r>
          </a:p>
        </p:txBody>
      </p:sp>
      <p:sp>
        <p:nvSpPr>
          <p:cNvPr id="8" name="TextBox 7"/>
          <p:cNvSpPr txBox="1"/>
          <p:nvPr/>
        </p:nvSpPr>
        <p:spPr>
          <a:xfrm>
            <a:off x="7543800" y="24902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µg/m³ — gió bắc → gió nam (+60%)</a:t>
            </a:r>
          </a:p>
        </p:txBody>
      </p:sp>
      <p:sp>
        <p:nvSpPr>
          <p:cNvPr id="9" name="Rectangle 8"/>
          <p:cNvSpPr/>
          <p:nvPr/>
        </p:nvSpPr>
        <p:spPr>
          <a:xfrm>
            <a:off x="7543800" y="2727960"/>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837688"/>
            <a:ext cx="3867912" cy="588264"/>
          </a:xfrm>
          <a:prstGeom prst="rect">
            <a:avLst/>
          </a:prstGeom>
          <a:noFill/>
        </p:spPr>
        <p:txBody>
          <a:bodyPr wrap="square" anchor="t" lIns="27432" rIns="27432" tIns="0" bIns="0">
            <a:spAutoFit/>
          </a:bodyPr>
          <a:lstStyle/>
          <a:p>
            <a:pPr algn="l"/>
            <a:r>
              <a:rPr sz="2800" b="1" i="0">
                <a:solidFill>
                  <a:srgbClr val="EA580C"/>
                </a:solidFill>
                <a:latin typeface="Cambria"/>
              </a:rPr>
              <a:t>28% → 43%</a:t>
            </a:r>
          </a:p>
        </p:txBody>
      </p:sp>
      <p:sp>
        <p:nvSpPr>
          <p:cNvPr id="11" name="TextBox 10"/>
          <p:cNvSpPr txBox="1"/>
          <p:nvPr/>
        </p:nvSpPr>
        <p:spPr>
          <a:xfrm>
            <a:off x="7543800" y="3444240"/>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tỷ lệ giờ vượt ngưỡng 115 — cùng điều kiện</a:t>
            </a:r>
          </a:p>
        </p:txBody>
      </p:sp>
      <p:sp>
        <p:nvSpPr>
          <p:cNvPr id="12" name="Rounded Rectangle 11"/>
          <p:cNvSpPr/>
          <p:nvPr/>
        </p:nvSpPr>
        <p:spPr>
          <a:xfrm>
            <a:off x="7543800" y="3810000"/>
            <a:ext cx="3867912" cy="1042415"/>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3928872"/>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DIỄN GIẢI</a:t>
            </a:r>
          </a:p>
        </p:txBody>
      </p:sp>
      <p:sp>
        <p:nvSpPr>
          <p:cNvPr id="14" name="TextBox 13"/>
          <p:cNvSpPr txBox="1"/>
          <p:nvPr/>
        </p:nvSpPr>
        <p:spPr>
          <a:xfrm>
            <a:off x="7708392" y="4239768"/>
            <a:ext cx="3538728" cy="539495"/>
          </a:xfrm>
          <a:prstGeom prst="rect">
            <a:avLst/>
          </a:prstGeom>
          <a:noFill/>
        </p:spPr>
        <p:txBody>
          <a:bodyPr wrap="square" lIns="18288" rIns="18288" tIns="0" bIns="0">
            <a:spAutoFit/>
          </a:bodyPr>
          <a:lstStyle/>
          <a:p>
            <a:pPr>
              <a:lnSpc>
                <a:spcPct val="108000"/>
              </a:lnSpc>
              <a:spcAft>
                <a:spcPts val="300"/>
              </a:spcAft>
            </a:pPr>
            <a:r>
              <a:rPr sz="1150" b="1">
                <a:solidFill>
                  <a:srgbClr val="EA580C"/>
                </a:solidFill>
                <a:latin typeface="Calibri"/>
              </a:rPr>
              <a:t>tương quan</a:t>
            </a:r>
            <a:r>
              <a:rPr sz="1150" b="0">
                <a:solidFill>
                  <a:srgbClr val="1F2A37"/>
                </a:solidFill>
                <a:latin typeface="Calibri"/>
              </a:rPr>
              <a:t> theo hướng gió</a:t>
            </a:r>
          </a:p>
          <a:p>
            <a:pPr>
              <a:lnSpc>
                <a:spcPct val="108000"/>
              </a:lnSpc>
              <a:spcAft>
                <a:spcPts val="300"/>
              </a:spcAft>
            </a:pPr>
            <a:r>
              <a:rPr sz="1150" b="0">
                <a:solidFill>
                  <a:srgbClr val="1F2A37"/>
                </a:solidFill>
                <a:latin typeface="Calibri"/>
              </a:rPr>
              <a:t>≠ khẳng định nguồn phát thải</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Gió nam mùa đông: 85 → 133 µg/m³ (+60%), vượt ngưỡng 28% → 43% — khẳng định ở mức TƯƠNG QUAN, không phải nhân quả.</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27 / 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B · CHỐT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Nếu chỉ nhớ 5 điều về phần B</a:t>
            </a:r>
          </a:p>
        </p:txBody>
      </p:sp>
      <p:sp>
        <p:nvSpPr>
          <p:cNvPr id="4" name="Oval 3"/>
          <p:cNvSpPr/>
          <p:nvPr/>
        </p:nvSpPr>
        <p:spPr>
          <a:xfrm>
            <a:off x="548640" y="153619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170432" y="151790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Grain: </a:t>
            </a:r>
            <a:r>
              <a:rPr sz="1550" b="0">
                <a:solidFill>
                  <a:srgbClr val="1F2A37"/>
                </a:solidFill>
                <a:latin typeface="Cambria"/>
              </a:rPr>
              <a:t>một dòng fact = trạm × giờ — lưu mức mịn gốc vì cuộn lên được, ngược lại không.</a:t>
            </a:r>
          </a:p>
        </p:txBody>
      </p:sp>
      <p:sp>
        <p:nvSpPr>
          <p:cNvPr id="6" name="Oval 5"/>
          <p:cNvSpPr/>
          <p:nvPr/>
        </p:nvSpPr>
        <p:spPr>
          <a:xfrm>
            <a:off x="548640" y="235915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7" name="TextBox 6"/>
          <p:cNvSpPr txBox="1"/>
          <p:nvPr/>
        </p:nvSpPr>
        <p:spPr>
          <a:xfrm>
            <a:off x="1170432" y="234086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Sao 4 chiều: </a:t>
            </a:r>
            <a:r>
              <a:rPr sz="1550" b="0">
                <a:solidFill>
                  <a:srgbClr val="1F2A37"/>
                </a:solidFill>
                <a:latin typeface="Cambria"/>
              </a:rPr>
              <a:t>date · time · station · wind; gió là chiều (vận tải khí), thời tiết là độ đo trên fact.</a:t>
            </a:r>
          </a:p>
        </p:txBody>
      </p:sp>
      <p:sp>
        <p:nvSpPr>
          <p:cNvPr id="8" name="Oval 7"/>
          <p:cNvSpPr/>
          <p:nvPr/>
        </p:nvSpPr>
        <p:spPr>
          <a:xfrm>
            <a:off x="548640" y="318211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9" name="TextBox 8"/>
          <p:cNvSpPr txBox="1"/>
          <p:nvPr/>
        </p:nvSpPr>
        <p:spPr>
          <a:xfrm>
            <a:off x="1170432" y="316382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Hai con số dễ trộn: </a:t>
            </a:r>
            <a:r>
              <a:rPr sz="1550" b="1">
                <a:solidFill>
                  <a:srgbClr val="EA580C"/>
                </a:solidFill>
                <a:latin typeface="Cambria"/>
              </a:rPr>
              <a:t>180</a:t>
            </a:r>
            <a:r>
              <a:rPr sz="1550" b="0">
                <a:solidFill>
                  <a:srgbClr val="1F2A37"/>
                </a:solidFill>
                <a:latin typeface="Cambria"/>
              </a:rPr>
              <a:t> = tổ hợp mức phân cấp (5·3·3·4) ≠ </a:t>
            </a:r>
            <a:r>
              <a:rPr sz="1550" b="1">
                <a:solidFill>
                  <a:srgbClr val="EA580C"/>
                </a:solidFill>
                <a:latin typeface="Cambria"/>
              </a:rPr>
              <a:t>32</a:t>
            </a:r>
            <a:r>
              <a:rPr sz="1550" b="0">
                <a:solidFill>
                  <a:srgbClr val="1F2A37"/>
                </a:solidFill>
                <a:latin typeface="Cambria"/>
              </a:rPr>
              <a:t> = grouping sets của CUBE (2⁵).</a:t>
            </a:r>
          </a:p>
        </p:txBody>
      </p:sp>
      <p:sp>
        <p:nvSpPr>
          <p:cNvPr id="10" name="Oval 9"/>
          <p:cNvSpPr/>
          <p:nvPr/>
        </p:nvSpPr>
        <p:spPr>
          <a:xfrm>
            <a:off x="548640" y="400507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1" name="TextBox 10"/>
          <p:cNvSpPr txBox="1"/>
          <p:nvPr/>
        </p:nvSpPr>
        <p:spPr>
          <a:xfrm>
            <a:off x="1170432" y="398678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Đúng &amp; kiểm chứng: </a:t>
            </a:r>
            <a:r>
              <a:rPr sz="1550" b="0">
                <a:solidFill>
                  <a:srgbClr val="1F2A37"/>
                </a:solidFill>
                <a:latin typeface="Cambria"/>
              </a:rPr>
              <a:t>lưu SUM + COUNT; </a:t>
            </a:r>
            <a:r>
              <a:rPr sz="1550" b="1">
                <a:solidFill>
                  <a:srgbClr val="EA580C"/>
                </a:solidFill>
                <a:latin typeface="Cambria"/>
              </a:rPr>
              <a:t>24.759/24.759 = 100%</a:t>
            </a:r>
            <a:r>
              <a:rPr sz="1550" b="0">
                <a:solidFill>
                  <a:srgbClr val="1F2A37"/>
                </a:solidFill>
                <a:latin typeface="Cambria"/>
              </a:rPr>
              <a:t> + </a:t>
            </a:r>
            <a:r>
              <a:rPr sz="1550" b="1">
                <a:solidFill>
                  <a:srgbClr val="EA580C"/>
                </a:solidFill>
                <a:latin typeface="Cambria"/>
              </a:rPr>
              <a:t>130</a:t>
            </a:r>
            <a:r>
              <a:rPr sz="1550" b="0">
                <a:solidFill>
                  <a:srgbClr val="1F2A37"/>
                </a:solidFill>
                <a:latin typeface="Cambria"/>
              </a:rPr>
              <a:t> dbt test; ROLAP.</a:t>
            </a:r>
          </a:p>
        </p:txBody>
      </p:sp>
      <p:sp>
        <p:nvSpPr>
          <p:cNvPr id="12" name="Oval 11"/>
          <p:cNvSpPr/>
          <p:nvPr/>
        </p:nvSpPr>
        <p:spPr>
          <a:xfrm>
            <a:off x="548640" y="482803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3" name="TextBox 12"/>
          <p:cNvSpPr txBox="1"/>
          <p:nvPr/>
        </p:nvSpPr>
        <p:spPr>
          <a:xfrm>
            <a:off x="1170432" y="480974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Insight: </a:t>
            </a:r>
            <a:r>
              <a:rPr sz="1550" b="0">
                <a:solidFill>
                  <a:srgbClr val="1F2A37"/>
                </a:solidFill>
                <a:latin typeface="Cambria"/>
              </a:rPr>
              <a:t>gió nam mùa đông </a:t>
            </a:r>
            <a:r>
              <a:rPr sz="1550" b="1">
                <a:solidFill>
                  <a:srgbClr val="EA580C"/>
                </a:solidFill>
                <a:latin typeface="Cambria"/>
              </a:rPr>
              <a:t>+60%</a:t>
            </a:r>
            <a:r>
              <a:rPr sz="1550" b="0">
                <a:solidFill>
                  <a:srgbClr val="1F2A37"/>
                </a:solidFill>
                <a:latin typeface="Cambria"/>
              </a:rPr>
              <a:t> PM2.5 — tương quan theo hướng gió, không phải nhân quả.</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Kho = grain → sao 4 chiều → tính trước theo truy vấn thật → kiểm chứng 100% → đọc insight đúng mức.</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28 / 49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8503920" y="1097280"/>
            <a:ext cx="3291840" cy="3840480"/>
          </a:xfrm>
          <a:prstGeom prst="rect">
            <a:avLst/>
          </a:prstGeom>
          <a:noFill/>
        </p:spPr>
        <p:txBody>
          <a:bodyPr wrap="square" anchor="t" lIns="27432" rIns="27432" tIns="0" bIns="0">
            <a:spAutoFit/>
          </a:bodyPr>
          <a:lstStyle/>
          <a:p>
            <a:pPr algn="r"/>
            <a:r>
              <a:rPr sz="22000" b="1" i="0">
                <a:solidFill>
                  <a:srgbClr val="334155"/>
                </a:solidFill>
                <a:latin typeface="Cambria"/>
              </a:rPr>
              <a:t>C</a:t>
            </a:r>
          </a:p>
        </p:txBody>
      </p:sp>
      <p:sp>
        <p:nvSpPr>
          <p:cNvPr id="3" name="TextBox 2"/>
          <p:cNvSpPr txBox="1"/>
          <p:nvPr/>
        </p:nvSpPr>
        <p:spPr>
          <a:xfrm>
            <a:off x="548640" y="777240"/>
            <a:ext cx="9144000" cy="320040"/>
          </a:xfrm>
          <a:prstGeom prst="rect">
            <a:avLst/>
          </a:prstGeom>
          <a:noFill/>
        </p:spPr>
        <p:txBody>
          <a:bodyPr wrap="square" anchor="t" lIns="27432" rIns="27432" tIns="0" bIns="0">
            <a:spAutoFit/>
          </a:bodyPr>
          <a:lstStyle/>
          <a:p>
            <a:pPr algn="l"/>
            <a:r>
              <a:rPr sz="1400" b="1" i="0">
                <a:solidFill>
                  <a:srgbClr val="FDBA74"/>
                </a:solidFill>
                <a:latin typeface="Calibri"/>
              </a:rPr>
              <a:t>PHẦN C · SLIDE 30–42</a:t>
            </a:r>
          </a:p>
        </p:txBody>
      </p:sp>
      <p:sp>
        <p:nvSpPr>
          <p:cNvPr id="4" name="TextBox 3"/>
          <p:cNvSpPr txBox="1"/>
          <p:nvPr/>
        </p:nvSpPr>
        <p:spPr>
          <a:xfrm>
            <a:off x="548640" y="1783080"/>
            <a:ext cx="7863840" cy="777240"/>
          </a:xfrm>
          <a:prstGeom prst="rect">
            <a:avLst/>
          </a:prstGeom>
          <a:noFill/>
        </p:spPr>
        <p:txBody>
          <a:bodyPr wrap="square" anchor="t" lIns="27432" rIns="27432" tIns="0" bIns="0">
            <a:spAutoFit/>
          </a:bodyPr>
          <a:lstStyle/>
          <a:p>
            <a:pPr algn="l"/>
            <a:r>
              <a:rPr sz="3600" b="1" i="0">
                <a:solidFill>
                  <a:srgbClr val="FFFFFF"/>
                </a:solidFill>
                <a:latin typeface="Cambria"/>
              </a:rPr>
              <a:t>Khai phá dữ liệu</a:t>
            </a:r>
          </a:p>
        </p:txBody>
      </p:sp>
      <p:sp>
        <p:nvSpPr>
          <p:cNvPr id="5" name="TextBox 4"/>
          <p:cNvSpPr txBox="1"/>
          <p:nvPr/>
        </p:nvSpPr>
        <p:spPr>
          <a:xfrm>
            <a:off x="548640" y="2926080"/>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Nhãn 115 µg/m³ và 49 đặc trưng chỉ nhìn quá khứ</a:t>
            </a:r>
          </a:p>
        </p:txBody>
      </p:sp>
      <p:sp>
        <p:nvSpPr>
          <p:cNvPr id="6" name="TextBox 5"/>
          <p:cNvSpPr txBox="1"/>
          <p:nvPr/>
        </p:nvSpPr>
        <p:spPr>
          <a:xfrm>
            <a:off x="548640" y="3401568"/>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Chia tập theo thời gian, chống rò rỉ — vì sao không k-fold</a:t>
            </a:r>
          </a:p>
        </p:txBody>
      </p:sp>
      <p:sp>
        <p:nvSpPr>
          <p:cNvPr id="7" name="TextBox 6"/>
          <p:cNvSpPr txBox="1"/>
          <p:nvPr/>
        </p:nvSpPr>
        <p:spPr>
          <a:xfrm>
            <a:off x="548640" y="3877056"/>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Baseline: bẫy accuracy của majority, sức mạnh của persistence</a:t>
            </a:r>
          </a:p>
        </p:txBody>
      </p:sp>
      <p:sp>
        <p:nvSpPr>
          <p:cNvPr id="8" name="TextBox 7"/>
          <p:cNvSpPr txBox="1"/>
          <p:nvPr/>
        </p:nvSpPr>
        <p:spPr>
          <a:xfrm>
            <a:off x="548640" y="4352544"/>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Kết quả HistGB 0,927 · hai ngưỡng 115 vs 0,50 · McNemar</a:t>
            </a:r>
          </a:p>
        </p:txBody>
      </p:sp>
      <p:sp>
        <p:nvSpPr>
          <p:cNvPr id="9" name="TextBox 8"/>
          <p:cNvSpPr txBox="1"/>
          <p:nvPr/>
        </p:nvSpPr>
        <p:spPr>
          <a:xfrm>
            <a:off x="548640" y="4828031"/>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Tầm 1/3/6 giờ · thí nghiệm đợt 6 giờ · hồi quy &amp; phân cụm</a:t>
            </a:r>
          </a:p>
        </p:txBody>
      </p:sp>
      <p:sp>
        <p:nvSpPr>
          <p:cNvPr id="10" name="TextBox 9"/>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29 / 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BÀI TOÁN</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Nhãn từ đâu và 49 đặc trưng “chỉ nhìn về quá khứ”</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Bài toán: với mỗi giờ t tại mỗi trạm, dự đoán </a:t>
            </a:r>
            <a:r>
              <a:rPr sz="1450" b="1">
                <a:solidFill>
                  <a:srgbClr val="EA580C"/>
                </a:solidFill>
                <a:latin typeface="Cambria"/>
              </a:rPr>
              <a:t>y = 1 khi PM2.5(t+1h) ≥ 115 µg/m³</a:t>
            </a:r>
            <a:r>
              <a:rPr sz="1450" b="0">
                <a:solidFill>
                  <a:srgbClr val="1F2A37"/>
                </a:solidFill>
                <a:latin typeface="Cambria"/>
              </a:rPr>
              <a:t>. Con số 115 là </a:t>
            </a:r>
            <a:r>
              <a:rPr sz="1450" b="1">
                <a:solidFill>
                  <a:srgbClr val="1F2A37"/>
                </a:solidFill>
                <a:latin typeface="Cambria"/>
              </a:rPr>
              <a:t>ranh giới dải “ô nhiễm trung bình”</a:t>
            </a:r>
            <a:r>
              <a:rPr sz="1450" b="0">
                <a:solidFill>
                  <a:srgbClr val="1F2A37"/>
                </a:solidFill>
                <a:latin typeface="Cambria"/>
              </a:rPr>
              <a:t> theo quy chuẩn AQI Trung Quốc cho PM2.5 — là </a:t>
            </a:r>
            <a:r>
              <a:rPr sz="1450" b="1">
                <a:solidFill>
                  <a:srgbClr val="EA580C"/>
                </a:solidFill>
                <a:latin typeface="Cambria"/>
              </a:rPr>
              <a:t>nồng độ µg/m³</a:t>
            </a:r>
            <a:r>
              <a:rPr sz="1450" b="0">
                <a:solidFill>
                  <a:srgbClr val="1F2A37"/>
                </a:solidFill>
                <a:latin typeface="Cambria"/>
              </a:rPr>
              <a:t>, </a:t>
            </a:r>
            <a:r>
              <a:rPr sz="1450" b="1">
                <a:solidFill>
                  <a:srgbClr val="1F2A37"/>
                </a:solidFill>
                <a:latin typeface="Cambria"/>
              </a:rPr>
              <a:t>không phải điểm AQI = 115</a:t>
            </a:r>
            <a:r>
              <a:rPr sz="1450" b="0">
                <a:solidFill>
                  <a:srgbClr val="1F2A37"/>
                </a:solidFill>
                <a:latin typeface="Cambria"/>
              </a:rPr>
              <a:t>; khóa từ phân tích EDA các đợt ô nhiễm (đợt tại một trạm = ≥ 3 giờ liên tiếp ≥ 115).</a:t>
            </a:r>
          </a:p>
          <a:p>
            <a:pPr algn="just">
              <a:lnSpc>
                <a:spcPct val="113000"/>
              </a:lnSpc>
              <a:spcAft>
                <a:spcPts val="900"/>
              </a:spcAft>
            </a:pPr>
            <a:r>
              <a:rPr sz="1450" b="0">
                <a:solidFill>
                  <a:srgbClr val="1F2A37"/>
                </a:solidFill>
                <a:latin typeface="Cambria"/>
              </a:rPr>
              <a:t>Bên vào là </a:t>
            </a:r>
            <a:r>
              <a:rPr sz="1450" b="1">
                <a:solidFill>
                  <a:srgbClr val="EA580C"/>
                </a:solidFill>
                <a:latin typeface="Cambria"/>
              </a:rPr>
              <a:t>49 đặc trưng</a:t>
            </a:r>
            <a:r>
              <a:rPr sz="1450" b="0">
                <a:solidFill>
                  <a:srgbClr val="1F2A37"/>
                </a:solidFill>
                <a:latin typeface="Cambria"/>
              </a:rPr>
              <a:t>, nguyên tắc vàng: </a:t>
            </a:r>
            <a:r>
              <a:rPr sz="1450" b="1">
                <a:solidFill>
                  <a:srgbClr val="1F2A37"/>
                </a:solidFill>
                <a:latin typeface="Cambria"/>
              </a:rPr>
              <a:t>mọi đặc trưng chỉ dùng thông tin BIẾT TẠI thời điểm t</a:t>
            </a:r>
            <a:r>
              <a:rPr sz="1450" b="0">
                <a:solidFill>
                  <a:srgbClr val="1F2A37"/>
                </a:solidFill>
                <a:latin typeface="Cambria"/>
              </a:rPr>
              <a:t> — không một đặc trưng nào, kể cả gián tiếp qua nội suy hay chuẩn hoá, được nhìn thấy giá trị của t+1 trở đi. Bài toán giả lập “đứng ở giờ t dự đoán giờ t+1” — đặc trưng nhìn trộm tương lai thì điểm đẹp chỉ là ảo ảnh, thực chiến sẽ sụp.</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NHÃN &amp; ĐẶC TRƯNG</a:t>
            </a:r>
          </a:p>
        </p:txBody>
      </p:sp>
      <p:sp>
        <p:nvSpPr>
          <p:cNvPr id="7" name="Rounded Rectangle 6"/>
          <p:cNvSpPr/>
          <p:nvPr/>
        </p:nvSpPr>
        <p:spPr>
          <a:xfrm>
            <a:off x="7543800" y="1883664"/>
            <a:ext cx="3867912" cy="91440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8" y="1956816"/>
            <a:ext cx="3648456" cy="777240"/>
          </a:xfrm>
          <a:prstGeom prst="rect">
            <a:avLst/>
          </a:prstGeom>
          <a:noFill/>
        </p:spPr>
        <p:txBody>
          <a:bodyPr wrap="square" anchor="ctr" lIns="27432" rIns="27432" tIns="0" bIns="0">
            <a:spAutoFit/>
          </a:bodyPr>
          <a:lstStyle/>
          <a:p>
            <a:pPr algn="ctr"/>
            <a:r>
              <a:rPr sz="1700" b="1" i="0">
                <a:solidFill>
                  <a:srgbClr val="EA580C"/>
                </a:solidFill>
                <a:latin typeface="Cambria"/>
              </a:rPr>
              <a:t>y = 1 ⟺ PM2.5(t+1h) ≥ 115</a:t>
            </a:r>
          </a:p>
        </p:txBody>
      </p:sp>
      <p:sp>
        <p:nvSpPr>
          <p:cNvPr id="9" name="TextBox 8"/>
          <p:cNvSpPr txBox="1"/>
          <p:nvPr/>
        </p:nvSpPr>
        <p:spPr>
          <a:xfrm>
            <a:off x="7543800" y="2980944"/>
            <a:ext cx="3867912" cy="473964"/>
          </a:xfrm>
          <a:prstGeom prst="rect">
            <a:avLst/>
          </a:prstGeom>
          <a:noFill/>
        </p:spPr>
        <p:txBody>
          <a:bodyPr wrap="square" anchor="t" lIns="27432" rIns="27432" tIns="0" bIns="0">
            <a:spAutoFit/>
          </a:bodyPr>
          <a:lstStyle/>
          <a:p>
            <a:pPr algn="l"/>
            <a:r>
              <a:rPr sz="2200" b="1" i="0">
                <a:solidFill>
                  <a:srgbClr val="EA580C"/>
                </a:solidFill>
                <a:latin typeface="Cambria"/>
              </a:rPr>
              <a:t>49 đặc trưng</a:t>
            </a:r>
          </a:p>
        </p:txBody>
      </p:sp>
      <p:sp>
        <p:nvSpPr>
          <p:cNvPr id="10" name="TextBox 9"/>
          <p:cNvSpPr txBox="1"/>
          <p:nvPr/>
        </p:nvSpPr>
        <p:spPr>
          <a:xfrm>
            <a:off x="7543800" y="347319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tất cả chỉ dùng thông tin biết tại thời điểm t</a:t>
            </a:r>
          </a:p>
        </p:txBody>
      </p:sp>
      <p:sp>
        <p:nvSpPr>
          <p:cNvPr id="11" name="Rounded Rectangle 10"/>
          <p:cNvSpPr/>
          <p:nvPr/>
        </p:nvSpPr>
        <p:spPr>
          <a:xfrm>
            <a:off x="7543800" y="3765804"/>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PM2.5 + độ trễ 1–24h</a:t>
            </a:r>
          </a:p>
        </p:txBody>
      </p:sp>
      <p:sp>
        <p:nvSpPr>
          <p:cNvPr id="12" name="Rounded Rectangle 11"/>
          <p:cNvSpPr/>
          <p:nvPr/>
        </p:nvSpPr>
        <p:spPr>
          <a:xfrm>
            <a:off x="7543800" y="4241292"/>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xu hướng · 5 chất khác · khí tượng</a:t>
            </a:r>
          </a:p>
        </p:txBody>
      </p:sp>
      <p:sp>
        <p:nvSpPr>
          <p:cNvPr id="13" name="Rounded Rectangle 12"/>
          <p:cNvSpPr/>
          <p:nvPr/>
        </p:nvSpPr>
        <p:spPr>
          <a:xfrm>
            <a:off x="7543800" y="4716780"/>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giờ · tháng · mùa · trạm · cụm trạm</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y = 1 ⟺ PM2.5(t+1h) ≥ 115 µg/m³ (nồng độ, không phải AQI) · 49 đặc trưng chỉ dùng thông tin biết tại t.</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30 / 49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PHƯƠNG PHÁP</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Chia tập theo thời gian — vì sao không k-fold</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Với dữ liệu thời gian, </a:t>
            </a:r>
            <a:r>
              <a:rPr sz="1450" b="1">
                <a:solidFill>
                  <a:srgbClr val="1F2A37"/>
                </a:solidFill>
                <a:latin typeface="Cambria"/>
              </a:rPr>
              <a:t>cách chia tập quyết định kết quả có tin được không</a:t>
            </a:r>
            <a:r>
              <a:rPr sz="1450" b="0">
                <a:solidFill>
                  <a:srgbClr val="1F2A37"/>
                </a:solidFill>
                <a:latin typeface="Cambria"/>
              </a:rPr>
              <a:t>. Hai giờ kề nhau gần như trùng nhau (ô nhiễm không nhảy trạng thái đột ngột) — nếu chia random, giờ láng giềnh nằm cả hai phía train/test, mô hình gần như “được xem đề” → kết quả </a:t>
            </a:r>
            <a:r>
              <a:rPr sz="1450" b="1">
                <a:solidFill>
                  <a:srgbClr val="1F2A37"/>
                </a:solidFill>
                <a:latin typeface="Cambria"/>
              </a:rPr>
              <a:t>lạc quan</a:t>
            </a:r>
            <a:r>
              <a:rPr sz="1450" b="0">
                <a:solidFill>
                  <a:srgbClr val="1F2A37"/>
                </a:solidFill>
                <a:latin typeface="Cambria"/>
              </a:rPr>
              <a:t> vô nghĩa thực chiến; k-fold random vì thế không dùng.</a:t>
            </a:r>
          </a:p>
          <a:p>
            <a:pPr algn="just">
              <a:lnSpc>
                <a:spcPct val="113000"/>
              </a:lnSpc>
              <a:spcAft>
                <a:spcPts val="900"/>
              </a:spcAft>
            </a:pPr>
            <a:r>
              <a:rPr sz="1450" b="0">
                <a:solidFill>
                  <a:srgbClr val="1F2A37"/>
                </a:solidFill>
                <a:latin typeface="Cambria"/>
              </a:rPr>
              <a:t>Chia đúng: </a:t>
            </a:r>
            <a:r>
              <a:rPr sz="1450" b="1">
                <a:solidFill>
                  <a:srgbClr val="EA580C"/>
                </a:solidFill>
                <a:latin typeface="Cambria"/>
              </a:rPr>
              <a:t>train (03/2013–12/2015) → val (01–06/2016) → test (07–12/2016)</a:t>
            </a:r>
            <a:r>
              <a:rPr sz="1450" b="0">
                <a:solidFill>
                  <a:srgbClr val="1F2A37"/>
                </a:solidFill>
                <a:latin typeface="Cambria"/>
              </a:rPr>
              <a:t>, thời gian đi một chiều. </a:t>
            </a:r>
            <a:r>
              <a:rPr sz="1450" b="1">
                <a:solidFill>
                  <a:srgbClr val="1F2A37"/>
                </a:solidFill>
                <a:latin typeface="Cambria"/>
              </a:rPr>
              <a:t>Val</a:t>
            </a:r>
            <a:r>
              <a:rPr sz="1450" b="0">
                <a:solidFill>
                  <a:srgbClr val="1F2A37"/>
                </a:solidFill>
                <a:latin typeface="Cambria"/>
              </a:rPr>
              <a:t> để chọn siêu tham số (độ sâu cây, ngưỡng xác suất); </a:t>
            </a:r>
            <a:r>
              <a:rPr sz="1450" b="1">
                <a:solidFill>
                  <a:srgbClr val="EA580C"/>
                </a:solidFill>
                <a:latin typeface="Cambria"/>
              </a:rPr>
              <a:t>test dùng đúng MỘT lần</a:t>
            </a:r>
            <a:r>
              <a:rPr sz="1450" b="0">
                <a:solidFill>
                  <a:srgbClr val="1F2A37"/>
                </a:solidFill>
                <a:latin typeface="Cambria"/>
              </a:rPr>
              <a:t> để báo cáo. Rò rỉ được rà chủ động: cửa sổ rolling và nhãn không tràn qua biên chia — có script kiểm tra; phát hiện thấy và refit (F1 0,926 so với 0,927 — nói thật, không khẳng định hoàn hảo).</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CHIA THEO THỜI GIAN</a:t>
            </a:r>
          </a:p>
        </p:txBody>
      </p:sp>
      <p:sp>
        <p:nvSpPr>
          <p:cNvPr id="7" name="Rounded Rectangle 6"/>
          <p:cNvSpPr/>
          <p:nvPr/>
        </p:nvSpPr>
        <p:spPr>
          <a:xfrm>
            <a:off x="7543800" y="1883664"/>
            <a:ext cx="91440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TRAIN</a:t>
            </a:r>
          </a:p>
        </p:txBody>
      </p:sp>
      <p:sp>
        <p:nvSpPr>
          <p:cNvPr id="8" name="TextBox 7"/>
          <p:cNvSpPr txBox="1"/>
          <p:nvPr/>
        </p:nvSpPr>
        <p:spPr>
          <a:xfrm>
            <a:off x="8595360" y="1901952"/>
            <a:ext cx="2816352" cy="274320"/>
          </a:xfrm>
          <a:prstGeom prst="rect">
            <a:avLst/>
          </a:prstGeom>
          <a:noFill/>
        </p:spPr>
        <p:txBody>
          <a:bodyPr wrap="square" anchor="t" lIns="27432" rIns="27432" tIns="0" bIns="0">
            <a:spAutoFit/>
          </a:bodyPr>
          <a:lstStyle/>
          <a:p>
            <a:pPr algn="l"/>
            <a:r>
              <a:rPr sz="1250" b="1" i="0">
                <a:solidFill>
                  <a:srgbClr val="1F2A37"/>
                </a:solidFill>
                <a:latin typeface="Calibri"/>
              </a:rPr>
              <a:t>03/2013 – 12/2015</a:t>
            </a:r>
          </a:p>
        </p:txBody>
      </p:sp>
      <p:sp>
        <p:nvSpPr>
          <p:cNvPr id="9" name="TextBox 8"/>
          <p:cNvSpPr txBox="1"/>
          <p:nvPr/>
        </p:nvSpPr>
        <p:spPr>
          <a:xfrm>
            <a:off x="8595360" y="2139696"/>
            <a:ext cx="2816352" cy="274320"/>
          </a:xfrm>
          <a:prstGeom prst="rect">
            <a:avLst/>
          </a:prstGeom>
          <a:noFill/>
        </p:spPr>
        <p:txBody>
          <a:bodyPr wrap="square" anchor="t" lIns="27432" rIns="27432" tIns="0" bIns="0">
            <a:spAutoFit/>
          </a:bodyPr>
          <a:lstStyle/>
          <a:p>
            <a:pPr algn="l"/>
            <a:r>
              <a:rPr sz="1100" b="0" i="0">
                <a:solidFill>
                  <a:srgbClr val="64748B"/>
                </a:solidFill>
                <a:latin typeface="Calibri"/>
              </a:rPr>
              <a:t>276.380 dòng · 25,2% nhãn 1</a:t>
            </a:r>
          </a:p>
        </p:txBody>
      </p:sp>
      <p:sp>
        <p:nvSpPr>
          <p:cNvPr id="10" name="Rounded Rectangle 9"/>
          <p:cNvSpPr/>
          <p:nvPr/>
        </p:nvSpPr>
        <p:spPr>
          <a:xfrm>
            <a:off x="7543800" y="2450592"/>
            <a:ext cx="914400" cy="384048"/>
          </a:xfrm>
          <a:prstGeom prst="roundRect">
            <a:avLst>
              <a:gd name="adj" fmla="val 5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VAL</a:t>
            </a:r>
          </a:p>
        </p:txBody>
      </p:sp>
      <p:sp>
        <p:nvSpPr>
          <p:cNvPr id="11" name="TextBox 10"/>
          <p:cNvSpPr txBox="1"/>
          <p:nvPr/>
        </p:nvSpPr>
        <p:spPr>
          <a:xfrm>
            <a:off x="8595360" y="2468880"/>
            <a:ext cx="2816352" cy="274320"/>
          </a:xfrm>
          <a:prstGeom prst="rect">
            <a:avLst/>
          </a:prstGeom>
          <a:noFill/>
        </p:spPr>
        <p:txBody>
          <a:bodyPr wrap="square" anchor="t" lIns="27432" rIns="27432" tIns="0" bIns="0">
            <a:spAutoFit/>
          </a:bodyPr>
          <a:lstStyle/>
          <a:p>
            <a:pPr algn="l"/>
            <a:r>
              <a:rPr sz="1250" b="1" i="0">
                <a:solidFill>
                  <a:srgbClr val="1F2A37"/>
                </a:solidFill>
                <a:latin typeface="Calibri"/>
              </a:rPr>
              <a:t>01 – 06/2016</a:t>
            </a:r>
          </a:p>
        </p:txBody>
      </p:sp>
      <p:sp>
        <p:nvSpPr>
          <p:cNvPr id="12" name="TextBox 11"/>
          <p:cNvSpPr txBox="1"/>
          <p:nvPr/>
        </p:nvSpPr>
        <p:spPr>
          <a:xfrm>
            <a:off x="8595360" y="2706624"/>
            <a:ext cx="2816352" cy="274320"/>
          </a:xfrm>
          <a:prstGeom prst="rect">
            <a:avLst/>
          </a:prstGeom>
          <a:noFill/>
        </p:spPr>
        <p:txBody>
          <a:bodyPr wrap="square" anchor="t" lIns="27432" rIns="27432" tIns="0" bIns="0">
            <a:spAutoFit/>
          </a:bodyPr>
          <a:lstStyle/>
          <a:p>
            <a:pPr algn="l"/>
            <a:r>
              <a:rPr sz="1100" b="0" i="0">
                <a:solidFill>
                  <a:srgbClr val="64748B"/>
                </a:solidFill>
                <a:latin typeface="Calibri"/>
              </a:rPr>
              <a:t>47.338 dòng · 15,8%</a:t>
            </a:r>
          </a:p>
        </p:txBody>
      </p:sp>
      <p:sp>
        <p:nvSpPr>
          <p:cNvPr id="13" name="Rounded Rectangle 12"/>
          <p:cNvSpPr/>
          <p:nvPr/>
        </p:nvSpPr>
        <p:spPr>
          <a:xfrm>
            <a:off x="7543800" y="3017520"/>
            <a:ext cx="914400" cy="38404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TEST</a:t>
            </a:r>
          </a:p>
        </p:txBody>
      </p:sp>
      <p:sp>
        <p:nvSpPr>
          <p:cNvPr id="14" name="TextBox 13"/>
          <p:cNvSpPr txBox="1"/>
          <p:nvPr/>
        </p:nvSpPr>
        <p:spPr>
          <a:xfrm>
            <a:off x="8595360" y="3035808"/>
            <a:ext cx="2816352" cy="274320"/>
          </a:xfrm>
          <a:prstGeom prst="rect">
            <a:avLst/>
          </a:prstGeom>
          <a:noFill/>
        </p:spPr>
        <p:txBody>
          <a:bodyPr wrap="square" anchor="t" lIns="27432" rIns="27432" tIns="0" bIns="0">
            <a:spAutoFit/>
          </a:bodyPr>
          <a:lstStyle/>
          <a:p>
            <a:pPr algn="l"/>
            <a:r>
              <a:rPr sz="1250" b="1" i="0">
                <a:solidFill>
                  <a:srgbClr val="1F2A37"/>
                </a:solidFill>
                <a:latin typeface="Calibri"/>
              </a:rPr>
              <a:t>07 – 12/2016</a:t>
            </a:r>
          </a:p>
        </p:txBody>
      </p:sp>
      <p:sp>
        <p:nvSpPr>
          <p:cNvPr id="15" name="TextBox 14"/>
          <p:cNvSpPr txBox="1"/>
          <p:nvPr/>
        </p:nvSpPr>
        <p:spPr>
          <a:xfrm>
            <a:off x="8595360" y="3273552"/>
            <a:ext cx="2816352" cy="274320"/>
          </a:xfrm>
          <a:prstGeom prst="rect">
            <a:avLst/>
          </a:prstGeom>
          <a:noFill/>
        </p:spPr>
        <p:txBody>
          <a:bodyPr wrap="square" anchor="t" lIns="27432" rIns="27432" tIns="0" bIns="0">
            <a:spAutoFit/>
          </a:bodyPr>
          <a:lstStyle/>
          <a:p>
            <a:pPr algn="l"/>
            <a:r>
              <a:rPr sz="1100" b="0" i="0">
                <a:solidFill>
                  <a:srgbClr val="64748B"/>
                </a:solidFill>
                <a:latin typeface="Calibri"/>
              </a:rPr>
              <a:t>48.781 dòng · 23,9%</a:t>
            </a:r>
          </a:p>
        </p:txBody>
      </p:sp>
      <p:sp>
        <p:nvSpPr>
          <p:cNvPr id="16" name="Rounded Rectangle 15"/>
          <p:cNvSpPr/>
          <p:nvPr/>
        </p:nvSpPr>
        <p:spPr>
          <a:xfrm>
            <a:off x="7543800" y="3639312"/>
            <a:ext cx="3867912" cy="118872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3758184"/>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NGUYÊN TẮC</a:t>
            </a:r>
          </a:p>
        </p:txBody>
      </p:sp>
      <p:sp>
        <p:nvSpPr>
          <p:cNvPr id="18" name="TextBox 17"/>
          <p:cNvSpPr txBox="1"/>
          <p:nvPr/>
        </p:nvSpPr>
        <p:spPr>
          <a:xfrm>
            <a:off x="7708392" y="4069080"/>
            <a:ext cx="3538728" cy="685800"/>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chọn siêu tham số </a:t>
            </a:r>
            <a:r>
              <a:rPr sz="1150" b="1">
                <a:solidFill>
                  <a:srgbClr val="EA580C"/>
                </a:solidFill>
                <a:latin typeface="Calibri"/>
              </a:rPr>
              <a:t>chỉ trên val</a:t>
            </a:r>
          </a:p>
          <a:p>
            <a:pPr>
              <a:lnSpc>
                <a:spcPct val="108000"/>
              </a:lnSpc>
              <a:spcAft>
                <a:spcPts val="300"/>
              </a:spcAft>
            </a:pPr>
            <a:r>
              <a:rPr sz="1150" b="1">
                <a:solidFill>
                  <a:srgbClr val="EA580C"/>
                </a:solidFill>
                <a:latin typeface="Calibri"/>
              </a:rPr>
              <a:t>test dùng đúng MỘT lần</a:t>
            </a:r>
            <a:r>
              <a:rPr sz="1150" b="0">
                <a:solidFill>
                  <a:srgbClr val="1F2A37"/>
                </a:solidFill>
                <a:latin typeface="Calibri"/>
              </a:rPr>
              <a:t> — dùng lại là tự học vào test</a:t>
            </a:r>
          </a:p>
        </p:txBody>
      </p:sp>
      <p:sp>
        <p:nvSpPr>
          <p:cNvPr id="19" name="Rectangle 18"/>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1" name="TextBox 20"/>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Dữ liệu thời gian → chia THEO THỜI GIAN train→val→test; chọn siêu tham số chỉ trên val; test dùng đúng một lần.</a:t>
            </a:r>
          </a:p>
        </p:txBody>
      </p:sp>
      <p:sp>
        <p:nvSpPr>
          <p:cNvPr id="22" name="TextBox 21"/>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31 / 49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PHƯƠNG PHÁP</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Ba tập và vì sao 372.499 dòng chứ không 420.768</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Số dòng ba tập: </a:t>
            </a:r>
            <a:r>
              <a:rPr sz="1450" b="1">
                <a:solidFill>
                  <a:srgbClr val="EA580C"/>
                </a:solidFill>
                <a:latin typeface="Cambria"/>
              </a:rPr>
              <a:t>train 276.380</a:t>
            </a:r>
            <a:r>
              <a:rPr sz="1450" b="0">
                <a:solidFill>
                  <a:srgbClr val="1F2A37"/>
                </a:solidFill>
                <a:latin typeface="Cambria"/>
              </a:rPr>
              <a:t> (25,2% nhãn 1) · </a:t>
            </a:r>
            <a:r>
              <a:rPr sz="1450" b="1">
                <a:solidFill>
                  <a:srgbClr val="EA580C"/>
                </a:solidFill>
                <a:latin typeface="Cambria"/>
              </a:rPr>
              <a:t>val 47.338</a:t>
            </a:r>
            <a:r>
              <a:rPr sz="1450" b="0">
                <a:solidFill>
                  <a:srgbClr val="1F2A37"/>
                </a:solidFill>
                <a:latin typeface="Cambria"/>
              </a:rPr>
              <a:t> (15,8%) · </a:t>
            </a:r>
            <a:r>
              <a:rPr sz="1450" b="1">
                <a:solidFill>
                  <a:srgbClr val="EA580C"/>
                </a:solidFill>
                <a:latin typeface="Cambria"/>
              </a:rPr>
              <a:t>test 48.781</a:t>
            </a:r>
            <a:r>
              <a:rPr sz="1450" b="0">
                <a:solidFill>
                  <a:srgbClr val="1F2A37"/>
                </a:solidFill>
                <a:latin typeface="Cambria"/>
              </a:rPr>
              <a:t> (23,9%) — cộng lại 372.499, thiếu gần 50 nghìn so với 420.768. Đây là chỗ hay bị hỏi “số đâu mất?”</a:t>
            </a:r>
          </a:p>
          <a:p>
            <a:pPr algn="just">
              <a:lnSpc>
                <a:spcPct val="113000"/>
              </a:lnSpc>
              <a:spcAft>
                <a:spcPts val="900"/>
              </a:spcAft>
            </a:pPr>
            <a:r>
              <a:rPr sz="1450" b="0">
                <a:solidFill>
                  <a:srgbClr val="1F2A37"/>
                </a:solidFill>
                <a:latin typeface="Cambria"/>
              </a:rPr>
              <a:t>Ba lý do mất dòng: </a:t>
            </a:r>
            <a:r>
              <a:rPr sz="1450" b="1">
                <a:solidFill>
                  <a:srgbClr val="1F2A37"/>
                </a:solidFill>
                <a:latin typeface="Cambria"/>
              </a:rPr>
              <a:t>(1)</a:t>
            </a:r>
            <a:r>
              <a:rPr sz="1450" b="0">
                <a:solidFill>
                  <a:srgbClr val="1F2A37"/>
                </a:solidFill>
                <a:latin typeface="Cambria"/>
              </a:rPr>
              <a:t> cửa sổ ML khóa </a:t>
            </a:r>
            <a:r>
              <a:rPr sz="1450" b="1">
                <a:solidFill>
                  <a:srgbClr val="EA580C"/>
                </a:solidFill>
                <a:latin typeface="Cambria"/>
              </a:rPr>
              <a:t>03/2013–12/2016</a:t>
            </a:r>
            <a:r>
              <a:rPr sz="1450" b="0">
                <a:solidFill>
                  <a:srgbClr val="1F2A37"/>
                </a:solidFill>
                <a:latin typeface="Cambria"/>
              </a:rPr>
              <a:t> — 01–02/2017 dành riêng cho đối soát CDC (phần D); </a:t>
            </a:r>
            <a:r>
              <a:rPr sz="1450" b="1">
                <a:solidFill>
                  <a:srgbClr val="1F2A37"/>
                </a:solidFill>
                <a:latin typeface="Cambria"/>
              </a:rPr>
              <a:t>(2)</a:t>
            </a:r>
            <a:r>
              <a:rPr sz="1450" b="0">
                <a:solidFill>
                  <a:srgbClr val="1F2A37"/>
                </a:solidFill>
                <a:latin typeface="Cambria"/>
              </a:rPr>
              <a:t> dòng thiếu </a:t>
            </a:r>
            <a:r>
              <a:rPr sz="1450" b="1">
                <a:solidFill>
                  <a:srgbClr val="EA580C"/>
                </a:solidFill>
                <a:latin typeface="Cambria"/>
              </a:rPr>
              <a:t>nhãn PM2.5(t+1)</a:t>
            </a:r>
            <a:r>
              <a:rPr sz="1450" b="0">
                <a:solidFill>
                  <a:srgbClr val="1F2A37"/>
                </a:solidFill>
                <a:latin typeface="Cambria"/>
              </a:rPr>
              <a:t> bị loại — không nhãn thì không học được; </a:t>
            </a:r>
            <a:r>
              <a:rPr sz="1450" b="1">
                <a:solidFill>
                  <a:srgbClr val="1F2A37"/>
                </a:solidFill>
                <a:latin typeface="Cambria"/>
              </a:rPr>
              <a:t>(3)</a:t>
            </a:r>
            <a:r>
              <a:rPr sz="1450" b="0">
                <a:solidFill>
                  <a:srgbClr val="1F2A37"/>
                </a:solidFill>
                <a:latin typeface="Cambria"/>
              </a:rPr>
              <a:t> dòng không đủ </a:t>
            </a:r>
            <a:r>
              <a:rPr sz="1450" b="1">
                <a:solidFill>
                  <a:srgbClr val="EA580C"/>
                </a:solidFill>
                <a:latin typeface="Cambria"/>
              </a:rPr>
              <a:t>chuỗi 24 giờ trước</a:t>
            </a:r>
            <a:r>
              <a:rPr sz="1450" b="0">
                <a:solidFill>
                  <a:srgbClr val="1F2A37"/>
                </a:solidFill>
                <a:latin typeface="Cambria"/>
              </a:rPr>
              <a:t> (độ trễ + trung bình trượt) bị loại — và mỗi giờ thiếu làm </a:t>
            </a:r>
            <a:r>
              <a:rPr sz="1450" b="1">
                <a:solidFill>
                  <a:srgbClr val="1F2A37"/>
                </a:solidFill>
                <a:latin typeface="Cambria"/>
              </a:rPr>
              <a:t>gãy chuỗi</a:t>
            </a:r>
            <a:r>
              <a:rPr sz="1450" b="0">
                <a:solidFill>
                  <a:srgbClr val="1F2A37"/>
                </a:solidFill>
                <a:latin typeface="Cambria"/>
              </a:rPr>
              <a:t>, kéo theo loại cả những giờ ngay sau nó. Tỷ lệ nhãn 1 khác nhau giữa ba tập (nửa đầu 2016 ô nhiễm ít hơn nửa cuối) — thêm lý do không dùng k-fold random.</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420.768 → 372.499</a:t>
            </a:r>
          </a:p>
        </p:txBody>
      </p:sp>
      <p:sp>
        <p:nvSpPr>
          <p:cNvPr id="7" name="TextBox 6"/>
          <p:cNvSpPr txBox="1"/>
          <p:nvPr/>
        </p:nvSpPr>
        <p:spPr>
          <a:xfrm>
            <a:off x="7543800" y="1883664"/>
            <a:ext cx="3867912" cy="512064"/>
          </a:xfrm>
          <a:prstGeom prst="rect">
            <a:avLst/>
          </a:prstGeom>
          <a:noFill/>
        </p:spPr>
        <p:txBody>
          <a:bodyPr wrap="square" anchor="t" lIns="27432" rIns="27432" tIns="0" bIns="0">
            <a:spAutoFit/>
          </a:bodyPr>
          <a:lstStyle/>
          <a:p>
            <a:pPr algn="l"/>
            <a:r>
              <a:rPr sz="2400" b="1" i="0">
                <a:solidFill>
                  <a:srgbClr val="EA580C"/>
                </a:solidFill>
                <a:latin typeface="Cambria"/>
              </a:rPr>
              <a:t>−48.269 dòng</a:t>
            </a:r>
          </a:p>
        </p:txBody>
      </p:sp>
      <p:sp>
        <p:nvSpPr>
          <p:cNvPr id="8" name="TextBox 7"/>
          <p:cNvSpPr txBox="1"/>
          <p:nvPr/>
        </p:nvSpPr>
        <p:spPr>
          <a:xfrm>
            <a:off x="7543800" y="24140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ba lý do dưới đây</a:t>
            </a:r>
          </a:p>
        </p:txBody>
      </p:sp>
      <p:sp>
        <p:nvSpPr>
          <p:cNvPr id="9" name="Rectangle 8"/>
          <p:cNvSpPr/>
          <p:nvPr/>
        </p:nvSpPr>
        <p:spPr>
          <a:xfrm>
            <a:off x="7543800" y="2688336"/>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7980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1 · Ngoài cửa sổ  </a:t>
            </a:r>
            <a:r>
              <a:rPr sz="1250" b="0">
                <a:solidFill>
                  <a:srgbClr val="1F2A37"/>
                </a:solidFill>
                <a:latin typeface="Calibri"/>
              </a:rPr>
              <a:t>01–02/2017 để đối soát CDC</a:t>
            </a:r>
          </a:p>
        </p:txBody>
      </p:sp>
      <p:sp>
        <p:nvSpPr>
          <p:cNvPr id="11" name="TextBox 10"/>
          <p:cNvSpPr txBox="1"/>
          <p:nvPr/>
        </p:nvSpPr>
        <p:spPr>
          <a:xfrm>
            <a:off x="7543800" y="34015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2 · Thiếu nhãn  </a:t>
            </a:r>
            <a:r>
              <a:rPr sz="1250" b="0">
                <a:solidFill>
                  <a:srgbClr val="1F2A37"/>
                </a:solidFill>
                <a:latin typeface="Calibri"/>
              </a:rPr>
              <a:t>không có PM2.5(t+1)</a:t>
            </a:r>
          </a:p>
        </p:txBody>
      </p:sp>
      <p:sp>
        <p:nvSpPr>
          <p:cNvPr id="12" name="TextBox 11"/>
          <p:cNvSpPr txBox="1"/>
          <p:nvPr/>
        </p:nvSpPr>
        <p:spPr>
          <a:xfrm>
            <a:off x="7543800" y="40050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3 · Gãy chuỗi lag  </a:t>
            </a:r>
            <a:r>
              <a:rPr sz="1250" b="0">
                <a:solidFill>
                  <a:srgbClr val="1F2A37"/>
                </a:solidFill>
                <a:latin typeface="Calibri"/>
              </a:rPr>
              <a:t>thiếu 1 giờ → mất cả những giờ ngay sau nó (chuỗi 24h)</a:t>
            </a:r>
          </a:p>
        </p:txBody>
      </p:sp>
      <p:sp>
        <p:nvSpPr>
          <p:cNvPr id="13" name="Rounded Rectangle 12"/>
          <p:cNvSpPr/>
          <p:nvPr/>
        </p:nvSpPr>
        <p:spPr>
          <a:xfrm>
            <a:off x="7543800" y="4700016"/>
            <a:ext cx="3867912" cy="877824"/>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08392" y="4818888"/>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CỘNG LẠI</a:t>
            </a:r>
          </a:p>
        </p:txBody>
      </p:sp>
      <p:sp>
        <p:nvSpPr>
          <p:cNvPr id="15" name="TextBox 14"/>
          <p:cNvSpPr txBox="1"/>
          <p:nvPr/>
        </p:nvSpPr>
        <p:spPr>
          <a:xfrm>
            <a:off x="7708392" y="5129784"/>
            <a:ext cx="3538728" cy="374904"/>
          </a:xfrm>
          <a:prstGeom prst="rect">
            <a:avLst/>
          </a:prstGeom>
          <a:noFill/>
        </p:spPr>
        <p:txBody>
          <a:bodyPr wrap="square" lIns="18288" rIns="18288" tIns="0" bIns="0">
            <a:spAutoFit/>
          </a:bodyPr>
          <a:lstStyle/>
          <a:p>
            <a:pPr>
              <a:lnSpc>
                <a:spcPct val="108000"/>
              </a:lnSpc>
              <a:spcAft>
                <a:spcPts val="300"/>
              </a:spcAft>
            </a:pPr>
            <a:r>
              <a:rPr sz="1200" b="1">
                <a:solidFill>
                  <a:srgbClr val="EA580C"/>
                </a:solidFill>
                <a:latin typeface="Calibri"/>
              </a:rPr>
              <a:t>276.380 + 47.338 + 48.781 = 372.499</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372.499 = 420.768 − ngoài cửa sổ ML (01–02/2017 cho CDC) − thiếu nhãn t+1 − gãy chuỗi lag 24 giờ.</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32 / 49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BASELINE</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Baseline 1 — majority và cái bẫy accuracy</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Baseline (mốc so sánh tối thiểu) thứ nhất: </a:t>
            </a:r>
            <a:r>
              <a:rPr sz="1450" b="1">
                <a:solidFill>
                  <a:srgbClr val="1F2A37"/>
                </a:solidFill>
                <a:latin typeface="Cambria"/>
              </a:rPr>
              <a:t>majority</a:t>
            </a:r>
            <a:r>
              <a:rPr sz="1450" b="0">
                <a:solidFill>
                  <a:srgbClr val="1F2A37"/>
                </a:solidFill>
                <a:latin typeface="Cambria"/>
              </a:rPr>
              <a:t> — luôn đoán lớp đa số “không vượt”. Kết quả: </a:t>
            </a:r>
            <a:r>
              <a:rPr sz="1450" b="1">
                <a:solidFill>
                  <a:srgbClr val="EA580C"/>
                </a:solidFill>
                <a:latin typeface="Cambria"/>
              </a:rPr>
              <a:t>accuracy 0,761 nhưng F1 = 0,000</a:t>
            </a:r>
            <a:r>
              <a:rPr sz="1450" b="0">
                <a:solidFill>
                  <a:srgbClr val="1F2A37"/>
                </a:solidFill>
                <a:latin typeface="Cambria"/>
              </a:rPr>
              <a:t> — không phát được cảnh báo nào thật sự. Vì accuracy chỉ đếm đúng/sai từng dòng: lớp “không vượt” ~76% nên đoán mù cũng đúng 76%, trong khi </a:t>
            </a:r>
            <a:r>
              <a:rPr sz="1450" b="1">
                <a:solidFill>
                  <a:srgbClr val="1F2A37"/>
                </a:solidFill>
                <a:latin typeface="Cambria"/>
              </a:rPr>
              <a:t>~24% giờ nguy hiểm bị bỏ qua hết</a:t>
            </a:r>
            <a:r>
              <a:rPr sz="1450" b="0">
                <a:solidFill>
                  <a:srgbClr val="1F2A37"/>
                </a:solidFill>
                <a:latin typeface="Cambria"/>
              </a:rPr>
              <a:t>.</a:t>
            </a:r>
          </a:p>
          <a:p>
            <a:pPr algn="just">
              <a:lnSpc>
                <a:spcPct val="113000"/>
              </a:lnSpc>
              <a:spcAft>
                <a:spcPts val="900"/>
              </a:spcAft>
            </a:pPr>
            <a:r>
              <a:rPr sz="1450" b="0">
                <a:solidFill>
                  <a:srgbClr val="1F2A37"/>
                </a:solidFill>
                <a:latin typeface="Cambria"/>
              </a:rPr>
              <a:t>Ba chỉ số đọc thay accuracy: </a:t>
            </a:r>
            <a:r>
              <a:rPr sz="1450" b="1">
                <a:solidFill>
                  <a:srgbClr val="EA580C"/>
                </a:solidFill>
                <a:latin typeface="Cambria"/>
              </a:rPr>
              <a:t>precision</a:t>
            </a:r>
            <a:r>
              <a:rPr sz="1450" b="0">
                <a:solidFill>
                  <a:srgbClr val="1F2A37"/>
                </a:solidFill>
                <a:latin typeface="Cambria"/>
              </a:rPr>
              <a:t> = trong các cảnh báo phát ra, bao nhiêu đúng (báo nhầm tốn uy tín); </a:t>
            </a:r>
            <a:r>
              <a:rPr sz="1450" b="1">
                <a:solidFill>
                  <a:srgbClr val="EA580C"/>
                </a:solidFill>
                <a:latin typeface="Cambria"/>
              </a:rPr>
              <a:t>recall</a:t>
            </a:r>
            <a:r>
              <a:rPr sz="1450" b="0">
                <a:solidFill>
                  <a:srgbClr val="1F2A37"/>
                </a:solidFill>
                <a:latin typeface="Cambria"/>
              </a:rPr>
              <a:t> = trong các giờ thật sự vượt ngưỡng, bắt được bao nhiêu (bỏ sót là người dân hít khói độc); </a:t>
            </a:r>
            <a:r>
              <a:rPr sz="1450" b="1">
                <a:solidFill>
                  <a:srgbClr val="EA580C"/>
                </a:solidFill>
                <a:latin typeface="Cambria"/>
              </a:rPr>
              <a:t>F1</a:t>
            </a:r>
            <a:r>
              <a:rPr sz="1450" b="0">
                <a:solidFill>
                  <a:srgbClr val="1F2A37"/>
                </a:solidFill>
                <a:latin typeface="Cambria"/>
              </a:rPr>
              <a:t> = trung bình điều hoà hai cái — chỉ số chính của bài này. Bài học: </a:t>
            </a:r>
            <a:r>
              <a:rPr sz="1450" b="1">
                <a:solidFill>
                  <a:srgbClr val="1F2A37"/>
                </a:solidFill>
                <a:latin typeface="Cambria"/>
              </a:rPr>
              <a:t>lớp mất cân bằng làm accuracy mất ý nghĩa</a:t>
            </a:r>
            <a:r>
              <a:rPr sz="1450" b="0">
                <a:solidFill>
                  <a:srgbClr val="1F2A37"/>
                </a:solidFill>
                <a:latin typeface="Cambria"/>
              </a:rPr>
              <a:t> — bài toán cảnh báo luôn phải báo precision/recall/F1.</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BẪY ACCURACY</a:t>
            </a:r>
          </a:p>
        </p:txBody>
      </p:sp>
      <p:sp>
        <p:nvSpPr>
          <p:cNvPr id="7" name="Rounded Rectangle 6"/>
          <p:cNvSpPr/>
          <p:nvPr/>
        </p:nvSpPr>
        <p:spPr>
          <a:xfrm>
            <a:off x="7543800" y="1883664"/>
            <a:ext cx="3867912" cy="118872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MAJORITY</a:t>
            </a:r>
          </a:p>
        </p:txBody>
      </p:sp>
      <p:sp>
        <p:nvSpPr>
          <p:cNvPr id="9" name="TextBox 8"/>
          <p:cNvSpPr txBox="1"/>
          <p:nvPr/>
        </p:nvSpPr>
        <p:spPr>
          <a:xfrm>
            <a:off x="7708392" y="2313432"/>
            <a:ext cx="3538728" cy="68580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accuracy </a:t>
            </a:r>
            <a:r>
              <a:rPr sz="1200" b="1">
                <a:solidFill>
                  <a:srgbClr val="EA580C"/>
                </a:solidFill>
                <a:latin typeface="Calibri"/>
              </a:rPr>
              <a:t>0,761</a:t>
            </a:r>
            <a:r>
              <a:rPr sz="1200" b="0">
                <a:solidFill>
                  <a:srgbClr val="1F2A37"/>
                </a:solidFill>
                <a:latin typeface="Calibri"/>
              </a:rPr>
              <a:t> — nghe cao</a:t>
            </a:r>
          </a:p>
          <a:p>
            <a:pPr>
              <a:lnSpc>
                <a:spcPct val="108000"/>
              </a:lnSpc>
              <a:spcAft>
                <a:spcPts val="300"/>
              </a:spcAft>
            </a:pPr>
            <a:r>
              <a:rPr sz="1200" b="0">
                <a:solidFill>
                  <a:srgbClr val="1F2A37"/>
                </a:solidFill>
                <a:latin typeface="Calibri"/>
              </a:rPr>
              <a:t>nhưng F1 = </a:t>
            </a:r>
            <a:r>
              <a:rPr sz="1200" b="1">
                <a:solidFill>
                  <a:srgbClr val="EA580C"/>
                </a:solidFill>
                <a:latin typeface="Calibri"/>
              </a:rPr>
              <a:t>0,000</a:t>
            </a:r>
            <a:r>
              <a:rPr sz="1200" b="0">
                <a:solidFill>
                  <a:srgbClr val="1F2A37"/>
                </a:solidFill>
                <a:latin typeface="Calibri"/>
              </a:rPr>
              <a:t>: không bắt được cảnh báo nào</a:t>
            </a:r>
          </a:p>
        </p:txBody>
      </p:sp>
      <p:sp>
        <p:nvSpPr>
          <p:cNvPr id="10" name="TextBox 9"/>
          <p:cNvSpPr txBox="1"/>
          <p:nvPr/>
        </p:nvSpPr>
        <p:spPr>
          <a:xfrm>
            <a:off x="7543800" y="3200400"/>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precision  </a:t>
            </a:r>
            <a:r>
              <a:rPr sz="1250" b="0">
                <a:solidFill>
                  <a:srgbClr val="1F2A37"/>
                </a:solidFill>
                <a:latin typeface="Calibri"/>
              </a:rPr>
              <a:t>trong các cảnh báo phát ra, bao nhiêu đúng</a:t>
            </a:r>
          </a:p>
        </p:txBody>
      </p:sp>
      <p:sp>
        <p:nvSpPr>
          <p:cNvPr id="11" name="TextBox 10"/>
          <p:cNvSpPr txBox="1"/>
          <p:nvPr/>
        </p:nvSpPr>
        <p:spPr>
          <a:xfrm>
            <a:off x="7543800" y="380390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recall  </a:t>
            </a:r>
            <a:r>
              <a:rPr sz="1250" b="0">
                <a:solidFill>
                  <a:srgbClr val="1F2A37"/>
                </a:solidFill>
                <a:latin typeface="Calibri"/>
              </a:rPr>
              <a:t>giờ thật sự vượt ngưỡng, bắt được bao nhiêu</a:t>
            </a:r>
          </a:p>
        </p:txBody>
      </p:sp>
      <p:sp>
        <p:nvSpPr>
          <p:cNvPr id="12" name="TextBox 11"/>
          <p:cNvSpPr txBox="1"/>
          <p:nvPr/>
        </p:nvSpPr>
        <p:spPr>
          <a:xfrm>
            <a:off x="7543800" y="440740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F1  </a:t>
            </a:r>
            <a:r>
              <a:rPr sz="1250" b="0">
                <a:solidFill>
                  <a:srgbClr val="1F2A37"/>
                </a:solidFill>
                <a:latin typeface="Calibri"/>
              </a:rPr>
              <a:t>điều hoà precision và recall — chỉ số chính</a:t>
            </a:r>
          </a:p>
        </p:txBody>
      </p:sp>
      <p:sp>
        <p:nvSpPr>
          <p:cNvPr id="13" name="Rounded Rectangle 12"/>
          <p:cNvSpPr/>
          <p:nvPr/>
        </p:nvSpPr>
        <p:spPr>
          <a:xfrm>
            <a:off x="7543800" y="5084064"/>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DBA74"/>
                </a:solidFill>
                <a:latin typeface="Calibri"/>
              </a:rPr>
              <a:t>lớp thiểu số ~24% → accuracy bẫy</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Majority: accuracy 0,761 nhưng F1 = 0,000 — với lớp thiểu số ~24%, accuracy là chỉ số bẫy; nhìn F1.</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33 / 49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BASELINE</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Baseline 2 — persistence mạnh đến mức nào</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Baseline thứ hai: </a:t>
            </a:r>
            <a:r>
              <a:rPr sz="1450" b="1">
                <a:solidFill>
                  <a:srgbClr val="EA580C"/>
                </a:solidFill>
                <a:latin typeface="Cambria"/>
              </a:rPr>
              <a:t>persistence</a:t>
            </a:r>
            <a:r>
              <a:rPr sz="1450" b="0">
                <a:solidFill>
                  <a:srgbClr val="1F2A37"/>
                </a:solidFill>
                <a:latin typeface="Cambria"/>
              </a:rPr>
              <a:t> — “giờ tới giữ nguyên hiện tại”: PM2.5 lúc này ≥ 115 thì báo vượt. F1 đạt </a:t>
            </a:r>
            <a:r>
              <a:rPr sz="1450" b="1">
                <a:solidFill>
                  <a:srgbClr val="EA580C"/>
                </a:solidFill>
                <a:latin typeface="Cambria"/>
              </a:rPr>
              <a:t>0,914</a:t>
            </a:r>
            <a:r>
              <a:rPr sz="1450" b="0">
                <a:solidFill>
                  <a:srgbClr val="1F2A37"/>
                </a:solidFill>
                <a:latin typeface="Cambria"/>
              </a:rPr>
              <a:t> — rất cao, vì hai giờ liên tiếp tương quan chặt (ô nhiễm tích tụ và tan dần từ từ, ít đổi trạng thái đột ngột).</a:t>
            </a:r>
          </a:p>
          <a:p>
            <a:pPr algn="just">
              <a:lnSpc>
                <a:spcPct val="113000"/>
              </a:lnSpc>
              <a:spcAft>
                <a:spcPts val="900"/>
              </a:spcAft>
            </a:pPr>
            <a:r>
              <a:rPr sz="1450" b="0">
                <a:solidFill>
                  <a:srgbClr val="1F2A37"/>
                </a:solidFill>
                <a:latin typeface="Cambria"/>
              </a:rPr>
              <a:t>Hệ quả phương pháp luận: mô hình học máy phải chứng minh </a:t>
            </a:r>
            <a:r>
              <a:rPr sz="1450" b="1">
                <a:solidFill>
                  <a:srgbClr val="EA580C"/>
                </a:solidFill>
                <a:latin typeface="Cambria"/>
              </a:rPr>
              <a:t>giá trị THÊM</a:t>
            </a:r>
            <a:r>
              <a:rPr sz="1450" b="0">
                <a:solidFill>
                  <a:srgbClr val="1F2A37"/>
                </a:solidFill>
                <a:latin typeface="Cambria"/>
              </a:rPr>
              <a:t> so với baseline mạnh này — chứ không phải so với majority cho đẹp. So với baseline yếu thì phần thắng bị thổi phồng; ở đây “sàn” đã 0,914. Câu hỏi đúng để đánh giá mô hình không phải “F1 bao nhiêu?” mà “</a:t>
            </a:r>
            <a:r>
              <a:rPr sz="1450" b="1">
                <a:solidFill>
                  <a:srgbClr val="1F2A37"/>
                </a:solidFill>
                <a:latin typeface="Cambria"/>
              </a:rPr>
              <a:t>làm được gì mà persistence không làm được?</a:t>
            </a:r>
            <a:r>
              <a:rPr sz="1450" b="0">
                <a:solidFill>
                  <a:srgbClr val="1F2A37"/>
                </a:solidFill>
                <a:latin typeface="Cambria"/>
              </a:rPr>
              <a:t>” — hai slide nữa trả lời đúng câu đó.</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SÀN PHẢI VƯỢT</a:t>
            </a:r>
          </a:p>
        </p:txBody>
      </p:sp>
      <p:sp>
        <p:nvSpPr>
          <p:cNvPr id="7" name="TextBox 6"/>
          <p:cNvSpPr txBox="1"/>
          <p:nvPr/>
        </p:nvSpPr>
        <p:spPr>
          <a:xfrm>
            <a:off x="7543800" y="1883664"/>
            <a:ext cx="3867912" cy="740664"/>
          </a:xfrm>
          <a:prstGeom prst="rect">
            <a:avLst/>
          </a:prstGeom>
          <a:noFill/>
        </p:spPr>
        <p:txBody>
          <a:bodyPr wrap="square" anchor="t" lIns="27432" rIns="27432" tIns="0" bIns="0">
            <a:spAutoFit/>
          </a:bodyPr>
          <a:lstStyle/>
          <a:p>
            <a:pPr algn="l"/>
            <a:r>
              <a:rPr sz="3600" b="1" i="0">
                <a:solidFill>
                  <a:srgbClr val="EA580C"/>
                </a:solidFill>
                <a:latin typeface="Cambria"/>
              </a:rPr>
              <a:t>F1 0,914</a:t>
            </a:r>
          </a:p>
        </p:txBody>
      </p:sp>
      <p:sp>
        <p:nvSpPr>
          <p:cNvPr id="8" name="TextBox 7"/>
          <p:cNvSpPr txBox="1"/>
          <p:nvPr/>
        </p:nvSpPr>
        <p:spPr>
          <a:xfrm>
            <a:off x="7543800" y="26426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persistence — “giờ tới giữ nguyên hiện tại”</a:t>
            </a:r>
          </a:p>
        </p:txBody>
      </p:sp>
      <p:sp>
        <p:nvSpPr>
          <p:cNvPr id="9" name="Rounded Rectangle 8"/>
          <p:cNvSpPr/>
          <p:nvPr/>
        </p:nvSpPr>
        <p:spPr>
          <a:xfrm>
            <a:off x="7543800" y="2990088"/>
            <a:ext cx="3867912" cy="1225296"/>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3108960"/>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VÌ SAO MẠNH</a:t>
            </a:r>
          </a:p>
        </p:txBody>
      </p:sp>
      <p:sp>
        <p:nvSpPr>
          <p:cNvPr id="11" name="TextBox 10"/>
          <p:cNvSpPr txBox="1"/>
          <p:nvPr/>
        </p:nvSpPr>
        <p:spPr>
          <a:xfrm>
            <a:off x="7708392" y="3419856"/>
            <a:ext cx="3538728" cy="722376"/>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hai giờ liên tiếp tương quan chặt —</a:t>
            </a:r>
          </a:p>
          <a:p>
            <a:pPr>
              <a:lnSpc>
                <a:spcPct val="108000"/>
              </a:lnSpc>
              <a:spcAft>
                <a:spcPts val="300"/>
              </a:spcAft>
            </a:pPr>
            <a:r>
              <a:rPr sz="1150" b="0">
                <a:solidFill>
                  <a:srgbClr val="1F2A37"/>
                </a:solidFill>
                <a:latin typeface="Calibri"/>
              </a:rPr>
              <a:t>ô nhiễm ít đổi trạng thái đột ngột</a:t>
            </a:r>
          </a:p>
          <a:p>
            <a:pPr>
              <a:lnSpc>
                <a:spcPct val="108000"/>
              </a:lnSpc>
              <a:spcAft>
                <a:spcPts val="300"/>
              </a:spcAft>
            </a:pPr>
            <a:r>
              <a:rPr sz="1150" b="0">
                <a:solidFill>
                  <a:srgbClr val="1F2A37"/>
                </a:solidFill>
                <a:latin typeface="Calibri"/>
              </a:rPr>
              <a:t>→ mô hình phải chứng minh giá trị </a:t>
            </a:r>
            <a:r>
              <a:rPr sz="1150" b="1">
                <a:solidFill>
                  <a:srgbClr val="EA580C"/>
                </a:solidFill>
                <a:latin typeface="Calibri"/>
              </a:rPr>
              <a:t>THÊM</a:t>
            </a:r>
          </a:p>
        </p:txBody>
      </p:sp>
      <p:sp>
        <p:nvSpPr>
          <p:cNvPr id="12" name="Rounded Rectangle 11"/>
          <p:cNvSpPr/>
          <p:nvPr/>
        </p:nvSpPr>
        <p:spPr>
          <a:xfrm>
            <a:off x="7543800" y="5641848"/>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DBA74"/>
                </a:solidFill>
                <a:latin typeface="Calibri"/>
              </a:rPr>
              <a:t>majority F1 0,000 — không phải mốc so</a:t>
            </a:r>
          </a:p>
        </p:txBody>
      </p:sp>
      <p:sp>
        <p:nvSpPr>
          <p:cNvPr id="13" name="Rectangle 12"/>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5" name="TextBox 14"/>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Persistence F1 0,914 là “sàn” phải vượt có ý nghĩa — luôn so với baseline mạnh nhất, không so với majority.</a:t>
            </a:r>
          </a:p>
        </p:txBody>
      </p:sp>
      <p:sp>
        <p:nvSpPr>
          <p:cNvPr id="16" name="TextBox 15"/>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34 / 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KẾT QUẢ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Kết quả 4 mô hình — đọc bảng đúng cách</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Xếp hạng trên tập test: </a:t>
            </a:r>
            <a:r>
              <a:rPr sz="1450" b="1">
                <a:solidFill>
                  <a:srgbClr val="EA580C"/>
                </a:solidFill>
                <a:latin typeface="Cambria"/>
              </a:rPr>
              <a:t>majority F1 0,000</a:t>
            </a:r>
            <a:r>
              <a:rPr sz="1450" b="0">
                <a:solidFill>
                  <a:srgbClr val="1F2A37"/>
                </a:solidFill>
                <a:latin typeface="Cambria"/>
              </a:rPr>
              <a:t> · </a:t>
            </a:r>
            <a:r>
              <a:rPr sz="1450" b="1">
                <a:solidFill>
                  <a:srgbClr val="EA580C"/>
                </a:solidFill>
                <a:latin typeface="Cambria"/>
              </a:rPr>
              <a:t>persistence 0,914</a:t>
            </a:r>
            <a:r>
              <a:rPr sz="1450" b="0">
                <a:solidFill>
                  <a:srgbClr val="1F2A37"/>
                </a:solidFill>
                <a:latin typeface="Cambria"/>
              </a:rPr>
              <a:t> · </a:t>
            </a:r>
            <a:r>
              <a:rPr sz="1450" b="1">
                <a:solidFill>
                  <a:srgbClr val="EA580C"/>
                </a:solidFill>
                <a:latin typeface="Cambria"/>
              </a:rPr>
              <a:t>cây quyết định (entropy, sâu 6) 0,921</a:t>
            </a:r>
            <a:r>
              <a:rPr sz="1450" b="0">
                <a:solidFill>
                  <a:srgbClr val="1F2A37"/>
                </a:solidFill>
                <a:latin typeface="Cambria"/>
              </a:rPr>
              <a:t> · </a:t>
            </a:r>
            <a:r>
              <a:rPr sz="1450" b="1">
                <a:solidFill>
                  <a:srgbClr val="EA580C"/>
                </a:solidFill>
                <a:latin typeface="Cambria"/>
              </a:rPr>
              <a:t>HistGradientBoosting 0,927</a:t>
            </a:r>
            <a:r>
              <a:rPr sz="1450" b="0">
                <a:solidFill>
                  <a:srgbClr val="1F2A37"/>
                </a:solidFill>
                <a:latin typeface="Cambria"/>
              </a:rPr>
              <a:t> (precision 0,926 · recall 0,928 · ROC-AUC 0,993 · ngưỡng 0,50) — </a:t>
            </a:r>
            <a:r>
              <a:rPr sz="1450" b="1">
                <a:solidFill>
                  <a:srgbClr val="1F2A37"/>
                </a:solidFill>
                <a:latin typeface="Cambria"/>
              </a:rPr>
              <a:t>mô hình khóa</a:t>
            </a:r>
            <a:r>
              <a:rPr sz="1450" b="0">
                <a:solidFill>
                  <a:srgbClr val="1F2A37"/>
                </a:solidFill>
                <a:latin typeface="Cambria"/>
              </a:rPr>
              <a:t>.</a:t>
            </a:r>
          </a:p>
          <a:p>
            <a:pPr algn="just">
              <a:lnSpc>
                <a:spcPct val="113000"/>
              </a:lnSpc>
              <a:spcAft>
                <a:spcPts val="900"/>
              </a:spcAft>
            </a:pPr>
            <a:r>
              <a:rPr sz="1450" b="0">
                <a:solidFill>
                  <a:srgbClr val="1F2A37"/>
                </a:solidFill>
                <a:latin typeface="Cambria"/>
              </a:rPr>
              <a:t>So persistence theo số giờ cụ thể trên 6 tháng test: giờ ô nhiễm bị bỏ sót (FN) </a:t>
            </a:r>
            <a:r>
              <a:rPr sz="1450" b="1">
                <a:solidFill>
                  <a:srgbClr val="EA580C"/>
                </a:solidFill>
                <a:latin typeface="Cambria"/>
              </a:rPr>
              <a:t>1.000 → 838</a:t>
            </a:r>
            <a:r>
              <a:rPr sz="1450" b="0">
                <a:solidFill>
                  <a:srgbClr val="1F2A37"/>
                </a:solidFill>
                <a:latin typeface="Cambria"/>
              </a:rPr>
              <a:t>, cảnh báo nhầm (FP) </a:t>
            </a:r>
            <a:r>
              <a:rPr sz="1450" b="1">
                <a:solidFill>
                  <a:srgbClr val="EA580C"/>
                </a:solidFill>
                <a:latin typeface="Cambria"/>
              </a:rPr>
              <a:t>999 → 865</a:t>
            </a:r>
            <a:r>
              <a:rPr sz="1450" b="0">
                <a:solidFill>
                  <a:srgbClr val="1F2A37"/>
                </a:solidFill>
                <a:latin typeface="Cambria"/>
              </a:rPr>
              <a:t> — cả hai loại lỗi đều giảm, không đổi cái này lấy cái kia. Vì sao cây &amp; boosting: dễ giải thích + mạnh trên bảng đặc trưng đã dựng; HistGB = </a:t>
            </a:r>
            <a:r>
              <a:rPr sz="1450" b="1">
                <a:solidFill>
                  <a:srgbClr val="1F2A37"/>
                </a:solidFill>
                <a:latin typeface="Cambria"/>
              </a:rPr>
              <a:t>ensemble</a:t>
            </a:r>
            <a:r>
              <a:rPr sz="1450" b="0">
                <a:solidFill>
                  <a:srgbClr val="1F2A37"/>
                </a:solidFill>
                <a:latin typeface="Cambria"/>
              </a:rPr>
              <a:t> — từng cây yếu nối tiếp nhau sửa lỗi cây trước, bin histogram cho nhanh.</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F1 TRÊN TẬP TEST</a:t>
            </a:r>
          </a:p>
        </p:txBody>
      </p:sp>
      <p:sp>
        <p:nvSpPr>
          <p:cNvPr id="7" name="Rounded Rectangle 6"/>
          <p:cNvSpPr/>
          <p:nvPr/>
        </p:nvSpPr>
        <p:spPr>
          <a:xfrm>
            <a:off x="7543800" y="1883664"/>
            <a:ext cx="3867912" cy="566928"/>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90104" y="1938528"/>
            <a:ext cx="2468880" cy="457200"/>
          </a:xfrm>
          <a:prstGeom prst="rect">
            <a:avLst/>
          </a:prstGeom>
          <a:noFill/>
        </p:spPr>
        <p:txBody>
          <a:bodyPr wrap="square" anchor="ctr" lIns="27432" rIns="27432" tIns="0" bIns="0">
            <a:spAutoFit/>
          </a:bodyPr>
          <a:lstStyle/>
          <a:p>
            <a:pPr algn="l"/>
            <a:r>
              <a:rPr sz="1200" b="0" i="0">
                <a:solidFill>
                  <a:srgbClr val="1F2A37"/>
                </a:solidFill>
                <a:latin typeface="Calibri"/>
              </a:rPr>
              <a:t>Majority</a:t>
            </a:r>
          </a:p>
        </p:txBody>
      </p:sp>
      <p:sp>
        <p:nvSpPr>
          <p:cNvPr id="9" name="TextBox 8"/>
          <p:cNvSpPr txBox="1"/>
          <p:nvPr/>
        </p:nvSpPr>
        <p:spPr>
          <a:xfrm>
            <a:off x="10314432" y="1938528"/>
            <a:ext cx="960120" cy="457200"/>
          </a:xfrm>
          <a:prstGeom prst="rect">
            <a:avLst/>
          </a:prstGeom>
          <a:noFill/>
        </p:spPr>
        <p:txBody>
          <a:bodyPr wrap="square" anchor="ctr" lIns="27432" rIns="27432" tIns="0" bIns="0">
            <a:spAutoFit/>
          </a:bodyPr>
          <a:lstStyle/>
          <a:p>
            <a:pPr algn="r"/>
            <a:r>
              <a:rPr sz="1700" b="1" i="0">
                <a:solidFill>
                  <a:srgbClr val="1F2A37"/>
                </a:solidFill>
                <a:latin typeface="Cambria"/>
              </a:rPr>
              <a:t>0,000</a:t>
            </a:r>
          </a:p>
        </p:txBody>
      </p:sp>
      <p:sp>
        <p:nvSpPr>
          <p:cNvPr id="10" name="Rounded Rectangle 9"/>
          <p:cNvSpPr/>
          <p:nvPr/>
        </p:nvSpPr>
        <p:spPr>
          <a:xfrm>
            <a:off x="7543800" y="2560320"/>
            <a:ext cx="3867912" cy="566928"/>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90104" y="2615184"/>
            <a:ext cx="2468880" cy="457200"/>
          </a:xfrm>
          <a:prstGeom prst="rect">
            <a:avLst/>
          </a:prstGeom>
          <a:noFill/>
        </p:spPr>
        <p:txBody>
          <a:bodyPr wrap="square" anchor="ctr" lIns="27432" rIns="27432" tIns="0" bIns="0">
            <a:spAutoFit/>
          </a:bodyPr>
          <a:lstStyle/>
          <a:p>
            <a:pPr algn="l"/>
            <a:r>
              <a:rPr sz="1200" b="0" i="0">
                <a:solidFill>
                  <a:srgbClr val="1F2A37"/>
                </a:solidFill>
                <a:latin typeface="Calibri"/>
              </a:rPr>
              <a:t>Persistence</a:t>
            </a:r>
          </a:p>
        </p:txBody>
      </p:sp>
      <p:sp>
        <p:nvSpPr>
          <p:cNvPr id="12" name="TextBox 11"/>
          <p:cNvSpPr txBox="1"/>
          <p:nvPr/>
        </p:nvSpPr>
        <p:spPr>
          <a:xfrm>
            <a:off x="10314432" y="2615184"/>
            <a:ext cx="960120" cy="457200"/>
          </a:xfrm>
          <a:prstGeom prst="rect">
            <a:avLst/>
          </a:prstGeom>
          <a:noFill/>
        </p:spPr>
        <p:txBody>
          <a:bodyPr wrap="square" anchor="ctr" lIns="27432" rIns="27432" tIns="0" bIns="0">
            <a:spAutoFit/>
          </a:bodyPr>
          <a:lstStyle/>
          <a:p>
            <a:pPr algn="r"/>
            <a:r>
              <a:rPr sz="1700" b="1" i="0">
                <a:solidFill>
                  <a:srgbClr val="1F2A37"/>
                </a:solidFill>
                <a:latin typeface="Cambria"/>
              </a:rPr>
              <a:t>0,914</a:t>
            </a:r>
          </a:p>
        </p:txBody>
      </p:sp>
      <p:sp>
        <p:nvSpPr>
          <p:cNvPr id="13" name="Rounded Rectangle 12"/>
          <p:cNvSpPr/>
          <p:nvPr/>
        </p:nvSpPr>
        <p:spPr>
          <a:xfrm>
            <a:off x="7543800" y="3236976"/>
            <a:ext cx="3867912" cy="566928"/>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0104" y="3291840"/>
            <a:ext cx="2468880" cy="457200"/>
          </a:xfrm>
          <a:prstGeom prst="rect">
            <a:avLst/>
          </a:prstGeom>
          <a:noFill/>
        </p:spPr>
        <p:txBody>
          <a:bodyPr wrap="square" anchor="ctr" lIns="27432" rIns="27432" tIns="0" bIns="0">
            <a:spAutoFit/>
          </a:bodyPr>
          <a:lstStyle/>
          <a:p>
            <a:pPr algn="l"/>
            <a:r>
              <a:rPr sz="1200" b="0" i="0">
                <a:solidFill>
                  <a:srgbClr val="1F2A37"/>
                </a:solidFill>
                <a:latin typeface="Calibri"/>
              </a:rPr>
              <a:t>Cây quyết định · sâu 6</a:t>
            </a:r>
          </a:p>
        </p:txBody>
      </p:sp>
      <p:sp>
        <p:nvSpPr>
          <p:cNvPr id="15" name="TextBox 14"/>
          <p:cNvSpPr txBox="1"/>
          <p:nvPr/>
        </p:nvSpPr>
        <p:spPr>
          <a:xfrm>
            <a:off x="10314432" y="3291840"/>
            <a:ext cx="960120" cy="457200"/>
          </a:xfrm>
          <a:prstGeom prst="rect">
            <a:avLst/>
          </a:prstGeom>
          <a:noFill/>
        </p:spPr>
        <p:txBody>
          <a:bodyPr wrap="square" anchor="ctr" lIns="27432" rIns="27432" tIns="0" bIns="0">
            <a:spAutoFit/>
          </a:bodyPr>
          <a:lstStyle/>
          <a:p>
            <a:pPr algn="r"/>
            <a:r>
              <a:rPr sz="1700" b="1" i="0">
                <a:solidFill>
                  <a:srgbClr val="1F2A37"/>
                </a:solidFill>
                <a:latin typeface="Cambria"/>
              </a:rPr>
              <a:t>0,921</a:t>
            </a:r>
          </a:p>
        </p:txBody>
      </p:sp>
      <p:sp>
        <p:nvSpPr>
          <p:cNvPr id="16" name="Rounded Rectangle 15"/>
          <p:cNvSpPr/>
          <p:nvPr/>
        </p:nvSpPr>
        <p:spPr>
          <a:xfrm>
            <a:off x="7543800" y="3913632"/>
            <a:ext cx="3867912" cy="566928"/>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0104" y="3968496"/>
            <a:ext cx="2468880" cy="457200"/>
          </a:xfrm>
          <a:prstGeom prst="rect">
            <a:avLst/>
          </a:prstGeom>
          <a:noFill/>
        </p:spPr>
        <p:txBody>
          <a:bodyPr wrap="square" anchor="ctr" lIns="27432" rIns="27432" tIns="0" bIns="0">
            <a:spAutoFit/>
          </a:bodyPr>
          <a:lstStyle/>
          <a:p>
            <a:pPr algn="l"/>
            <a:r>
              <a:rPr sz="1200" b="1" i="0">
                <a:solidFill>
                  <a:srgbClr val="1F2A37"/>
                </a:solidFill>
                <a:latin typeface="Calibri"/>
              </a:rPr>
              <a:t>HistGradientBoosting</a:t>
            </a:r>
          </a:p>
        </p:txBody>
      </p:sp>
      <p:sp>
        <p:nvSpPr>
          <p:cNvPr id="18" name="TextBox 17"/>
          <p:cNvSpPr txBox="1"/>
          <p:nvPr/>
        </p:nvSpPr>
        <p:spPr>
          <a:xfrm>
            <a:off x="10314432" y="3968496"/>
            <a:ext cx="960120" cy="457200"/>
          </a:xfrm>
          <a:prstGeom prst="rect">
            <a:avLst/>
          </a:prstGeom>
          <a:noFill/>
        </p:spPr>
        <p:txBody>
          <a:bodyPr wrap="square" anchor="ctr" lIns="27432" rIns="27432" tIns="0" bIns="0">
            <a:spAutoFit/>
          </a:bodyPr>
          <a:lstStyle/>
          <a:p>
            <a:pPr algn="r"/>
            <a:r>
              <a:rPr sz="2000" b="1" i="0">
                <a:solidFill>
                  <a:srgbClr val="EA580C"/>
                </a:solidFill>
                <a:latin typeface="Cambria"/>
              </a:rPr>
              <a:t>0,927</a:t>
            </a:r>
          </a:p>
        </p:txBody>
      </p:sp>
      <p:sp>
        <p:nvSpPr>
          <p:cNvPr id="19" name="TextBox 18"/>
          <p:cNvSpPr txBox="1"/>
          <p:nvPr/>
        </p:nvSpPr>
        <p:spPr>
          <a:xfrm>
            <a:off x="7543800" y="4626864"/>
            <a:ext cx="3867912" cy="548640"/>
          </a:xfrm>
          <a:prstGeom prst="rect">
            <a:avLst/>
          </a:prstGeom>
          <a:noFill/>
        </p:spPr>
        <p:txBody>
          <a:bodyPr wrap="square" anchor="t" lIns="27432" rIns="27432" tIns="0" bIns="0">
            <a:spAutoFit/>
          </a:bodyPr>
          <a:lstStyle/>
          <a:p>
            <a:pPr algn="l">
              <a:spcAft>
                <a:spcPts val="200"/>
              </a:spcAft>
            </a:pPr>
            <a:r>
              <a:rPr sz="1200" b="1" i="0">
                <a:solidFill>
                  <a:srgbClr val="0F766E"/>
                </a:solidFill>
                <a:latin typeface="Calibri"/>
              </a:rPr>
              <a:t>FN 1.000 → 838 · FP 999 → 865 — giảm cả hai lỗi so persistence</a:t>
            </a:r>
          </a:p>
        </p:txBody>
      </p:sp>
      <p:sp>
        <p:nvSpPr>
          <p:cNvPr id="20" name="Rectangle 19"/>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2" name="TextBox 21"/>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HistGB 0,927 khóa (AUC 0,993, cutoff 0,50) · so persistence: FN 1.000→838 và FP 999→865 — giảm cả hai loại lỗi.</a:t>
            </a:r>
          </a:p>
        </p:txBody>
      </p:sp>
      <p:sp>
        <p:nvSpPr>
          <p:cNvPr id="23" name="TextBox 22"/>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35 / 49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KẾT QUẢ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Hai ngưỡng khác nhau: 115 và 0,50</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Hay bị hỏi lẫn: hệ thống có </a:t>
            </a:r>
            <a:r>
              <a:rPr sz="1450" b="1">
                <a:solidFill>
                  <a:srgbClr val="1F2A37"/>
                </a:solidFill>
                <a:latin typeface="Cambria"/>
              </a:rPr>
              <a:t>hai ngưỡng hoàn toàn khác vai trò</a:t>
            </a:r>
            <a:r>
              <a:rPr sz="1450" b="0">
                <a:solidFill>
                  <a:srgbClr val="1F2A37"/>
                </a:solidFill>
                <a:latin typeface="Cambria"/>
              </a:rPr>
              <a:t>. </a:t>
            </a:r>
            <a:r>
              <a:rPr sz="1450" b="1">
                <a:solidFill>
                  <a:srgbClr val="EA580C"/>
                </a:solidFill>
                <a:latin typeface="Cambria"/>
              </a:rPr>
              <a:t>115 µg/m³</a:t>
            </a:r>
            <a:r>
              <a:rPr sz="1450" b="0">
                <a:solidFill>
                  <a:srgbClr val="1F2A37"/>
                </a:solidFill>
                <a:latin typeface="Cambria"/>
              </a:rPr>
              <a:t> tạo </a:t>
            </a:r>
            <a:r>
              <a:rPr sz="1450" b="1">
                <a:solidFill>
                  <a:srgbClr val="1F2A37"/>
                </a:solidFill>
                <a:latin typeface="Cambria"/>
              </a:rPr>
              <a:t>nhãn</a:t>
            </a:r>
            <a:r>
              <a:rPr sz="1450" b="0">
                <a:solidFill>
                  <a:srgbClr val="1F2A37"/>
                </a:solidFill>
                <a:latin typeface="Cambria"/>
              </a:rPr>
              <a:t> — dịch từ nồng độ sang câu hỏi phân loại, thuộc phần định nghĩa bài toán. </a:t>
            </a:r>
            <a:r>
              <a:rPr sz="1450" b="1">
                <a:solidFill>
                  <a:srgbClr val="EA580C"/>
                </a:solidFill>
                <a:latin typeface="Cambria"/>
              </a:rPr>
              <a:t>0,50</a:t>
            </a:r>
            <a:r>
              <a:rPr sz="1450" b="0">
                <a:solidFill>
                  <a:srgbClr val="1F2A37"/>
                </a:solidFill>
                <a:latin typeface="Cambria"/>
              </a:rPr>
              <a:t> là </a:t>
            </a:r>
            <a:r>
              <a:rPr sz="1450" b="1">
                <a:solidFill>
                  <a:srgbClr val="1F2A37"/>
                </a:solidFill>
                <a:latin typeface="Cambria"/>
              </a:rPr>
              <a:t>ngưỡng xác suất</a:t>
            </a:r>
            <a:r>
              <a:rPr sz="1450" b="0">
                <a:solidFill>
                  <a:srgbClr val="1F2A37"/>
                </a:solidFill>
                <a:latin typeface="Cambria"/>
              </a:rPr>
              <a:t> ra quyết định — mô hình xuất xác suất 0…1, so với ngưỡng này mới thành cảnh báo.</a:t>
            </a:r>
          </a:p>
          <a:p>
            <a:pPr algn="just">
              <a:lnSpc>
                <a:spcPct val="113000"/>
              </a:lnSpc>
              <a:spcAft>
                <a:spcPts val="900"/>
              </a:spcAft>
            </a:pPr>
            <a:r>
              <a:rPr sz="1450" b="0">
                <a:solidFill>
                  <a:srgbClr val="1F2A37"/>
                </a:solidFill>
                <a:latin typeface="Cambria"/>
              </a:rPr>
              <a:t>Ngưỡng xác suất </a:t>
            </a:r>
            <a:r>
              <a:rPr sz="1450" b="1">
                <a:solidFill>
                  <a:srgbClr val="1F2A37"/>
                </a:solidFill>
                <a:latin typeface="Cambria"/>
              </a:rPr>
              <a:t>có thể dịch</a:t>
            </a:r>
            <a:r>
              <a:rPr sz="1450" b="0">
                <a:solidFill>
                  <a:srgbClr val="1F2A37"/>
                </a:solidFill>
                <a:latin typeface="Cambria"/>
              </a:rPr>
              <a:t> (cây quyết định dùng 0,45) để đổi cán cân lỗi: cảnh báo sức khoẻ thường đặt </a:t>
            </a:r>
            <a:r>
              <a:rPr sz="1450" b="1">
                <a:solidFill>
                  <a:srgbClr val="1F2A37"/>
                </a:solidFill>
                <a:latin typeface="Cambria"/>
              </a:rPr>
              <a:t>bỏ sót (FN) đắt hơn báo nhầm (FP)</a:t>
            </a:r>
            <a:r>
              <a:rPr sz="1450" b="0">
                <a:solidFill>
                  <a:srgbClr val="1F2A37"/>
                </a:solidFill>
                <a:latin typeface="Cambria"/>
              </a:rPr>
              <a:t> — hạ ngưỡng thì recall tăng (bắt gần hết giờ nguy hiểm), precision giảm (nhiều cảnh báo sai hơn). Chọn ngưỡng nào là quyết định nghiệp vụ, không phải con số kỹ thuật cố định.</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HAI NGƯỠNG — HAI VAI</a:t>
            </a:r>
          </a:p>
        </p:txBody>
      </p:sp>
      <p:sp>
        <p:nvSpPr>
          <p:cNvPr id="7" name="Rounded Rectangle 6"/>
          <p:cNvSpPr/>
          <p:nvPr/>
        </p:nvSpPr>
        <p:spPr>
          <a:xfrm>
            <a:off x="7543800" y="1883664"/>
            <a:ext cx="3867912" cy="1280160"/>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115 µg/m³ — NHÃN</a:t>
            </a:r>
          </a:p>
        </p:txBody>
      </p:sp>
      <p:sp>
        <p:nvSpPr>
          <p:cNvPr id="9" name="TextBox 8"/>
          <p:cNvSpPr txBox="1"/>
          <p:nvPr/>
        </p:nvSpPr>
        <p:spPr>
          <a:xfrm>
            <a:off x="7708392" y="2313432"/>
            <a:ext cx="3538728" cy="77724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dịch nồng độ → nhãn 0/1</a:t>
            </a:r>
          </a:p>
          <a:p>
            <a:pPr>
              <a:lnSpc>
                <a:spcPct val="108000"/>
              </a:lnSpc>
              <a:spcAft>
                <a:spcPts val="300"/>
              </a:spcAft>
            </a:pPr>
            <a:r>
              <a:rPr sz="1200" b="0">
                <a:solidFill>
                  <a:srgbClr val="1F2A37"/>
                </a:solidFill>
                <a:latin typeface="Calibri"/>
              </a:rPr>
              <a:t>thuộc </a:t>
            </a:r>
            <a:r>
              <a:rPr sz="1200" b="1">
                <a:solidFill>
                  <a:srgbClr val="EA580C"/>
                </a:solidFill>
                <a:latin typeface="Calibri"/>
              </a:rPr>
              <a:t>định nghĩa bài toán</a:t>
            </a:r>
            <a:r>
              <a:rPr sz="1200" b="0">
                <a:solidFill>
                  <a:srgbClr val="1F2A37"/>
                </a:solidFill>
                <a:latin typeface="Calibri"/>
              </a:rPr>
              <a:t>, cố định</a:t>
            </a:r>
          </a:p>
        </p:txBody>
      </p:sp>
      <p:sp>
        <p:nvSpPr>
          <p:cNvPr id="10" name="Rounded Rectangle 9"/>
          <p:cNvSpPr/>
          <p:nvPr/>
        </p:nvSpPr>
        <p:spPr>
          <a:xfrm>
            <a:off x="7543800" y="3291840"/>
            <a:ext cx="3867912" cy="128016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410712"/>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0,50 — QUYẾT ĐỊNH</a:t>
            </a:r>
          </a:p>
        </p:txBody>
      </p:sp>
      <p:sp>
        <p:nvSpPr>
          <p:cNvPr id="12" name="TextBox 11"/>
          <p:cNvSpPr txBox="1"/>
          <p:nvPr/>
        </p:nvSpPr>
        <p:spPr>
          <a:xfrm>
            <a:off x="7708392" y="3721608"/>
            <a:ext cx="3538728" cy="777240"/>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cắt xác suất của mô hình thành cảnh báo</a:t>
            </a:r>
          </a:p>
          <a:p>
            <a:pPr>
              <a:lnSpc>
                <a:spcPct val="108000"/>
              </a:lnSpc>
              <a:spcAft>
                <a:spcPts val="300"/>
              </a:spcAft>
            </a:pPr>
            <a:r>
              <a:rPr sz="1200" b="1">
                <a:solidFill>
                  <a:srgbClr val="EA580C"/>
                </a:solidFill>
                <a:latin typeface="Calibri"/>
              </a:rPr>
              <a:t>dịch được</a:t>
            </a:r>
            <a:r>
              <a:rPr sz="1200" b="0">
                <a:solidFill>
                  <a:srgbClr val="1F2A37"/>
                </a:solidFill>
                <a:latin typeface="Calibri"/>
              </a:rPr>
              <a:t> — đổi recall/precision</a:t>
            </a:r>
          </a:p>
        </p:txBody>
      </p:sp>
      <p:sp>
        <p:nvSpPr>
          <p:cNvPr id="13" name="Rounded Rectangle 12"/>
          <p:cNvSpPr/>
          <p:nvPr/>
        </p:nvSpPr>
        <p:spPr>
          <a:xfrm>
            <a:off x="7543800" y="4718304"/>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DBA74"/>
                </a:solidFill>
                <a:latin typeface="Calibri"/>
              </a:rPr>
              <a:t>hạ 0,50 → recall↑ · precision↓</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115 µg/m³ tạo nhãn (định nghĩa bài toán) · 0,50 cắt xác suất ra cảnh báo (dịch được để đổi recall/precision).</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36 / 49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KẾT QUẢ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Giá trị thật: báo trước được lúc đợt ô nhiễm bắt đầu</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F1 hơn baseline </a:t>
            </a:r>
            <a:r>
              <a:rPr sz="1450" b="1">
                <a:solidFill>
                  <a:srgbClr val="EA580C"/>
                </a:solidFill>
                <a:latin typeface="Cambria"/>
              </a:rPr>
              <a:t>+0,013</a:t>
            </a:r>
            <a:r>
              <a:rPr sz="1450" b="0">
                <a:solidFill>
                  <a:srgbClr val="1F2A37"/>
                </a:solidFill>
                <a:latin typeface="Cambria"/>
              </a:rPr>
              <a:t> nghe rất nhỏ. Giá trị thật nằm ở chỗ persistence </a:t>
            </a:r>
            <a:r>
              <a:rPr sz="1450" b="1">
                <a:solidFill>
                  <a:srgbClr val="1F2A37"/>
                </a:solidFill>
                <a:latin typeface="Cambria"/>
              </a:rPr>
              <a:t>không bao giờ làm được</a:t>
            </a:r>
            <a:r>
              <a:rPr sz="1450" b="0">
                <a:solidFill>
                  <a:srgbClr val="1F2A37"/>
                </a:solidFill>
                <a:latin typeface="Cambria"/>
              </a:rPr>
              <a:t>: tách riêng </a:t>
            </a:r>
            <a:r>
              <a:rPr sz="1450" b="1">
                <a:solidFill>
                  <a:srgbClr val="EA580C"/>
                </a:solidFill>
                <a:latin typeface="Cambria"/>
              </a:rPr>
              <a:t>1.000 giờ “đang sạch nhưng giờ sau vượt ngưỡng”</a:t>
            </a:r>
            <a:r>
              <a:rPr sz="1450" b="0">
                <a:solidFill>
                  <a:srgbClr val="1F2A37"/>
                </a:solidFill>
                <a:latin typeface="Cambria"/>
              </a:rPr>
              <a:t> — chính là các thời điểm </a:t>
            </a:r>
            <a:r>
              <a:rPr sz="1450" b="1">
                <a:solidFill>
                  <a:srgbClr val="1F2A37"/>
                </a:solidFill>
                <a:latin typeface="Cambria"/>
              </a:rPr>
              <a:t>đợt ô nhiễm bắt đầu</a:t>
            </a:r>
            <a:r>
              <a:rPr sz="1450" b="0">
                <a:solidFill>
                  <a:srgbClr val="1F2A37"/>
                </a:solidFill>
                <a:latin typeface="Cambria"/>
              </a:rPr>
              <a:t>, lúc người vận hành cần cảnh báo nhất.</a:t>
            </a:r>
          </a:p>
          <a:p>
            <a:pPr algn="just">
              <a:lnSpc>
                <a:spcPct val="113000"/>
              </a:lnSpc>
              <a:spcAft>
                <a:spcPts val="900"/>
              </a:spcAft>
            </a:pPr>
            <a:r>
              <a:rPr sz="1450" b="0">
                <a:solidFill>
                  <a:srgbClr val="1F2A37"/>
                </a:solidFill>
                <a:latin typeface="Cambria"/>
              </a:rPr>
              <a:t>Trong nhóm giờ đó, mô hình báo trước </a:t>
            </a:r>
            <a:r>
              <a:rPr sz="1450" b="1">
                <a:solidFill>
                  <a:srgbClr val="EA580C"/>
                </a:solidFill>
                <a:latin typeface="Cambria"/>
              </a:rPr>
              <a:t>304 lần = 30,4%</a:t>
            </a:r>
            <a:r>
              <a:rPr sz="1450" b="0">
                <a:solidFill>
                  <a:srgbClr val="1F2A37"/>
                </a:solidFill>
                <a:latin typeface="Cambria"/>
              </a:rPr>
              <a:t>; persistence </a:t>
            </a:r>
            <a:r>
              <a:rPr sz="1450" b="1">
                <a:solidFill>
                  <a:srgbClr val="EA580C"/>
                </a:solidFill>
                <a:latin typeface="Cambria"/>
              </a:rPr>
              <a:t>0% theo đúng định nghĩa</a:t>
            </a:r>
            <a:r>
              <a:rPr sz="1450" b="0">
                <a:solidFill>
                  <a:srgbClr val="1F2A37"/>
                </a:solidFill>
                <a:latin typeface="Cambria"/>
              </a:rPr>
              <a:t> — nó chỉ nhìn số đo hiện tại, mà giờ hiện tại vẫn sạch thì nhất định không báo. Đây không phải “hơi hơn” mà là </a:t>
            </a:r>
            <a:r>
              <a:rPr sz="1450" b="1">
                <a:solidFill>
                  <a:srgbClr val="1F2A37"/>
                </a:solidFill>
                <a:latin typeface="Cambria"/>
              </a:rPr>
              <a:t>khả năng về bản chất khác</a:t>
            </a:r>
            <a:r>
              <a:rPr sz="1450" b="0">
                <a:solidFill>
                  <a:srgbClr val="1F2A37"/>
                </a:solidFill>
                <a:latin typeface="Cambria"/>
              </a:rPr>
              <a:t>. Đọc số cho đúng: 30,4% là tỷ lệ bắt được giờ khởi đầu — không phải độ chính xác chung; ~70% đợt còn lại được bắt ở giờ thứ hai, thứ ba (khi persistence cũng bắt được).</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1.000 GIỜ KHỞI ĐẦU ĐỢT</a:t>
            </a:r>
          </a:p>
        </p:txBody>
      </p:sp>
      <p:sp>
        <p:nvSpPr>
          <p:cNvPr id="7" name="TextBox 6"/>
          <p:cNvSpPr txBox="1"/>
          <p:nvPr/>
        </p:nvSpPr>
        <p:spPr>
          <a:xfrm>
            <a:off x="7543800" y="1883664"/>
            <a:ext cx="3867912" cy="626364"/>
          </a:xfrm>
          <a:prstGeom prst="rect">
            <a:avLst/>
          </a:prstGeom>
          <a:noFill/>
        </p:spPr>
        <p:txBody>
          <a:bodyPr wrap="square" anchor="t" lIns="27432" rIns="27432" tIns="0" bIns="0">
            <a:spAutoFit/>
          </a:bodyPr>
          <a:lstStyle/>
          <a:p>
            <a:pPr algn="l"/>
            <a:r>
              <a:rPr sz="3000" b="1" i="0">
                <a:solidFill>
                  <a:srgbClr val="EA580C"/>
                </a:solidFill>
                <a:latin typeface="Cambria"/>
              </a:rPr>
              <a:t>304 / 1.000</a:t>
            </a:r>
          </a:p>
        </p:txBody>
      </p:sp>
      <p:sp>
        <p:nvSpPr>
          <p:cNvPr id="8" name="TextBox 7"/>
          <p:cNvSpPr txBox="1"/>
          <p:nvPr/>
        </p:nvSpPr>
        <p:spPr>
          <a:xfrm>
            <a:off x="7543800" y="252831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giờ “đang sạch, giờ sau vượt” được báo trước = 30,4%</a:t>
            </a:r>
          </a:p>
        </p:txBody>
      </p:sp>
      <p:sp>
        <p:nvSpPr>
          <p:cNvPr id="9" name="Rectangle 8"/>
          <p:cNvSpPr/>
          <p:nvPr/>
        </p:nvSpPr>
        <p:spPr>
          <a:xfrm>
            <a:off x="7543800" y="2766060"/>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875788"/>
            <a:ext cx="3867912" cy="626364"/>
          </a:xfrm>
          <a:prstGeom prst="rect">
            <a:avLst/>
          </a:prstGeom>
          <a:noFill/>
        </p:spPr>
        <p:txBody>
          <a:bodyPr wrap="square" anchor="t" lIns="27432" rIns="27432" tIns="0" bIns="0">
            <a:spAutoFit/>
          </a:bodyPr>
          <a:lstStyle/>
          <a:p>
            <a:pPr algn="l"/>
            <a:r>
              <a:rPr sz="3000" b="1" i="0">
                <a:solidFill>
                  <a:srgbClr val="EA580C"/>
                </a:solidFill>
                <a:latin typeface="Cambria"/>
              </a:rPr>
              <a:t>0%</a:t>
            </a:r>
          </a:p>
        </p:txBody>
      </p:sp>
      <p:sp>
        <p:nvSpPr>
          <p:cNvPr id="11" name="TextBox 10"/>
          <p:cNvSpPr txBox="1"/>
          <p:nvPr/>
        </p:nvSpPr>
        <p:spPr>
          <a:xfrm>
            <a:off x="7543800" y="3520440"/>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persistence — KHÔNG THỂ báo trước theo định nghĩa</a:t>
            </a:r>
          </a:p>
        </p:txBody>
      </p:sp>
      <p:sp>
        <p:nvSpPr>
          <p:cNvPr id="12" name="Rounded Rectangle 11"/>
          <p:cNvSpPr/>
          <p:nvPr/>
        </p:nvSpPr>
        <p:spPr>
          <a:xfrm>
            <a:off x="7543800" y="3886200"/>
            <a:ext cx="3867912" cy="100584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4005072"/>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VÌ SAO</a:t>
            </a:r>
          </a:p>
        </p:txBody>
      </p:sp>
      <p:sp>
        <p:nvSpPr>
          <p:cNvPr id="14" name="TextBox 13"/>
          <p:cNvSpPr txBox="1"/>
          <p:nvPr/>
        </p:nvSpPr>
        <p:spPr>
          <a:xfrm>
            <a:off x="7708392" y="4315968"/>
            <a:ext cx="3538728" cy="502920"/>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persistence chỉ nhìn số hiện tại —</a:t>
            </a:r>
          </a:p>
          <a:p>
            <a:pPr>
              <a:lnSpc>
                <a:spcPct val="108000"/>
              </a:lnSpc>
              <a:spcAft>
                <a:spcPts val="300"/>
              </a:spcAft>
            </a:pPr>
            <a:r>
              <a:rPr sz="1150" b="0">
                <a:solidFill>
                  <a:srgbClr val="1F2A37"/>
                </a:solidFill>
                <a:latin typeface="Calibri"/>
              </a:rPr>
              <a:t>giờ này sạch → nhất định không báo</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Giờ khởi đầu đợt: mô hình báo trước 304/1.000 = 30,4% — persistence 0% theo định nghĩa; giá trị nằm ở chỗ baseline không thể làm.</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37 / 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KẾT QUẢ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McNemar — kiểm định “hơn thật, không phải may”</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F1 hơn nhau 0,013 — có thể chỉ là nhiễu? </a:t>
            </a:r>
            <a:r>
              <a:rPr sz="1450" b="1">
                <a:solidFill>
                  <a:srgbClr val="EA580C"/>
                </a:solidFill>
                <a:latin typeface="Cambria"/>
              </a:rPr>
              <a:t>McNemar</a:t>
            </a:r>
            <a:r>
              <a:rPr sz="1450" b="0">
                <a:solidFill>
                  <a:srgbClr val="1F2A37"/>
                </a:solidFill>
                <a:latin typeface="Cambria"/>
              </a:rPr>
              <a:t> là kiểm định dành cho đúng câu này: so </a:t>
            </a:r>
            <a:r>
              <a:rPr sz="1450" b="1">
                <a:solidFill>
                  <a:srgbClr val="1F2A37"/>
                </a:solidFill>
                <a:latin typeface="Cambria"/>
              </a:rPr>
              <a:t>hai mô hình trên cùng một tập test</a:t>
            </a:r>
            <a:r>
              <a:rPr sz="1450" b="0">
                <a:solidFill>
                  <a:srgbClr val="1F2A37"/>
                </a:solidFill>
                <a:latin typeface="Cambria"/>
              </a:rPr>
              <a:t>, chỉ xét những giờ hai mô hình </a:t>
            </a:r>
            <a:r>
              <a:rPr sz="1450" b="1">
                <a:solidFill>
                  <a:srgbClr val="1F2A37"/>
                </a:solidFill>
                <a:latin typeface="Cambria"/>
              </a:rPr>
              <a:t>chênh kết quả</a:t>
            </a:r>
            <a:r>
              <a:rPr sz="1450" b="0">
                <a:solidFill>
                  <a:srgbClr val="1F2A37"/>
                </a:solidFill>
                <a:latin typeface="Cambria"/>
              </a:rPr>
              <a:t> (những giờ hai bên cùng đúng/cùng sai không phân biệt được ai hơn ai).</a:t>
            </a:r>
          </a:p>
          <a:p>
            <a:pPr algn="just">
              <a:lnSpc>
                <a:spcPct val="113000"/>
              </a:lnSpc>
              <a:spcAft>
                <a:spcPts val="900"/>
              </a:spcAft>
            </a:pPr>
            <a:r>
              <a:rPr sz="1450" b="0">
                <a:solidFill>
                  <a:srgbClr val="1F2A37"/>
                </a:solidFill>
                <a:latin typeface="Cambria"/>
              </a:rPr>
              <a:t>Kết quả: </a:t>
            </a:r>
            <a:r>
              <a:rPr sz="1450" b="1">
                <a:solidFill>
                  <a:srgbClr val="EA580C"/>
                </a:solidFill>
                <a:latin typeface="Cambria"/>
              </a:rPr>
              <a:t>b = 594</a:t>
            </a:r>
            <a:r>
              <a:rPr sz="1450" b="0">
                <a:solidFill>
                  <a:srgbClr val="1F2A37"/>
                </a:solidFill>
                <a:latin typeface="Cambria"/>
              </a:rPr>
              <a:t> giờ chỉ mô hình đúng, </a:t>
            </a:r>
            <a:r>
              <a:rPr sz="1450" b="1">
                <a:solidFill>
                  <a:srgbClr val="EA580C"/>
                </a:solidFill>
                <a:latin typeface="Cambria"/>
              </a:rPr>
              <a:t>c = 298</a:t>
            </a:r>
            <a:r>
              <a:rPr sz="1450" b="0">
                <a:solidFill>
                  <a:srgbClr val="1F2A37"/>
                </a:solidFill>
                <a:latin typeface="Cambria"/>
              </a:rPr>
              <a:t> giờ chỉ persistence đúng → </a:t>
            </a:r>
            <a:r>
              <a:rPr sz="1450" b="1">
                <a:solidFill>
                  <a:srgbClr val="EA580C"/>
                </a:solidFill>
                <a:latin typeface="Cambria"/>
              </a:rPr>
              <a:t>p ≈ 5×10⁻²³</a:t>
            </a:r>
            <a:r>
              <a:rPr sz="1450" b="0">
                <a:solidFill>
                  <a:srgbClr val="1F2A37"/>
                </a:solidFill>
                <a:latin typeface="Cambria"/>
              </a:rPr>
              <a:t> — xác suất hai mô hình thật ra ngang nhau mà quan sát được chênh 594 vs 298 gần bằng 0: khác biệt </a:t>
            </a:r>
            <a:r>
              <a:rPr sz="1450" b="1">
                <a:solidFill>
                  <a:srgbClr val="1F2A37"/>
                </a:solidFill>
                <a:latin typeface="Cambria"/>
              </a:rPr>
              <a:t>có ý nghĩa thống kê</a:t>
            </a:r>
            <a:r>
              <a:rPr sz="1450" b="0">
                <a:solidFill>
                  <a:srgbClr val="1F2A37"/>
                </a:solidFill>
                <a:latin typeface="Cambria"/>
              </a:rPr>
              <a:t>. Nhưng nói đủ: ý nghĩa thống kê </a:t>
            </a:r>
            <a:r>
              <a:rPr sz="1450" b="1">
                <a:solidFill>
                  <a:srgbClr val="EA580C"/>
                </a:solidFill>
                <a:latin typeface="Cambria"/>
              </a:rPr>
              <a:t>không đương nhiên</a:t>
            </a:r>
            <a:r>
              <a:rPr sz="1450" b="0">
                <a:solidFill>
                  <a:srgbClr val="1F2A37"/>
                </a:solidFill>
                <a:latin typeface="Cambria"/>
              </a:rPr>
              <a:t> đủ triển khai — test chỉ 6 tháng cuối 2016, dữ liệu lịch sử; cần theo dõi thêm nhiều mùa.</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MCNEMAR TRÊN TỪNG GIỜ TEST</a:t>
            </a:r>
          </a:p>
        </p:txBody>
      </p:sp>
      <p:sp>
        <p:nvSpPr>
          <p:cNvPr id="7" name="Rounded Rectangle 6"/>
          <p:cNvSpPr/>
          <p:nvPr/>
        </p:nvSpPr>
        <p:spPr>
          <a:xfrm>
            <a:off x="7543800" y="1883664"/>
            <a:ext cx="3867912" cy="896112"/>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b = 594</a:t>
            </a:r>
          </a:p>
        </p:txBody>
      </p:sp>
      <p:sp>
        <p:nvSpPr>
          <p:cNvPr id="9" name="TextBox 8"/>
          <p:cNvSpPr txBox="1"/>
          <p:nvPr/>
        </p:nvSpPr>
        <p:spPr>
          <a:xfrm>
            <a:off x="7708392" y="2313432"/>
            <a:ext cx="3538728" cy="393192"/>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giờ CHỈ mô hình đúng</a:t>
            </a:r>
          </a:p>
        </p:txBody>
      </p:sp>
      <p:sp>
        <p:nvSpPr>
          <p:cNvPr id="10" name="Rounded Rectangle 9"/>
          <p:cNvSpPr/>
          <p:nvPr/>
        </p:nvSpPr>
        <p:spPr>
          <a:xfrm>
            <a:off x="7543800" y="2907792"/>
            <a:ext cx="3867912" cy="896112"/>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026664"/>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c = 298</a:t>
            </a:r>
          </a:p>
        </p:txBody>
      </p:sp>
      <p:sp>
        <p:nvSpPr>
          <p:cNvPr id="12" name="TextBox 11"/>
          <p:cNvSpPr txBox="1"/>
          <p:nvPr/>
        </p:nvSpPr>
        <p:spPr>
          <a:xfrm>
            <a:off x="7708392" y="3337560"/>
            <a:ext cx="3538728" cy="393192"/>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giờ CHỈ persistence đúng</a:t>
            </a:r>
          </a:p>
        </p:txBody>
      </p:sp>
      <p:sp>
        <p:nvSpPr>
          <p:cNvPr id="13" name="TextBox 12"/>
          <p:cNvSpPr txBox="1"/>
          <p:nvPr/>
        </p:nvSpPr>
        <p:spPr>
          <a:xfrm>
            <a:off x="7543800" y="3968495"/>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p ≈ 5×10⁻²³</a:t>
            </a:r>
          </a:p>
        </p:txBody>
      </p:sp>
      <p:sp>
        <p:nvSpPr>
          <p:cNvPr id="14" name="TextBox 13"/>
          <p:cNvSpPr txBox="1"/>
          <p:nvPr/>
        </p:nvSpPr>
        <p:spPr>
          <a:xfrm>
            <a:off x="7543800" y="4536946"/>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xác suất chênh như vậy do may ≈ 0 → khác biệt thật</a:t>
            </a:r>
          </a:p>
        </p:txBody>
      </p:sp>
      <p:sp>
        <p:nvSpPr>
          <p:cNvPr id="15" name="Rectangle 14"/>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7" name="TextBox 16"/>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McNemar trên từng giờ test: b = 594 vs c = 298, p ≈ 5×10⁻²³ → khác biệt thật — nhưng test chỉ 6 tháng, chưa đủ triển khai.</a:t>
            </a:r>
          </a:p>
        </p:txBody>
      </p:sp>
      <p:sp>
        <p:nvSpPr>
          <p:cNvPr id="18" name="TextBox 17"/>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38 / 49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KẾT QUẢ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Tầm dự báo 1–3–6 giờ: càng sớm, mô hình càng có lợi</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Chạy cùng hệ thống cho ba tầm, F1 trên tập test: </a:t>
            </a:r>
            <a:r>
              <a:rPr sz="1450" b="1">
                <a:solidFill>
                  <a:srgbClr val="EA580C"/>
                </a:solidFill>
                <a:latin typeface="Cambria"/>
              </a:rPr>
              <a:t>1h: 0,914 → 0,927</a:t>
            </a:r>
            <a:r>
              <a:rPr sz="1450" b="0">
                <a:solidFill>
                  <a:srgbClr val="1F2A37"/>
                </a:solidFill>
                <a:latin typeface="Cambria"/>
              </a:rPr>
              <a:t> · </a:t>
            </a:r>
            <a:r>
              <a:rPr sz="1450" b="1">
                <a:solidFill>
                  <a:srgbClr val="EA580C"/>
                </a:solidFill>
                <a:latin typeface="Cambria"/>
              </a:rPr>
              <a:t>3h: 0,806 → 0,832</a:t>
            </a:r>
            <a:r>
              <a:rPr sz="1450" b="0">
                <a:solidFill>
                  <a:srgbClr val="1F2A37"/>
                </a:solidFill>
                <a:latin typeface="Cambria"/>
              </a:rPr>
              <a:t> · </a:t>
            </a:r>
            <a:r>
              <a:rPr sz="1450" b="1">
                <a:solidFill>
                  <a:srgbClr val="EA580C"/>
                </a:solidFill>
                <a:latin typeface="Cambria"/>
              </a:rPr>
              <a:t>6h: 0,702 → 0,745</a:t>
            </a:r>
            <a:r>
              <a:rPr sz="1450" b="0">
                <a:solidFill>
                  <a:srgbClr val="1F2A37"/>
                </a:solidFill>
                <a:latin typeface="Cambria"/>
              </a:rPr>
              <a:t>.</a:t>
            </a:r>
          </a:p>
          <a:p>
            <a:pPr algn="just">
              <a:lnSpc>
                <a:spcPct val="113000"/>
              </a:lnSpc>
              <a:spcAft>
                <a:spcPts val="900"/>
              </a:spcAft>
            </a:pPr>
            <a:r>
              <a:rPr sz="1450" b="0">
                <a:solidFill>
                  <a:srgbClr val="1F2A37"/>
                </a:solidFill>
                <a:latin typeface="Cambria"/>
              </a:rPr>
              <a:t>Mẫu hình rõ: </a:t>
            </a:r>
            <a:r>
              <a:rPr sz="1450" b="1">
                <a:solidFill>
                  <a:srgbClr val="1F2A37"/>
                </a:solidFill>
                <a:latin typeface="Cambria"/>
              </a:rPr>
              <a:t>càng phải báo sớm, persistence càng yếu</a:t>
            </a:r>
            <a:r>
              <a:rPr sz="1450" b="0">
                <a:solidFill>
                  <a:srgbClr val="1F2A37"/>
                </a:solidFill>
                <a:latin typeface="Cambria"/>
              </a:rPr>
              <a:t> (càng xa hiện tại, “giữ nguyên trạng thái” càng sai) trong khi mô hình đọc được xu hướng trước đó — nên </a:t>
            </a:r>
            <a:r>
              <a:rPr sz="1450" b="1">
                <a:solidFill>
                  <a:srgbClr val="1F2A37"/>
                </a:solidFill>
                <a:latin typeface="Cambria"/>
              </a:rPr>
              <a:t>lợi thế của mô hình tăng theo tầm</a:t>
            </a:r>
            <a:r>
              <a:rPr sz="1450" b="0">
                <a:solidFill>
                  <a:srgbClr val="1F2A37"/>
                </a:solidFill>
                <a:latin typeface="Cambria"/>
              </a:rPr>
              <a:t>: +0,013 → +0,026 → +0,043. Ở 6h, recall tăng mạnh </a:t>
            </a:r>
            <a:r>
              <a:rPr sz="1450" b="1">
                <a:solidFill>
                  <a:srgbClr val="EA580C"/>
                </a:solidFill>
                <a:latin typeface="Cambria"/>
              </a:rPr>
              <a:t>0,70 → 0,80</a:t>
            </a:r>
            <a:r>
              <a:rPr sz="1450" b="0">
                <a:solidFill>
                  <a:srgbClr val="1F2A37"/>
                </a:solidFill>
                <a:latin typeface="Cambria"/>
              </a:rPr>
              <a:t>, đổi lại precision giảm nhẹ — đúng hướng cảnh báo sớm cần. Kiểm tra từng trạm: </a:t>
            </a:r>
            <a:r>
              <a:rPr sz="1450" b="1">
                <a:solidFill>
                  <a:srgbClr val="EA580C"/>
                </a:solidFill>
                <a:latin typeface="Cambria"/>
              </a:rPr>
              <a:t>12/12 trạm</a:t>
            </a:r>
            <a:r>
              <a:rPr sz="1450" b="0">
                <a:solidFill>
                  <a:srgbClr val="1F2A37"/>
                </a:solidFill>
                <a:latin typeface="Cambria"/>
              </a:rPr>
              <a:t> đều có F1 cao hơn persistence — lợi thế không nhờ vài trạm đặc biệt.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LỢI THẾ F1 THEO TẦM</a:t>
            </a:r>
          </a:p>
        </p:txBody>
      </p:sp>
      <p:sp>
        <p:nvSpPr>
          <p:cNvPr id="7" name="TextBox 6"/>
          <p:cNvSpPr txBox="1"/>
          <p:nvPr/>
        </p:nvSpPr>
        <p:spPr>
          <a:xfrm>
            <a:off x="7543800" y="1883664"/>
            <a:ext cx="3867912" cy="274320"/>
          </a:xfrm>
          <a:prstGeom prst="rect">
            <a:avLst/>
          </a:prstGeom>
          <a:noFill/>
        </p:spPr>
        <p:txBody>
          <a:bodyPr wrap="square" anchor="t" lIns="27432" rIns="27432" tIns="0" bIns="0">
            <a:spAutoFit/>
          </a:bodyPr>
          <a:lstStyle/>
          <a:p>
            <a:pPr algn="l"/>
            <a:r>
              <a:rPr sz="1150" b="0" i="0">
                <a:solidFill>
                  <a:srgbClr val="64748B"/>
                </a:solidFill>
                <a:latin typeface="Calibri"/>
              </a:rPr>
              <a:t>HistGB trừ persistence, tập test:</a:t>
            </a:r>
          </a:p>
        </p:txBody>
      </p:sp>
      <p:sp>
        <p:nvSpPr>
          <p:cNvPr id="8" name="TextBox 7"/>
          <p:cNvSpPr txBox="1"/>
          <p:nvPr/>
        </p:nvSpPr>
        <p:spPr>
          <a:xfrm>
            <a:off x="7543800" y="2249424"/>
            <a:ext cx="777240" cy="274320"/>
          </a:xfrm>
          <a:prstGeom prst="rect">
            <a:avLst/>
          </a:prstGeom>
          <a:noFill/>
        </p:spPr>
        <p:txBody>
          <a:bodyPr wrap="square" anchor="t" lIns="27432" rIns="27432" tIns="0" bIns="0">
            <a:spAutoFit/>
          </a:bodyPr>
          <a:lstStyle/>
          <a:p>
            <a:pPr algn="l"/>
            <a:r>
              <a:rPr sz="1200" b="1" i="0">
                <a:solidFill>
                  <a:srgbClr val="1F2A37"/>
                </a:solidFill>
                <a:latin typeface="Calibri"/>
              </a:rPr>
              <a:t>tầm 1h</a:t>
            </a:r>
          </a:p>
        </p:txBody>
      </p:sp>
      <p:sp>
        <p:nvSpPr>
          <p:cNvPr id="9" name="Rounded Rectangle 8"/>
          <p:cNvSpPr/>
          <p:nvPr/>
        </p:nvSpPr>
        <p:spPr>
          <a:xfrm>
            <a:off x="8412480" y="2249424"/>
            <a:ext cx="552893" cy="27432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4245" y="2249424"/>
            <a:ext cx="1005840" cy="274320"/>
          </a:xfrm>
          <a:prstGeom prst="rect">
            <a:avLst/>
          </a:prstGeom>
          <a:noFill/>
        </p:spPr>
        <p:txBody>
          <a:bodyPr wrap="square" anchor="t" lIns="27432" rIns="27432" tIns="0" bIns="0">
            <a:spAutoFit/>
          </a:bodyPr>
          <a:lstStyle/>
          <a:p>
            <a:pPr algn="l"/>
            <a:r>
              <a:rPr sz="1300" b="1" i="0">
                <a:solidFill>
                  <a:srgbClr val="EA580C"/>
                </a:solidFill>
                <a:latin typeface="Cambria"/>
              </a:rPr>
              <a:t>+0,013</a:t>
            </a:r>
          </a:p>
        </p:txBody>
      </p:sp>
      <p:sp>
        <p:nvSpPr>
          <p:cNvPr id="11" name="TextBox 10"/>
          <p:cNvSpPr txBox="1"/>
          <p:nvPr/>
        </p:nvSpPr>
        <p:spPr>
          <a:xfrm>
            <a:off x="7543800" y="2724912"/>
            <a:ext cx="777240" cy="274320"/>
          </a:xfrm>
          <a:prstGeom prst="rect">
            <a:avLst/>
          </a:prstGeom>
          <a:noFill/>
        </p:spPr>
        <p:txBody>
          <a:bodyPr wrap="square" anchor="t" lIns="27432" rIns="27432" tIns="0" bIns="0">
            <a:spAutoFit/>
          </a:bodyPr>
          <a:lstStyle/>
          <a:p>
            <a:pPr algn="l"/>
            <a:r>
              <a:rPr sz="1200" b="1" i="0">
                <a:solidFill>
                  <a:srgbClr val="1F2A37"/>
                </a:solidFill>
                <a:latin typeface="Calibri"/>
              </a:rPr>
              <a:t>tầm 3h</a:t>
            </a:r>
          </a:p>
        </p:txBody>
      </p:sp>
      <p:sp>
        <p:nvSpPr>
          <p:cNvPr id="12" name="Rounded Rectangle 11"/>
          <p:cNvSpPr/>
          <p:nvPr/>
        </p:nvSpPr>
        <p:spPr>
          <a:xfrm>
            <a:off x="8412480" y="2724912"/>
            <a:ext cx="1105786" cy="27432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37138" y="2724912"/>
            <a:ext cx="1005840" cy="274320"/>
          </a:xfrm>
          <a:prstGeom prst="rect">
            <a:avLst/>
          </a:prstGeom>
          <a:noFill/>
        </p:spPr>
        <p:txBody>
          <a:bodyPr wrap="square" anchor="t" lIns="27432" rIns="27432" tIns="0" bIns="0">
            <a:spAutoFit/>
          </a:bodyPr>
          <a:lstStyle/>
          <a:p>
            <a:pPr algn="l"/>
            <a:r>
              <a:rPr sz="1300" b="1" i="0">
                <a:solidFill>
                  <a:srgbClr val="EA580C"/>
                </a:solidFill>
                <a:latin typeface="Cambria"/>
              </a:rPr>
              <a:t>+0,026</a:t>
            </a:r>
          </a:p>
        </p:txBody>
      </p:sp>
      <p:sp>
        <p:nvSpPr>
          <p:cNvPr id="14" name="TextBox 13"/>
          <p:cNvSpPr txBox="1"/>
          <p:nvPr/>
        </p:nvSpPr>
        <p:spPr>
          <a:xfrm>
            <a:off x="7543800" y="3200400"/>
            <a:ext cx="777240" cy="274320"/>
          </a:xfrm>
          <a:prstGeom prst="rect">
            <a:avLst/>
          </a:prstGeom>
          <a:noFill/>
        </p:spPr>
        <p:txBody>
          <a:bodyPr wrap="square" anchor="t" lIns="27432" rIns="27432" tIns="0" bIns="0">
            <a:spAutoFit/>
          </a:bodyPr>
          <a:lstStyle/>
          <a:p>
            <a:pPr algn="l"/>
            <a:r>
              <a:rPr sz="1200" b="1" i="0">
                <a:solidFill>
                  <a:srgbClr val="1F2A37"/>
                </a:solidFill>
                <a:latin typeface="Calibri"/>
              </a:rPr>
              <a:t>tầm 6h</a:t>
            </a:r>
          </a:p>
        </p:txBody>
      </p:sp>
      <p:sp>
        <p:nvSpPr>
          <p:cNvPr id="15" name="Rounded Rectangle 14"/>
          <p:cNvSpPr/>
          <p:nvPr/>
        </p:nvSpPr>
        <p:spPr>
          <a:xfrm>
            <a:off x="8412480" y="3200400"/>
            <a:ext cx="1828800" cy="27432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60152" y="3200400"/>
            <a:ext cx="1005840" cy="274320"/>
          </a:xfrm>
          <a:prstGeom prst="rect">
            <a:avLst/>
          </a:prstGeom>
          <a:noFill/>
        </p:spPr>
        <p:txBody>
          <a:bodyPr wrap="square" anchor="t" lIns="27432" rIns="27432" tIns="0" bIns="0">
            <a:spAutoFit/>
          </a:bodyPr>
          <a:lstStyle/>
          <a:p>
            <a:pPr algn="l"/>
            <a:r>
              <a:rPr sz="1300" b="1" i="0">
                <a:solidFill>
                  <a:srgbClr val="EA580C"/>
                </a:solidFill>
                <a:latin typeface="Cambria"/>
              </a:rPr>
              <a:t>+0,043</a:t>
            </a:r>
          </a:p>
        </p:txBody>
      </p:sp>
      <p:sp>
        <p:nvSpPr>
          <p:cNvPr id="17" name="Rectangle 16"/>
          <p:cNvSpPr/>
          <p:nvPr/>
        </p:nvSpPr>
        <p:spPr>
          <a:xfrm>
            <a:off x="7543800" y="3767328"/>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43800" y="3877056"/>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12 / 12</a:t>
            </a:r>
          </a:p>
        </p:txBody>
      </p:sp>
      <p:sp>
        <p:nvSpPr>
          <p:cNvPr id="19" name="TextBox 18"/>
          <p:cNvSpPr txBox="1"/>
          <p:nvPr/>
        </p:nvSpPr>
        <p:spPr>
          <a:xfrm>
            <a:off x="7543800" y="4445507"/>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trạm đều F1 cao hơn persistence</a:t>
            </a:r>
          </a:p>
        </p:txBody>
      </p:sp>
      <p:sp>
        <p:nvSpPr>
          <p:cNvPr id="20" name="Rounded Rectangle 19"/>
          <p:cNvSpPr/>
          <p:nvPr/>
        </p:nvSpPr>
        <p:spPr>
          <a:xfrm>
            <a:off x="7543800" y="4774691"/>
            <a:ext cx="3867912"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recall 6h: 0,70 → 0,80</a:t>
            </a:r>
          </a:p>
        </p:txBody>
      </p:sp>
      <p:sp>
        <p:nvSpPr>
          <p:cNvPr id="21" name="Rectangle 20"/>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3" name="TextBox 22"/>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Lợi thế F1 theo tầm: +0,013 (1h) · +0,026 (3h) · +0,043 (6h) — càng báo sớm mô hình càng hơn; 12/12 trạm đều hơn.</a:t>
            </a:r>
          </a:p>
        </p:txBody>
      </p:sp>
      <p:sp>
        <p:nvSpPr>
          <p:cNvPr id="24" name="TextBox 23"/>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39 / 49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MỞ RỘNG</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Thí nghiệm 6 giờ: cảnh báo cả đợt ô nhiễm</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Câu hỏi mở rộng: giờ này đang sạch, liệu có </a:t>
            </a:r>
            <a:r>
              <a:rPr sz="1450" b="1">
                <a:solidFill>
                  <a:srgbClr val="1F2A37"/>
                </a:solidFill>
                <a:latin typeface="Cambria"/>
              </a:rPr>
              <a:t>đợt</a:t>
            </a:r>
            <a:r>
              <a:rPr sz="1450" b="0">
                <a:solidFill>
                  <a:srgbClr val="1F2A37"/>
                </a:solidFill>
                <a:latin typeface="Cambria"/>
              </a:rPr>
              <a:t> ô nhiễm (</a:t>
            </a:r>
            <a:r>
              <a:rPr sz="1450" b="1">
                <a:solidFill>
                  <a:srgbClr val="EA580C"/>
                </a:solidFill>
                <a:latin typeface="Cambria"/>
              </a:rPr>
              <a:t>≥ 3 giờ liên tiếp ≥ 115</a:t>
            </a:r>
            <a:r>
              <a:rPr sz="1450" b="0">
                <a:solidFill>
                  <a:srgbClr val="1F2A37"/>
                </a:solidFill>
                <a:latin typeface="Cambria"/>
              </a:rPr>
              <a:t> tại một trạm) bắt đầu trong t+1 → t+6 không? Mô hình thêm đặc trưng </a:t>
            </a:r>
            <a:r>
              <a:rPr sz="1450" b="1">
                <a:solidFill>
                  <a:srgbClr val="1F2A37"/>
                </a:solidFill>
                <a:latin typeface="Cambria"/>
              </a:rPr>
              <a:t>trung vị PM2.5 các trạm lân cận</a:t>
            </a:r>
            <a:r>
              <a:rPr sz="1450" b="0">
                <a:solidFill>
                  <a:srgbClr val="1F2A37"/>
                </a:solidFill>
                <a:latin typeface="Cambria"/>
              </a:rPr>
              <a:t> — nắm thông tin không gian giữa các trạm.</a:t>
            </a:r>
          </a:p>
          <a:p>
            <a:pPr algn="just">
              <a:lnSpc>
                <a:spcPct val="113000"/>
              </a:lnSpc>
              <a:spcAft>
                <a:spcPts val="900"/>
              </a:spcAft>
            </a:pPr>
            <a:r>
              <a:rPr sz="1450" b="0">
                <a:solidFill>
                  <a:srgbClr val="1F2A37"/>
                </a:solidFill>
                <a:latin typeface="Cambria"/>
              </a:rPr>
              <a:t>Kết quả: bắt </a:t>
            </a:r>
            <a:r>
              <a:rPr sz="1450" b="1">
                <a:solidFill>
                  <a:srgbClr val="EA580C"/>
                </a:solidFill>
                <a:latin typeface="Cambria"/>
              </a:rPr>
              <a:t>506/730 = 69,3%</a:t>
            </a:r>
            <a:r>
              <a:rPr sz="1450" b="0">
                <a:solidFill>
                  <a:srgbClr val="1F2A37"/>
                </a:solidFill>
                <a:latin typeface="Cambria"/>
              </a:rPr>
              <a:t> số đợt; luật đơn giản “hiện tại ≥ 105” chỉ </a:t>
            </a:r>
            <a:r>
              <a:rPr sz="1450" b="1">
                <a:solidFill>
                  <a:srgbClr val="EA580C"/>
                </a:solidFill>
                <a:latin typeface="Cambria"/>
              </a:rPr>
              <a:t>64,1%</a:t>
            </a:r>
            <a:r>
              <a:rPr sz="1450" b="0">
                <a:solidFill>
                  <a:srgbClr val="1F2A37"/>
                </a:solidFill>
                <a:latin typeface="Cambria"/>
              </a:rPr>
              <a:t>; </a:t>
            </a:r>
            <a:r>
              <a:rPr sz="1450" b="1">
                <a:solidFill>
                  <a:srgbClr val="EA580C"/>
                </a:solidFill>
                <a:latin typeface="Cambria"/>
              </a:rPr>
              <a:t>trung vị thời gian báo trước 3 giờ</a:t>
            </a:r>
            <a:r>
              <a:rPr sz="1450" b="0">
                <a:solidFill>
                  <a:srgbClr val="1F2A37"/>
                </a:solidFill>
                <a:latin typeface="Cambria"/>
              </a:rPr>
              <a:t> (trước đây 1 giờ); trần cảnh báo nhầm </a:t>
            </a:r>
            <a:r>
              <a:rPr sz="1450" b="1">
                <a:solidFill>
                  <a:srgbClr val="EA580C"/>
                </a:solidFill>
                <a:latin typeface="Cambria"/>
              </a:rPr>
              <a:t>0,5 lần/ngày-trạm</a:t>
            </a:r>
            <a:r>
              <a:rPr sz="1450" b="0">
                <a:solidFill>
                  <a:srgbClr val="1F2A37"/>
                </a:solidFill>
                <a:latin typeface="Cambria"/>
              </a:rPr>
              <a:t> chọn trên validation để đỡ “kêu ồn”. Chi tiết hay hỏi: kiểm tra tới </a:t>
            </a:r>
            <a:r>
              <a:rPr sz="1450" b="1">
                <a:solidFill>
                  <a:srgbClr val="EA580C"/>
                </a:solidFill>
                <a:latin typeface="Cambria"/>
              </a:rPr>
              <a:t>t+8</a:t>
            </a:r>
            <a:r>
              <a:rPr sz="1450" b="0">
                <a:solidFill>
                  <a:srgbClr val="1F2A37"/>
                </a:solidFill>
                <a:latin typeface="Cambria"/>
              </a:rPr>
              <a:t> vì đợt bắt đầu muộn nhất t+6 cần tới t+8 mới đủ 3 giờ liên tiếp. Đây là </a:t>
            </a:r>
            <a:r>
              <a:rPr sz="1450" b="1">
                <a:solidFill>
                  <a:srgbClr val="1F2A37"/>
                </a:solidFill>
                <a:latin typeface="Cambria"/>
              </a:rPr>
              <a:t>thí nghiệm riêng</a:t>
            </a:r>
            <a:r>
              <a:rPr sz="1450" b="0">
                <a:solidFill>
                  <a:srgbClr val="1F2A37"/>
                </a:solidFill>
                <a:latin typeface="Cambria"/>
              </a:rPr>
              <a:t>, chưa thay mô hình t+1 đang khóa.</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BẮT ĐỢT TRONG 6 GIỜ TỚI</a:t>
            </a:r>
          </a:p>
        </p:txBody>
      </p:sp>
      <p:sp>
        <p:nvSpPr>
          <p:cNvPr id="7" name="Rounded Rectangle 6"/>
          <p:cNvSpPr/>
          <p:nvPr/>
        </p:nvSpPr>
        <p:spPr>
          <a:xfrm>
            <a:off x="7543800" y="1883664"/>
            <a:ext cx="3867912" cy="969264"/>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MÔ HÌNH</a:t>
            </a:r>
          </a:p>
        </p:txBody>
      </p:sp>
      <p:sp>
        <p:nvSpPr>
          <p:cNvPr id="9" name="TextBox 8"/>
          <p:cNvSpPr txBox="1"/>
          <p:nvPr/>
        </p:nvSpPr>
        <p:spPr>
          <a:xfrm>
            <a:off x="7708392" y="2313432"/>
            <a:ext cx="3538728" cy="466344"/>
          </a:xfrm>
          <a:prstGeom prst="rect">
            <a:avLst/>
          </a:prstGeom>
          <a:noFill/>
        </p:spPr>
        <p:txBody>
          <a:bodyPr wrap="square" lIns="18288" rIns="18288" tIns="0" bIns="0">
            <a:spAutoFit/>
          </a:bodyPr>
          <a:lstStyle/>
          <a:p>
            <a:pPr>
              <a:lnSpc>
                <a:spcPct val="108000"/>
              </a:lnSpc>
              <a:spcAft>
                <a:spcPts val="300"/>
              </a:spcAft>
            </a:pPr>
            <a:r>
              <a:rPr sz="1200" b="1">
                <a:solidFill>
                  <a:srgbClr val="EA580C"/>
                </a:solidFill>
                <a:latin typeface="Calibri"/>
              </a:rPr>
              <a:t>506/730 = 69,3%</a:t>
            </a:r>
            <a:r>
              <a:rPr sz="1200" b="0">
                <a:solidFill>
                  <a:srgbClr val="1F2A37"/>
                </a:solidFill>
                <a:latin typeface="Calibri"/>
              </a:rPr>
              <a:t> số đợt được bắt</a:t>
            </a:r>
          </a:p>
        </p:txBody>
      </p:sp>
      <p:sp>
        <p:nvSpPr>
          <p:cNvPr id="10" name="Rounded Rectangle 9"/>
          <p:cNvSpPr/>
          <p:nvPr/>
        </p:nvSpPr>
        <p:spPr>
          <a:xfrm>
            <a:off x="7543800" y="2980944"/>
            <a:ext cx="3867912" cy="969264"/>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099816"/>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LUẬT “≥ 105”</a:t>
            </a:r>
          </a:p>
        </p:txBody>
      </p:sp>
      <p:sp>
        <p:nvSpPr>
          <p:cNvPr id="12" name="TextBox 11"/>
          <p:cNvSpPr txBox="1"/>
          <p:nvPr/>
        </p:nvSpPr>
        <p:spPr>
          <a:xfrm>
            <a:off x="7708392" y="3410712"/>
            <a:ext cx="3538728" cy="466344"/>
          </a:xfrm>
          <a:prstGeom prst="rect">
            <a:avLst/>
          </a:prstGeom>
          <a:noFill/>
        </p:spPr>
        <p:txBody>
          <a:bodyPr wrap="square" lIns="18288" rIns="18288" tIns="0" bIns="0">
            <a:spAutoFit/>
          </a:bodyPr>
          <a:lstStyle/>
          <a:p>
            <a:pPr>
              <a:lnSpc>
                <a:spcPct val="108000"/>
              </a:lnSpc>
              <a:spcAft>
                <a:spcPts val="300"/>
              </a:spcAft>
            </a:pPr>
            <a:r>
              <a:rPr sz="1200" b="0">
                <a:solidFill>
                  <a:srgbClr val="1F2A37"/>
                </a:solidFill>
                <a:latin typeface="Calibri"/>
              </a:rPr>
              <a:t>468/730 = </a:t>
            </a:r>
            <a:r>
              <a:rPr sz="1200" b="1">
                <a:solidFill>
                  <a:srgbClr val="EA580C"/>
                </a:solidFill>
                <a:latin typeface="Calibri"/>
              </a:rPr>
              <a:t>64,1%</a:t>
            </a:r>
            <a:r>
              <a:rPr sz="1200" b="0">
                <a:solidFill>
                  <a:srgbClr val="1F2A37"/>
                </a:solidFill>
                <a:latin typeface="Calibri"/>
              </a:rPr>
              <a:t> — đơn giản nhưng yếu hơn</a:t>
            </a:r>
          </a:p>
        </p:txBody>
      </p:sp>
      <p:sp>
        <p:nvSpPr>
          <p:cNvPr id="13" name="TextBox 12"/>
          <p:cNvSpPr txBox="1"/>
          <p:nvPr/>
        </p:nvSpPr>
        <p:spPr>
          <a:xfrm>
            <a:off x="7543800" y="4096512"/>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3 giờ</a:t>
            </a:r>
          </a:p>
        </p:txBody>
      </p:sp>
      <p:sp>
        <p:nvSpPr>
          <p:cNvPr id="14" name="TextBox 13"/>
          <p:cNvSpPr txBox="1"/>
          <p:nvPr/>
        </p:nvSpPr>
        <p:spPr>
          <a:xfrm>
            <a:off x="7543800" y="4664963"/>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trung vị thời gian báo trước (trước đây 1 giờ)</a:t>
            </a:r>
          </a:p>
        </p:txBody>
      </p:sp>
      <p:sp>
        <p:nvSpPr>
          <p:cNvPr id="15" name="Rounded Rectangle 14"/>
          <p:cNvSpPr/>
          <p:nvPr/>
        </p:nvSpPr>
        <p:spPr>
          <a:xfrm>
            <a:off x="7543800" y="4975859"/>
            <a:ext cx="3867912" cy="384048"/>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000" b="1">
                <a:solidFill>
                  <a:srgbClr val="FDBA74"/>
                </a:solidFill>
                <a:latin typeface="Calibri"/>
              </a:rPr>
              <a:t>trần 0,5 cảnh báo nhầm/ngày-trạm · kiểm tra tới t+8</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Cảnh báo đợt 6h: 69,3% vs luật đơn giản 64,1% · báo trước trung vị 3 giờ · trần 0,5 FP/ngày-trạm — thí nghiệm riêng, chưa thay mô hình chính.</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40 / 49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BỔ TRỢ</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Hai bài bổ trợ: hồi quy số và phân cụm trạm</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1">
                <a:solidFill>
                  <a:srgbClr val="1F2A37"/>
                </a:solidFill>
                <a:latin typeface="Cambria"/>
              </a:rPr>
              <a:t>Hồi quy PM2.5 t+1</a:t>
            </a:r>
            <a:r>
              <a:rPr sz="1450" b="0">
                <a:solidFill>
                  <a:srgbClr val="1F2A37"/>
                </a:solidFill>
                <a:latin typeface="Cambria"/>
              </a:rPr>
              <a:t> (dự báo con số thay vì nhãn): sai số </a:t>
            </a:r>
            <a:r>
              <a:rPr sz="1450" b="1">
                <a:solidFill>
                  <a:srgbClr val="EA580C"/>
                </a:solidFill>
                <a:latin typeface="Cambria"/>
              </a:rPr>
              <a:t>MAE = 8,87 µg/m³</a:t>
            </a:r>
            <a:r>
              <a:rPr sz="1450" b="0">
                <a:solidFill>
                  <a:srgbClr val="1F2A37"/>
                </a:solidFill>
                <a:latin typeface="Cambria"/>
              </a:rPr>
              <a:t>. Đọc đúng: MAE là </a:t>
            </a:r>
            <a:r>
              <a:rPr sz="1450" b="1">
                <a:solidFill>
                  <a:srgbClr val="1F2A37"/>
                </a:solidFill>
                <a:latin typeface="Cambria"/>
              </a:rPr>
              <a:t>trung bình</a:t>
            </a:r>
            <a:r>
              <a:rPr sz="1450" b="0">
                <a:solidFill>
                  <a:srgbClr val="1F2A37"/>
                </a:solidFill>
                <a:latin typeface="Cambria"/>
              </a:rPr>
              <a:t> sai số tuyệt đối, cùng đơn vị µg/m³ — không phải trần sai số từng lần dự báo (có lần sai nhiều hơn 8,87).</a:t>
            </a:r>
          </a:p>
          <a:p>
            <a:pPr algn="just">
              <a:lnSpc>
                <a:spcPct val="113000"/>
              </a:lnSpc>
              <a:spcAft>
                <a:spcPts val="900"/>
              </a:spcAft>
            </a:pPr>
            <a:r>
              <a:rPr sz="1450" b="1">
                <a:solidFill>
                  <a:srgbClr val="1F2A37"/>
                </a:solidFill>
                <a:latin typeface="Cambria"/>
              </a:rPr>
              <a:t>Phân cụm K-Means</a:t>
            </a:r>
            <a:r>
              <a:rPr sz="1450" b="0">
                <a:solidFill>
                  <a:srgbClr val="1F2A37"/>
                </a:solidFill>
                <a:latin typeface="Cambria"/>
              </a:rPr>
              <a:t>: đối tượng là </a:t>
            </a:r>
            <a:r>
              <a:rPr sz="1450" b="1">
                <a:solidFill>
                  <a:srgbClr val="EA580C"/>
                </a:solidFill>
                <a:latin typeface="Cambria"/>
              </a:rPr>
              <a:t>12 trạm</a:t>
            </a:r>
            <a:r>
              <a:rPr sz="1450" b="0">
                <a:solidFill>
                  <a:srgbClr val="1F2A37"/>
                </a:solidFill>
                <a:latin typeface="Cambria"/>
              </a:rPr>
              <a:t> — mỗi trạm một vector hồ sơ (nồng độ, mùa vụ, giờ cao điểm…), chuẩn hoá trước khi phân cụm, thử K = 2, 3, 4. Kết quả </a:t>
            </a:r>
            <a:r>
              <a:rPr sz="1450" b="1">
                <a:solidFill>
                  <a:srgbClr val="EA580C"/>
                </a:solidFill>
                <a:latin typeface="Cambria"/>
              </a:rPr>
              <a:t>K = 2 với silhouette 0,664</a:t>
            </a:r>
            <a:r>
              <a:rPr sz="1450" b="0">
                <a:solidFill>
                  <a:srgbClr val="1F2A37"/>
                </a:solidFill>
                <a:latin typeface="Cambria"/>
              </a:rPr>
              <a:t> cao nhất, chia </a:t>
            </a:r>
            <a:r>
              <a:rPr sz="1450" b="1">
                <a:solidFill>
                  <a:srgbClr val="EA580C"/>
                </a:solidFill>
                <a:latin typeface="Cambria"/>
              </a:rPr>
              <a:t>9 trạm + 3 trạm</a:t>
            </a:r>
            <a:r>
              <a:rPr sz="1450" b="0">
                <a:solidFill>
                  <a:srgbClr val="1F2A37"/>
                </a:solidFill>
                <a:latin typeface="Cambria"/>
              </a:rPr>
              <a:t>. Silhouette đo độ tách cụm theo đặc trưng (−1…1) — </a:t>
            </a:r>
            <a:r>
              <a:rPr sz="1450" b="1">
                <a:solidFill>
                  <a:srgbClr val="1F2A37"/>
                </a:solidFill>
                <a:latin typeface="Cambria"/>
              </a:rPr>
              <a:t>không phải accuracy</a:t>
            </a:r>
            <a:r>
              <a:rPr sz="1450" b="0">
                <a:solidFill>
                  <a:srgbClr val="1F2A37"/>
                </a:solidFill>
                <a:latin typeface="Cambria"/>
              </a:rPr>
              <a:t>; địa lý chỉ dùng đối chiếu sau, không đưa vào đặc trưng. Hai bài này bổ trợ hiểu dữ liệu và tạo đặc trưng “nhóm trạm”, không phải đầu ra chính.</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HAI BÀI BỔ TRỢ</a:t>
            </a:r>
          </a:p>
        </p:txBody>
      </p:sp>
      <p:sp>
        <p:nvSpPr>
          <p:cNvPr id="7" name="TextBox 6"/>
          <p:cNvSpPr txBox="1"/>
          <p:nvPr/>
        </p:nvSpPr>
        <p:spPr>
          <a:xfrm>
            <a:off x="7543800" y="1883664"/>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MAE 8,87</a:t>
            </a:r>
          </a:p>
        </p:txBody>
      </p:sp>
      <p:sp>
        <p:nvSpPr>
          <p:cNvPr id="8" name="TextBox 7"/>
          <p:cNvSpPr txBox="1"/>
          <p:nvPr/>
        </p:nvSpPr>
        <p:spPr>
          <a:xfrm>
            <a:off x="7543800" y="2452115"/>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µg/m³ — TRUNG BÌNH sai số tuyệt đối, không phải trần</a:t>
            </a:r>
          </a:p>
        </p:txBody>
      </p:sp>
      <p:sp>
        <p:nvSpPr>
          <p:cNvPr id="9" name="Rectangle 8"/>
          <p:cNvSpPr/>
          <p:nvPr/>
        </p:nvSpPr>
        <p:spPr>
          <a:xfrm>
            <a:off x="7543800" y="2689859"/>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799587"/>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K = 2 · 0,664</a:t>
            </a:r>
          </a:p>
        </p:txBody>
      </p:sp>
      <p:sp>
        <p:nvSpPr>
          <p:cNvPr id="11" name="TextBox 10"/>
          <p:cNvSpPr txBox="1"/>
          <p:nvPr/>
        </p:nvSpPr>
        <p:spPr>
          <a:xfrm>
            <a:off x="7543800" y="3368038"/>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silhouette cao nhất trong K = 2, 3, 4 — cụm 9 + 3 trạm</a:t>
            </a:r>
          </a:p>
        </p:txBody>
      </p:sp>
      <p:sp>
        <p:nvSpPr>
          <p:cNvPr id="12" name="TextBox 11"/>
          <p:cNvSpPr txBox="1"/>
          <p:nvPr/>
        </p:nvSpPr>
        <p:spPr>
          <a:xfrm>
            <a:off x="7543800" y="369722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Đối tượng cụm  </a:t>
            </a:r>
            <a:r>
              <a:rPr sz="1250" b="0">
                <a:solidFill>
                  <a:srgbClr val="1F2A37"/>
                </a:solidFill>
                <a:latin typeface="Calibri"/>
              </a:rPr>
              <a:t>12 TRẠM (vector hồ sơ), không phải 420k giờ</a:t>
            </a:r>
          </a:p>
        </p:txBody>
      </p:sp>
      <p:sp>
        <p:nvSpPr>
          <p:cNvPr id="13" name="TextBox 12"/>
          <p:cNvSpPr txBox="1"/>
          <p:nvPr/>
        </p:nvSpPr>
        <p:spPr>
          <a:xfrm>
            <a:off x="7543800" y="430072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Silhouette  </a:t>
            </a:r>
            <a:r>
              <a:rPr sz="1250" b="0">
                <a:solidFill>
                  <a:srgbClr val="1F2A37"/>
                </a:solidFill>
                <a:latin typeface="Calibri"/>
              </a:rPr>
              <a:t>đo độ tách cụm — </a:t>
            </a:r>
            <a:r>
              <a:rPr sz="1250" b="1">
                <a:solidFill>
                  <a:srgbClr val="EA580C"/>
                </a:solidFill>
                <a:latin typeface="Calibri"/>
              </a:rPr>
              <a:t>không phải accuracy</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Hồi quy MAE 8,87 µg/m³ (trung bình, không phải trần) · K-Means cụm 12 trạm: K=2, silhouette 0,664, cụm 9+3.</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41 / 49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C · CHỐT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Nếu chỉ nhớ 5 điều về phần C</a:t>
            </a:r>
          </a:p>
        </p:txBody>
      </p:sp>
      <p:sp>
        <p:nvSpPr>
          <p:cNvPr id="4" name="Oval 3"/>
          <p:cNvSpPr/>
          <p:nvPr/>
        </p:nvSpPr>
        <p:spPr>
          <a:xfrm>
            <a:off x="548640" y="153619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170432" y="151790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Bài toán: </a:t>
            </a:r>
            <a:r>
              <a:rPr sz="1550" b="0">
                <a:solidFill>
                  <a:srgbClr val="1F2A37"/>
                </a:solidFill>
                <a:latin typeface="Cambria"/>
              </a:rPr>
              <a:t>y = 1 ⟺ PM2.5(t+1h) ≥ 115 µg/m³; 49 đặc trưng chỉ nhìn quá khứ (no leakage).</a:t>
            </a:r>
          </a:p>
        </p:txBody>
      </p:sp>
      <p:sp>
        <p:nvSpPr>
          <p:cNvPr id="6" name="Oval 5"/>
          <p:cNvSpPr/>
          <p:nvPr/>
        </p:nvSpPr>
        <p:spPr>
          <a:xfrm>
            <a:off x="548640" y="235915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7" name="TextBox 6"/>
          <p:cNvSpPr txBox="1"/>
          <p:nvPr/>
        </p:nvSpPr>
        <p:spPr>
          <a:xfrm>
            <a:off x="1170432" y="234086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Chia tập: </a:t>
            </a:r>
            <a:r>
              <a:rPr sz="1550" b="0">
                <a:solidFill>
                  <a:srgbClr val="1F2A37"/>
                </a:solidFill>
                <a:latin typeface="Cambria"/>
              </a:rPr>
              <a:t>theo thời gian </a:t>
            </a:r>
            <a:r>
              <a:rPr sz="1550" b="1">
                <a:solidFill>
                  <a:srgbClr val="EA580C"/>
                </a:solidFill>
                <a:latin typeface="Cambria"/>
              </a:rPr>
              <a:t>276.380 / 47.338 / 48.781</a:t>
            </a:r>
            <a:r>
              <a:rPr sz="1550" b="0">
                <a:solidFill>
                  <a:srgbClr val="1F2A37"/>
                </a:solidFill>
                <a:latin typeface="Cambria"/>
              </a:rPr>
              <a:t>; siêu tham số chỉ chọn trên val; test dùng một lần.</a:t>
            </a:r>
          </a:p>
        </p:txBody>
      </p:sp>
      <p:sp>
        <p:nvSpPr>
          <p:cNvPr id="8" name="Oval 7"/>
          <p:cNvSpPr/>
          <p:nvPr/>
        </p:nvSpPr>
        <p:spPr>
          <a:xfrm>
            <a:off x="548640" y="318211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9" name="TextBox 8"/>
          <p:cNvSpPr txBox="1"/>
          <p:nvPr/>
        </p:nvSpPr>
        <p:spPr>
          <a:xfrm>
            <a:off x="1170432" y="316382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Baseline: </a:t>
            </a:r>
            <a:r>
              <a:rPr sz="1550" b="0">
                <a:solidFill>
                  <a:srgbClr val="1F2A37"/>
                </a:solidFill>
                <a:latin typeface="Cambria"/>
              </a:rPr>
              <a:t>majority acc 0,761 / F1 0,000 (bẫy accuracy) — persistence F1 </a:t>
            </a:r>
            <a:r>
              <a:rPr sz="1550" b="1">
                <a:solidFill>
                  <a:srgbClr val="EA580C"/>
                </a:solidFill>
                <a:latin typeface="Cambria"/>
              </a:rPr>
              <a:t>0,914</a:t>
            </a:r>
            <a:r>
              <a:rPr sz="1550" b="0">
                <a:solidFill>
                  <a:srgbClr val="1F2A37"/>
                </a:solidFill>
                <a:latin typeface="Cambria"/>
              </a:rPr>
              <a:t> là sàn phải vượt.</a:t>
            </a:r>
          </a:p>
        </p:txBody>
      </p:sp>
      <p:sp>
        <p:nvSpPr>
          <p:cNvPr id="10" name="Oval 9"/>
          <p:cNvSpPr/>
          <p:nvPr/>
        </p:nvSpPr>
        <p:spPr>
          <a:xfrm>
            <a:off x="548640" y="400507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1" name="TextBox 10"/>
          <p:cNvSpPr txBox="1"/>
          <p:nvPr/>
        </p:nvSpPr>
        <p:spPr>
          <a:xfrm>
            <a:off x="1170432" y="398678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Kết quả: </a:t>
            </a:r>
            <a:r>
              <a:rPr sz="1550" b="0">
                <a:solidFill>
                  <a:srgbClr val="1F2A37"/>
                </a:solidFill>
                <a:latin typeface="Cambria"/>
              </a:rPr>
              <a:t>HistGB F1 </a:t>
            </a:r>
            <a:r>
              <a:rPr sz="1550" b="1">
                <a:solidFill>
                  <a:srgbClr val="EA580C"/>
                </a:solidFill>
                <a:latin typeface="Cambria"/>
              </a:rPr>
              <a:t>0,927</a:t>
            </a:r>
            <a:r>
              <a:rPr sz="1550" b="0">
                <a:solidFill>
                  <a:srgbClr val="1F2A37"/>
                </a:solidFill>
                <a:latin typeface="Cambria"/>
              </a:rPr>
              <a:t>, AUC 0,993; FN 1.000→838, FP 999→865; khởi đầu đợt </a:t>
            </a:r>
            <a:r>
              <a:rPr sz="1550" b="1">
                <a:solidFill>
                  <a:srgbClr val="EA580C"/>
                </a:solidFill>
                <a:latin typeface="Cambria"/>
              </a:rPr>
              <a:t>30,4%</a:t>
            </a:r>
            <a:r>
              <a:rPr sz="1550" b="0">
                <a:solidFill>
                  <a:srgbClr val="1F2A37"/>
                </a:solidFill>
                <a:latin typeface="Cambria"/>
              </a:rPr>
              <a:t> vs 0%; McNemar </a:t>
            </a:r>
            <a:r>
              <a:rPr sz="1550" b="1">
                <a:solidFill>
                  <a:srgbClr val="EA580C"/>
                </a:solidFill>
                <a:latin typeface="Cambria"/>
              </a:rPr>
              <a:t>p ≈ 5×10⁻²³</a:t>
            </a:r>
            <a:r>
              <a:rPr sz="1550" b="0">
                <a:solidFill>
                  <a:srgbClr val="1F2A37"/>
                </a:solidFill>
                <a:latin typeface="Cambria"/>
              </a:rPr>
              <a:t>.</a:t>
            </a:r>
          </a:p>
        </p:txBody>
      </p:sp>
      <p:sp>
        <p:nvSpPr>
          <p:cNvPr id="12" name="Oval 11"/>
          <p:cNvSpPr/>
          <p:nvPr/>
        </p:nvSpPr>
        <p:spPr>
          <a:xfrm>
            <a:off x="548640" y="4828032"/>
            <a:ext cx="402336" cy="402336"/>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3" name="TextBox 12"/>
          <p:cNvSpPr txBox="1"/>
          <p:nvPr/>
        </p:nvSpPr>
        <p:spPr>
          <a:xfrm>
            <a:off x="1170432" y="4809744"/>
            <a:ext cx="10472623" cy="731520"/>
          </a:xfrm>
          <a:prstGeom prst="rect">
            <a:avLst/>
          </a:prstGeom>
          <a:noFill/>
        </p:spPr>
        <p:txBody>
          <a:bodyPr wrap="square" lIns="18288" rIns="18288" tIns="0" bIns="0">
            <a:spAutoFit/>
          </a:bodyPr>
          <a:lstStyle/>
          <a:p>
            <a:pPr>
              <a:lnSpc>
                <a:spcPct val="110000"/>
              </a:lnSpc>
            </a:pPr>
            <a:r>
              <a:rPr sz="1550" b="1">
                <a:solidFill>
                  <a:srgbClr val="1F2A37"/>
                </a:solidFill>
                <a:latin typeface="Cambria"/>
              </a:rPr>
              <a:t>Tầm &amp; bổ trợ: </a:t>
            </a:r>
            <a:r>
              <a:rPr sz="1550" b="0">
                <a:solidFill>
                  <a:srgbClr val="1F2A37"/>
                </a:solidFill>
                <a:latin typeface="Cambria"/>
              </a:rPr>
              <a:t>+0,013/+0,026/+0,043 theo 1/3/6h, </a:t>
            </a:r>
            <a:r>
              <a:rPr sz="1550" b="1">
                <a:solidFill>
                  <a:srgbClr val="EA580C"/>
                </a:solidFill>
                <a:latin typeface="Cambria"/>
              </a:rPr>
              <a:t>12/12</a:t>
            </a:r>
            <a:r>
              <a:rPr sz="1550" b="0">
                <a:solidFill>
                  <a:srgbClr val="1F2A37"/>
                </a:solidFill>
                <a:latin typeface="Cambria"/>
              </a:rPr>
              <a:t> trạm; đợt 6h </a:t>
            </a:r>
            <a:r>
              <a:rPr sz="1550" b="1">
                <a:solidFill>
                  <a:srgbClr val="EA580C"/>
                </a:solidFill>
                <a:latin typeface="Cambria"/>
              </a:rPr>
              <a:t>69,3%</a:t>
            </a:r>
            <a:r>
              <a:rPr sz="1550" b="0">
                <a:solidFill>
                  <a:srgbClr val="1F2A37"/>
                </a:solidFill>
                <a:latin typeface="Cambria"/>
              </a:rPr>
              <a:t>; MAE </a:t>
            </a:r>
            <a:r>
              <a:rPr sz="1550" b="1">
                <a:solidFill>
                  <a:srgbClr val="EA580C"/>
                </a:solidFill>
                <a:latin typeface="Cambria"/>
              </a:rPr>
              <a:t>8,87</a:t>
            </a:r>
            <a:r>
              <a:rPr sz="1550" b="0">
                <a:solidFill>
                  <a:srgbClr val="1F2A37"/>
                </a:solidFill>
                <a:latin typeface="Cambria"/>
              </a:rPr>
              <a:t>; K-Means K=2 (0,664).</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Khai phá = nhãn 115 → chia đúng → vượt baseline mạnh → chứng minh bằng giờ khởi đầu + McNemar, không chỉ F1.</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42 / 49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8503920" y="1097280"/>
            <a:ext cx="3291840" cy="3840480"/>
          </a:xfrm>
          <a:prstGeom prst="rect">
            <a:avLst/>
          </a:prstGeom>
          <a:noFill/>
        </p:spPr>
        <p:txBody>
          <a:bodyPr wrap="square" anchor="t" lIns="27432" rIns="27432" tIns="0" bIns="0">
            <a:spAutoFit/>
          </a:bodyPr>
          <a:lstStyle/>
          <a:p>
            <a:pPr algn="r"/>
            <a:r>
              <a:rPr sz="22000" b="1" i="0">
                <a:solidFill>
                  <a:srgbClr val="334155"/>
                </a:solidFill>
                <a:latin typeface="Cambria"/>
              </a:rPr>
              <a:t>D</a:t>
            </a:r>
          </a:p>
        </p:txBody>
      </p:sp>
      <p:sp>
        <p:nvSpPr>
          <p:cNvPr id="3" name="TextBox 2"/>
          <p:cNvSpPr txBox="1"/>
          <p:nvPr/>
        </p:nvSpPr>
        <p:spPr>
          <a:xfrm>
            <a:off x="548640" y="777240"/>
            <a:ext cx="9144000" cy="320040"/>
          </a:xfrm>
          <a:prstGeom prst="rect">
            <a:avLst/>
          </a:prstGeom>
          <a:noFill/>
        </p:spPr>
        <p:txBody>
          <a:bodyPr wrap="square" anchor="t" lIns="27432" rIns="27432" tIns="0" bIns="0">
            <a:spAutoFit/>
          </a:bodyPr>
          <a:lstStyle/>
          <a:p>
            <a:pPr algn="l"/>
            <a:r>
              <a:rPr sz="1400" b="1" i="0">
                <a:solidFill>
                  <a:srgbClr val="FDBA74"/>
                </a:solidFill>
                <a:latin typeface="Calibri"/>
              </a:rPr>
              <a:t>PHẦN D · SLIDE 44–48</a:t>
            </a:r>
          </a:p>
        </p:txBody>
      </p:sp>
      <p:sp>
        <p:nvSpPr>
          <p:cNvPr id="4" name="TextBox 3"/>
          <p:cNvSpPr txBox="1"/>
          <p:nvPr/>
        </p:nvSpPr>
        <p:spPr>
          <a:xfrm>
            <a:off x="548640" y="1783080"/>
            <a:ext cx="7863840" cy="777240"/>
          </a:xfrm>
          <a:prstGeom prst="rect">
            <a:avLst/>
          </a:prstGeom>
          <a:noFill/>
        </p:spPr>
        <p:txBody>
          <a:bodyPr wrap="square" anchor="t" lIns="27432" rIns="27432" tIns="0" bIns="0">
            <a:spAutoFit/>
          </a:bodyPr>
          <a:lstStyle/>
          <a:p>
            <a:pPr algn="l"/>
            <a:r>
              <a:rPr sz="3600" b="1" i="0">
                <a:solidFill>
                  <a:srgbClr val="FFFFFF"/>
                </a:solidFill>
                <a:latin typeface="Cambria"/>
              </a:rPr>
              <a:t>Vận hành &amp; tổng ôn</a:t>
            </a:r>
          </a:p>
        </p:txBody>
      </p:sp>
      <p:sp>
        <p:nvSpPr>
          <p:cNvPr id="5" name="TextBox 4"/>
          <p:cNvSpPr txBox="1"/>
          <p:nvPr/>
        </p:nvSpPr>
        <p:spPr>
          <a:xfrm>
            <a:off x="548640" y="2926080"/>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CDC theo watermark: hệ thống “sống” sau khi báo cáo</a:t>
            </a:r>
          </a:p>
        </p:txBody>
      </p:sp>
      <p:sp>
        <p:nvSpPr>
          <p:cNvPr id="6" name="TextBox 5"/>
          <p:cNvSpPr txBox="1"/>
          <p:nvPr/>
        </p:nvSpPr>
        <p:spPr>
          <a:xfrm>
            <a:off x="548640" y="3401568"/>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Idempotency: chạy lại không nhân đôi · giám sát MAE từng batch</a:t>
            </a:r>
          </a:p>
        </p:txBody>
      </p:sp>
      <p:sp>
        <p:nvSpPr>
          <p:cNvPr id="7" name="TextBox 6"/>
          <p:cNvSpPr txBox="1"/>
          <p:nvPr/>
        </p:nvSpPr>
        <p:spPr>
          <a:xfrm>
            <a:off x="548640" y="3877056"/>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Dashboard 4 trang và cách đọc demo trung thực</a:t>
            </a:r>
          </a:p>
        </p:txBody>
      </p:sp>
      <p:sp>
        <p:nvSpPr>
          <p:cNvPr id="8" name="TextBox 7"/>
          <p:cNvSpPr txBox="1"/>
          <p:nvPr/>
        </p:nvSpPr>
        <p:spPr>
          <a:xfrm>
            <a:off x="548640" y="4352544"/>
            <a:ext cx="7589520" cy="365760"/>
          </a:xfrm>
          <a:prstGeom prst="rect">
            <a:avLst/>
          </a:prstGeom>
          <a:noFill/>
        </p:spPr>
        <p:txBody>
          <a:bodyPr wrap="square" anchor="t" lIns="27432" rIns="27432" tIns="0" bIns="0">
            <a:spAutoFit/>
          </a:bodyPr>
          <a:lstStyle/>
          <a:p>
            <a:pPr algn="l"/>
            <a:r>
              <a:rPr sz="1550" b="0" i="0">
                <a:solidFill>
                  <a:srgbClr val="C5D0DE"/>
                </a:solidFill>
                <a:latin typeface="Calibri"/>
              </a:rPr>
              <a:t/>
            </a:r>
            <a:r>
              <a:rPr sz="1550" b="1">
                <a:solidFill>
                  <a:srgbClr val="EA580C"/>
                </a:solidFill>
                <a:latin typeface="Calibri"/>
              </a:rPr>
              <a:t>▸  </a:t>
            </a:r>
            <a:r>
              <a:rPr sz="1550" b="0">
                <a:solidFill>
                  <a:srgbClr val="C5D0DE"/>
                </a:solidFill>
                <a:latin typeface="Calibri"/>
              </a:rPr>
              <a:t>Khuyến nghị &amp; hạn chế nói thật — và bộ số phải thuộc</a:t>
            </a:r>
          </a:p>
        </p:txBody>
      </p:sp>
      <p:sp>
        <p:nvSpPr>
          <p:cNvPr id="9" name="TextBox 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43 / 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D · VẬN HÀNH</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CDC theo watermark — hệ thống “sống” sau khi báo cáo</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Đến đây kho mới chỉ “chết” trên dữ liệu lịch sử. Luồng </a:t>
            </a:r>
            <a:r>
              <a:rPr sz="1450" b="1">
                <a:solidFill>
                  <a:srgbClr val="EA580C"/>
                </a:solidFill>
                <a:latin typeface="Cambria"/>
              </a:rPr>
              <a:t>CDC</a:t>
            </a:r>
            <a:r>
              <a:rPr sz="1450" b="0">
                <a:solidFill>
                  <a:srgbClr val="1F2A37"/>
                </a:solidFill>
                <a:latin typeface="Cambria"/>
              </a:rPr>
              <a:t> (change data capture — bắt thay đổi) mô phỏng vận hành thật: </a:t>
            </a:r>
            <a:r>
              <a:rPr sz="1450" b="1">
                <a:solidFill>
                  <a:srgbClr val="EA580C"/>
                </a:solidFill>
                <a:latin typeface="Cambria"/>
              </a:rPr>
              <a:t>SQLite</a:t>
            </a:r>
            <a:r>
              <a:rPr sz="1450" b="0">
                <a:solidFill>
                  <a:srgbClr val="1F2A37"/>
                </a:solidFill>
                <a:latin typeface="Cambria"/>
              </a:rPr>
              <a:t> đóng vai nguồn giao dịch (trạm gửi số đo mỗi giờ), Airflow theo lịch kéo dữ liệu mới về lake rồi upsert vào staging.</a:t>
            </a:r>
          </a:p>
          <a:p>
            <a:pPr algn="just">
              <a:lnSpc>
                <a:spcPct val="113000"/>
              </a:lnSpc>
              <a:spcAft>
                <a:spcPts val="900"/>
              </a:spcAft>
            </a:pPr>
            <a:r>
              <a:rPr sz="1450" b="0">
                <a:solidFill>
                  <a:srgbClr val="1F2A37"/>
                </a:solidFill>
                <a:latin typeface="Cambria"/>
              </a:rPr>
              <a:t>Cơ chế </a:t>
            </a:r>
            <a:r>
              <a:rPr sz="1450" b="1">
                <a:solidFill>
                  <a:srgbClr val="EA580C"/>
                </a:solidFill>
                <a:latin typeface="Cambria"/>
              </a:rPr>
              <a:t>watermark</a:t>
            </a:r>
            <a:r>
              <a:rPr sz="1450" b="0">
                <a:solidFill>
                  <a:srgbClr val="1F2A37"/>
                </a:solidFill>
                <a:latin typeface="Cambria"/>
              </a:rPr>
              <a:t>: hệ thống ghi mốc </a:t>
            </a:r>
            <a:r>
              <a:rPr sz="1450" b="1">
                <a:solidFill>
                  <a:srgbClr val="EA580C"/>
                </a:solidFill>
                <a:latin typeface="Cambria"/>
              </a:rPr>
              <a:t>event_time</a:t>
            </a:r>
            <a:r>
              <a:rPr sz="1450" b="0">
                <a:solidFill>
                  <a:srgbClr val="1F2A37"/>
                </a:solidFill>
                <a:latin typeface="Cambria"/>
              </a:rPr>
              <a:t> đã nạp tới đâu; mỗi lần chạy chỉ lấy </a:t>
            </a:r>
            <a:r>
              <a:rPr sz="1450" b="1">
                <a:solidFill>
                  <a:srgbClr val="1F2A37"/>
                </a:solidFill>
                <a:latin typeface="Cambria"/>
              </a:rPr>
              <a:t>các bản ghi sau mốc</a:t>
            </a:r>
            <a:r>
              <a:rPr sz="1450" b="0">
                <a:solidFill>
                  <a:srgbClr val="1F2A37"/>
                </a:solidFill>
                <a:latin typeface="Cambria"/>
              </a:rPr>
              <a:t> — không quét lại cả nguồn; đây là cách nạp tăng dần tiêu biểu khi nguồn không push được sự kiện. Giới hạn phải nói thẳng: watermark chỉ bắt được </a:t>
            </a:r>
            <a:r>
              <a:rPr sz="1450" b="1">
                <a:solidFill>
                  <a:srgbClr val="EA580C"/>
                </a:solidFill>
                <a:latin typeface="Cambria"/>
              </a:rPr>
              <a:t>INSERT mới</a:t>
            </a:r>
            <a:r>
              <a:rPr sz="1450" b="0">
                <a:solidFill>
                  <a:srgbClr val="1F2A37"/>
                </a:solidFill>
                <a:latin typeface="Cambria"/>
              </a:rPr>
              <a:t> — bản ghi cũ bị </a:t>
            </a:r>
            <a:r>
              <a:rPr sz="1450" b="1">
                <a:solidFill>
                  <a:srgbClr val="1F2A37"/>
                </a:solidFill>
                <a:latin typeface="Cambria"/>
              </a:rPr>
              <a:t>sửa hoặc xoá sau khi mốc đã đi qua thì không ai biết</a:t>
            </a:r>
            <a:r>
              <a:rPr sz="1450" b="0">
                <a:solidFill>
                  <a:srgbClr val="1F2A37"/>
                </a:solidFill>
                <a:latin typeface="Cambria"/>
              </a:rPr>
              <a:t>; phương án là đối soát sha256 từng batch hoặc nạp lại nguyên partition khi nghi ngờ.</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LUỒNG CDC</a:t>
            </a:r>
          </a:p>
        </p:txBody>
      </p:sp>
      <p:sp>
        <p:nvSpPr>
          <p:cNvPr id="7" name="Rounded Rectangle 6"/>
          <p:cNvSpPr/>
          <p:nvPr/>
        </p:nvSpPr>
        <p:spPr>
          <a:xfrm>
            <a:off x="7543800" y="1883664"/>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SQLite</a:t>
            </a:r>
          </a:p>
        </p:txBody>
      </p:sp>
      <p:sp>
        <p:nvSpPr>
          <p:cNvPr id="8" name="TextBox 7"/>
          <p:cNvSpPr txBox="1"/>
          <p:nvPr/>
        </p:nvSpPr>
        <p:spPr>
          <a:xfrm>
            <a:off x="9358884" y="1911096"/>
            <a:ext cx="219456" cy="365760"/>
          </a:xfrm>
          <a:prstGeom prst="rect">
            <a:avLst/>
          </a:prstGeom>
          <a:noFill/>
        </p:spPr>
        <p:txBody>
          <a:bodyPr wrap="square" anchor="t" lIns="27432" rIns="27432" tIns="0" bIns="0">
            <a:spAutoFit/>
          </a:bodyPr>
          <a:lstStyle/>
          <a:p>
            <a:pPr algn="ctr"/>
            <a:r>
              <a:rPr sz="1300" b="1" i="0">
                <a:solidFill>
                  <a:srgbClr val="EA580C"/>
                </a:solidFill>
                <a:latin typeface="Calibri"/>
              </a:rPr>
              <a:t>→</a:t>
            </a:r>
          </a:p>
        </p:txBody>
      </p:sp>
      <p:sp>
        <p:nvSpPr>
          <p:cNvPr id="9" name="Rounded Rectangle 8"/>
          <p:cNvSpPr/>
          <p:nvPr/>
        </p:nvSpPr>
        <p:spPr>
          <a:xfrm>
            <a:off x="9587484" y="1883664"/>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watermark</a:t>
            </a:r>
          </a:p>
        </p:txBody>
      </p:sp>
      <p:sp>
        <p:nvSpPr>
          <p:cNvPr id="10" name="Rounded Rectangle 9"/>
          <p:cNvSpPr/>
          <p:nvPr/>
        </p:nvSpPr>
        <p:spPr>
          <a:xfrm>
            <a:off x="7543800" y="2359152"/>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Airflow</a:t>
            </a:r>
          </a:p>
        </p:txBody>
      </p:sp>
      <p:sp>
        <p:nvSpPr>
          <p:cNvPr id="11" name="TextBox 10"/>
          <p:cNvSpPr txBox="1"/>
          <p:nvPr/>
        </p:nvSpPr>
        <p:spPr>
          <a:xfrm>
            <a:off x="9358884" y="2386584"/>
            <a:ext cx="219456" cy="365760"/>
          </a:xfrm>
          <a:prstGeom prst="rect">
            <a:avLst/>
          </a:prstGeom>
          <a:noFill/>
        </p:spPr>
        <p:txBody>
          <a:bodyPr wrap="square" anchor="t" lIns="27432" rIns="27432" tIns="0" bIns="0">
            <a:spAutoFit/>
          </a:bodyPr>
          <a:lstStyle/>
          <a:p>
            <a:pPr algn="ctr"/>
            <a:r>
              <a:rPr sz="1300" b="1" i="0">
                <a:solidFill>
                  <a:srgbClr val="EA580C"/>
                </a:solidFill>
                <a:latin typeface="Calibri"/>
              </a:rPr>
              <a:t>→</a:t>
            </a:r>
          </a:p>
        </p:txBody>
      </p:sp>
      <p:sp>
        <p:nvSpPr>
          <p:cNvPr id="12" name="Rounded Rectangle 11"/>
          <p:cNvSpPr/>
          <p:nvPr/>
        </p:nvSpPr>
        <p:spPr>
          <a:xfrm>
            <a:off x="9587484" y="2359152"/>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lake</a:t>
            </a:r>
          </a:p>
        </p:txBody>
      </p:sp>
      <p:sp>
        <p:nvSpPr>
          <p:cNvPr id="13" name="Rounded Rectangle 12"/>
          <p:cNvSpPr/>
          <p:nvPr/>
        </p:nvSpPr>
        <p:spPr>
          <a:xfrm>
            <a:off x="7543800" y="2834640"/>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staging</a:t>
            </a:r>
          </a:p>
        </p:txBody>
      </p:sp>
      <p:sp>
        <p:nvSpPr>
          <p:cNvPr id="14" name="TextBox 13"/>
          <p:cNvSpPr txBox="1"/>
          <p:nvPr/>
        </p:nvSpPr>
        <p:spPr>
          <a:xfrm>
            <a:off x="9358884" y="2862072"/>
            <a:ext cx="219456" cy="365760"/>
          </a:xfrm>
          <a:prstGeom prst="rect">
            <a:avLst/>
          </a:prstGeom>
          <a:noFill/>
        </p:spPr>
        <p:txBody>
          <a:bodyPr wrap="square" anchor="t" lIns="27432" rIns="27432" tIns="0" bIns="0">
            <a:spAutoFit/>
          </a:bodyPr>
          <a:lstStyle/>
          <a:p>
            <a:pPr algn="ctr"/>
            <a:r>
              <a:rPr sz="1300" b="1" i="0">
                <a:solidFill>
                  <a:srgbClr val="EA580C"/>
                </a:solidFill>
                <a:latin typeface="Calibri"/>
              </a:rPr>
              <a:t>→</a:t>
            </a:r>
          </a:p>
        </p:txBody>
      </p:sp>
      <p:sp>
        <p:nvSpPr>
          <p:cNvPr id="15" name="Rounded Rectangle 14"/>
          <p:cNvSpPr/>
          <p:nvPr/>
        </p:nvSpPr>
        <p:spPr>
          <a:xfrm>
            <a:off x="9587484" y="2834640"/>
            <a:ext cx="1824228" cy="365760"/>
          </a:xfrm>
          <a:prstGeom prst="roundRect">
            <a:avLst>
              <a:gd name="adj" fmla="val 5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00" b="1">
                <a:solidFill>
                  <a:srgbClr val="FFFFFF"/>
                </a:solidFill>
                <a:latin typeface="Calibri"/>
              </a:rPr>
              <a:t>chấm MAE</a:t>
            </a:r>
          </a:p>
        </p:txBody>
      </p:sp>
      <p:sp>
        <p:nvSpPr>
          <p:cNvPr id="16" name="TextBox 15"/>
          <p:cNvSpPr txBox="1"/>
          <p:nvPr/>
        </p:nvSpPr>
        <p:spPr>
          <a:xfrm>
            <a:off x="7543800" y="34015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Watermark  </a:t>
            </a:r>
            <a:r>
              <a:rPr sz="1250" b="0">
                <a:solidFill>
                  <a:srgbClr val="1F2A37"/>
                </a:solidFill>
                <a:latin typeface="Calibri"/>
              </a:rPr>
              <a:t>mốc event_time đã nạp — chỉ lấy bản ghi SAU mốc</a:t>
            </a:r>
          </a:p>
        </p:txBody>
      </p:sp>
      <p:sp>
        <p:nvSpPr>
          <p:cNvPr id="17" name="TextBox 16"/>
          <p:cNvSpPr txBox="1"/>
          <p:nvPr/>
        </p:nvSpPr>
        <p:spPr>
          <a:xfrm>
            <a:off x="7543800" y="40050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Nạp  </a:t>
            </a:r>
            <a:r>
              <a:rPr sz="1250" b="0">
                <a:solidFill>
                  <a:srgbClr val="1F2A37"/>
                </a:solidFill>
                <a:latin typeface="Calibri"/>
              </a:rPr>
              <a:t>upsert theo khóa grain (không nhân đôi)</a:t>
            </a:r>
          </a:p>
        </p:txBody>
      </p:sp>
      <p:sp>
        <p:nvSpPr>
          <p:cNvPr id="18" name="Rounded Rectangle 17"/>
          <p:cNvSpPr/>
          <p:nvPr/>
        </p:nvSpPr>
        <p:spPr>
          <a:xfrm>
            <a:off x="7543800" y="4700016"/>
            <a:ext cx="3867912" cy="1225296"/>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4818888"/>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GIỚI HẠN</a:t>
            </a:r>
          </a:p>
        </p:txBody>
      </p:sp>
      <p:sp>
        <p:nvSpPr>
          <p:cNvPr id="20" name="TextBox 19"/>
          <p:cNvSpPr txBox="1"/>
          <p:nvPr/>
        </p:nvSpPr>
        <p:spPr>
          <a:xfrm>
            <a:off x="7708392" y="5129784"/>
            <a:ext cx="3538728" cy="722376"/>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bắt được </a:t>
            </a:r>
            <a:r>
              <a:rPr sz="1150" b="1">
                <a:solidFill>
                  <a:srgbClr val="EA580C"/>
                </a:solidFill>
                <a:latin typeface="Calibri"/>
              </a:rPr>
              <a:t>INSERT mới</a:t>
            </a:r>
          </a:p>
          <a:p>
            <a:pPr>
              <a:lnSpc>
                <a:spcPct val="108000"/>
              </a:lnSpc>
              <a:spcAft>
                <a:spcPts val="300"/>
              </a:spcAft>
            </a:pPr>
            <a:r>
              <a:rPr sz="1150" b="0">
                <a:solidFill>
                  <a:srgbClr val="1F2A37"/>
                </a:solidFill>
                <a:latin typeface="Calibri"/>
              </a:rPr>
              <a:t>sửa / xoá bản ghi cũ sau mốc → </a:t>
            </a:r>
            <a:r>
              <a:rPr sz="1150" b="1">
                <a:solidFill>
                  <a:srgbClr val="EA580C"/>
                </a:solidFill>
                <a:latin typeface="Calibri"/>
              </a:rPr>
              <a:t>không bắt được</a:t>
            </a:r>
            <a:r>
              <a:rPr sz="1150" b="0">
                <a:solidFill>
                  <a:srgbClr val="1F2A37"/>
                </a:solidFill>
                <a:latin typeface="Calibri"/>
              </a:rPr>
              <a:t> — đối soát lại partition</a:t>
            </a:r>
          </a:p>
        </p:txBody>
      </p:sp>
      <p:sp>
        <p:nvSpPr>
          <p:cNvPr id="21" name="Rectangle 20"/>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23" name="TextBox 22"/>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Watermark = mốc event_time, chỉ lấy bản ghi sau mốc → bắt insert mới; sửa/xoá bản ghi cũ phải đối soát lại partition.</a:t>
            </a:r>
          </a:p>
        </p:txBody>
      </p:sp>
      <p:sp>
        <p:nvSpPr>
          <p:cNvPr id="24" name="TextBox 23"/>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44 / 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D · VẬN HÀNH</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Chạy lại không nhân đôi — idempotency &amp; giám sát MAE</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Vì sao chạy lại không nhân đôi dữ liệu — hai lớp bảo vệ: nạp kiểu </a:t>
            </a:r>
            <a:r>
              <a:rPr sz="1450" b="1">
                <a:solidFill>
                  <a:srgbClr val="EA580C"/>
                </a:solidFill>
                <a:latin typeface="Cambria"/>
              </a:rPr>
              <a:t>upsert theo khóa grain</a:t>
            </a:r>
            <a:r>
              <a:rPr sz="1450" b="0">
                <a:solidFill>
                  <a:srgbClr val="1F2A37"/>
                </a:solidFill>
                <a:latin typeface="Cambria"/>
              </a:rPr>
              <a:t> (trạm × giờ trùng thì ghi đè, không thêm dòng) và </a:t>
            </a:r>
            <a:r>
              <a:rPr sz="1450" b="1">
                <a:solidFill>
                  <a:srgbClr val="EA580C"/>
                </a:solidFill>
                <a:latin typeface="Cambria"/>
              </a:rPr>
              <a:t>load_registry</a:t>
            </a:r>
            <a:r>
              <a:rPr sz="1450" b="0">
                <a:solidFill>
                  <a:srgbClr val="1F2A37"/>
                </a:solidFill>
                <a:latin typeface="Cambria"/>
              </a:rPr>
              <a:t> — sổ ghi từng batch với </a:t>
            </a:r>
            <a:r>
              <a:rPr sz="1450" b="1">
                <a:solidFill>
                  <a:srgbClr val="EA580C"/>
                </a:solidFill>
                <a:latin typeface="Cambria"/>
              </a:rPr>
              <a:t>object key + sha256 + schema_version + row_count</a:t>
            </a:r>
            <a:r>
              <a:rPr sz="1450" b="0">
                <a:solidFill>
                  <a:srgbClr val="1F2A37"/>
                </a:solidFill>
                <a:latin typeface="Cambria"/>
              </a:rPr>
              <a:t>; batch nào đã có “vân tay” khớp thì bỏ qua. Đó chính là nghĩa của </a:t>
            </a:r>
            <a:r>
              <a:rPr sz="1450" b="1">
                <a:solidFill>
                  <a:srgbClr val="1F2A37"/>
                </a:solidFill>
                <a:latin typeface="Cambria"/>
              </a:rPr>
              <a:t>idempotent</a:t>
            </a:r>
            <a:r>
              <a:rPr sz="1450" b="0">
                <a:solidFill>
                  <a:srgbClr val="1F2A37"/>
                </a:solidFill>
                <a:latin typeface="Cambria"/>
              </a:rPr>
              <a:t>.</a:t>
            </a:r>
          </a:p>
          <a:p>
            <a:pPr algn="just">
              <a:lnSpc>
                <a:spcPct val="113000"/>
              </a:lnSpc>
              <a:spcAft>
                <a:spcPts val="900"/>
              </a:spcAft>
            </a:pPr>
            <a:r>
              <a:rPr sz="1450" b="0">
                <a:solidFill>
                  <a:srgbClr val="1F2A37"/>
                </a:solidFill>
                <a:latin typeface="Cambria"/>
              </a:rPr>
              <a:t>Mỗi batch nạp xong còn được </a:t>
            </a:r>
            <a:r>
              <a:rPr sz="1450" b="1">
                <a:solidFill>
                  <a:srgbClr val="1F2A37"/>
                </a:solidFill>
                <a:latin typeface="Cambria"/>
              </a:rPr>
              <a:t>chấm MAE đối soát</a:t>
            </a:r>
            <a:r>
              <a:rPr sz="1450" b="0">
                <a:solidFill>
                  <a:srgbClr val="1F2A37"/>
                </a:solidFill>
                <a:latin typeface="Cambria"/>
              </a:rPr>
              <a:t> với số đo thật: batch mới nhất lệch trung bình </a:t>
            </a:r>
            <a:r>
              <a:rPr sz="1450" b="1">
                <a:solidFill>
                  <a:srgbClr val="EA580C"/>
                </a:solidFill>
                <a:latin typeface="Cambria"/>
              </a:rPr>
              <a:t>&gt; 12 µg/m³</a:t>
            </a:r>
            <a:r>
              <a:rPr sz="1450" b="0">
                <a:solidFill>
                  <a:srgbClr val="1F2A37"/>
                </a:solidFill>
                <a:latin typeface="Cambria"/>
              </a:rPr>
              <a:t> → </a:t>
            </a:r>
            <a:r>
              <a:rPr sz="1450" b="1">
                <a:solidFill>
                  <a:srgbClr val="EA580C"/>
                </a:solidFill>
                <a:latin typeface="Cambria"/>
              </a:rPr>
              <a:t>bật cờ giám sát (monitor_only)</a:t>
            </a:r>
            <a:r>
              <a:rPr sz="1450" b="0">
                <a:solidFill>
                  <a:srgbClr val="1F2A37"/>
                </a:solidFill>
                <a:latin typeface="Cambria"/>
              </a:rPr>
              <a:t> — mô hình đang khóa </a:t>
            </a:r>
            <a:r>
              <a:rPr sz="1450" b="1">
                <a:solidFill>
                  <a:srgbClr val="1F2A37"/>
                </a:solidFill>
                <a:latin typeface="Cambria"/>
              </a:rPr>
              <a:t>không tự retrain</a:t>
            </a:r>
            <a:r>
              <a:rPr sz="1450" b="0">
                <a:solidFill>
                  <a:srgbClr val="1F2A37"/>
                </a:solidFill>
                <a:latin typeface="Cambria"/>
              </a:rPr>
              <a:t>, người quyết định xem xét. Tổng quan: MAE đối soát </a:t>
            </a:r>
            <a:r>
              <a:rPr sz="1450" b="1">
                <a:solidFill>
                  <a:srgbClr val="EA580C"/>
                </a:solidFill>
                <a:latin typeface="Cambria"/>
              </a:rPr>
              <a:t>9,41 µg/m³</a:t>
            </a:r>
            <a:r>
              <a:rPr sz="1450" b="0">
                <a:solidFill>
                  <a:srgbClr val="1F2A37"/>
                </a:solidFill>
                <a:latin typeface="Cambria"/>
              </a:rPr>
              <a:t> trên </a:t>
            </a:r>
            <a:r>
              <a:rPr sz="1450" b="1">
                <a:solidFill>
                  <a:srgbClr val="EA580C"/>
                </a:solidFill>
                <a:latin typeface="Cambria"/>
              </a:rPr>
              <a:t>111.944 giờ</a:t>
            </a:r>
            <a:r>
              <a:rPr sz="1450" b="0">
                <a:solidFill>
                  <a:srgbClr val="1F2A37"/>
                </a:solidFill>
                <a:latin typeface="Cambria"/>
              </a:rPr>
              <a:t>, chấm liên tục 01/2016–28/02/2017 — cao hơn 8,87 của tập test vì chạy trên dòng thời gian vận hành, không phải một tập test cố định.</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IDEMPOTENT + GIÁM SÁT</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Lớp 1  </a:t>
            </a:r>
            <a:r>
              <a:rPr sz="1250" b="0">
                <a:solidFill>
                  <a:srgbClr val="1F2A37"/>
                </a:solidFill>
                <a:latin typeface="Calibri"/>
              </a:rPr>
              <a:t>upsert theo khóa grain trạm × giờ</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Lớp 2  </a:t>
            </a:r>
            <a:r>
              <a:rPr sz="1250" b="0">
                <a:solidFill>
                  <a:srgbClr val="1F2A37"/>
                </a:solidFill>
                <a:latin typeface="Calibri"/>
              </a:rPr>
              <a:t>load_registry: key + sha256 + row_count khớp → skip</a:t>
            </a:r>
          </a:p>
        </p:txBody>
      </p:sp>
      <p:sp>
        <p:nvSpPr>
          <p:cNvPr id="9" name="Rectangle 8"/>
          <p:cNvSpPr/>
          <p:nvPr/>
        </p:nvSpPr>
        <p:spPr>
          <a:xfrm>
            <a:off x="7543800" y="3145536"/>
            <a:ext cx="38679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3255264"/>
            <a:ext cx="3867912" cy="550163"/>
          </a:xfrm>
          <a:prstGeom prst="rect">
            <a:avLst/>
          </a:prstGeom>
          <a:noFill/>
        </p:spPr>
        <p:txBody>
          <a:bodyPr wrap="square" anchor="t" lIns="27432" rIns="27432" tIns="0" bIns="0">
            <a:spAutoFit/>
          </a:bodyPr>
          <a:lstStyle/>
          <a:p>
            <a:pPr algn="l"/>
            <a:r>
              <a:rPr sz="2600" b="1" i="0">
                <a:solidFill>
                  <a:srgbClr val="EA580C"/>
                </a:solidFill>
                <a:latin typeface="Cambria"/>
              </a:rPr>
              <a:t>9,41 µg/m³</a:t>
            </a:r>
          </a:p>
        </p:txBody>
      </p:sp>
      <p:sp>
        <p:nvSpPr>
          <p:cNvPr id="11" name="TextBox 10"/>
          <p:cNvSpPr txBox="1"/>
          <p:nvPr/>
        </p:nvSpPr>
        <p:spPr>
          <a:xfrm>
            <a:off x="7543800" y="3823715"/>
            <a:ext cx="3867912" cy="411480"/>
          </a:xfrm>
          <a:prstGeom prst="rect">
            <a:avLst/>
          </a:prstGeom>
          <a:noFill/>
        </p:spPr>
        <p:txBody>
          <a:bodyPr wrap="square" anchor="t" lIns="27432" rIns="27432" tIns="0" bIns="0">
            <a:spAutoFit/>
          </a:bodyPr>
          <a:lstStyle/>
          <a:p>
            <a:pPr algn="l">
              <a:spcAft>
                <a:spcPts val="100"/>
              </a:spcAft>
            </a:pPr>
            <a:r>
              <a:rPr sz="1150" b="0" i="0">
                <a:solidFill>
                  <a:srgbClr val="64748B"/>
                </a:solidFill>
                <a:latin typeface="Calibri"/>
              </a:rPr>
              <a:t>MAE đối soát CDC — 111.944 giờ, 01/2016–02/2017</a:t>
            </a:r>
          </a:p>
        </p:txBody>
      </p:sp>
      <p:sp>
        <p:nvSpPr>
          <p:cNvPr id="12" name="Rounded Rectangle 11"/>
          <p:cNvSpPr/>
          <p:nvPr/>
        </p:nvSpPr>
        <p:spPr>
          <a:xfrm>
            <a:off x="7543800" y="4152899"/>
            <a:ext cx="3867912" cy="40233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150" b="1">
                <a:solidFill>
                  <a:srgbClr val="FFFFFF"/>
                </a:solidFill>
                <a:latin typeface="Calibri"/>
              </a:rPr>
              <a:t>vượt 12 µg/m³ → bật cờ · KHÔNG tự retrain</a:t>
            </a:r>
          </a:p>
        </p:txBody>
      </p:sp>
      <p:sp>
        <p:nvSpPr>
          <p:cNvPr id="13" name="Rectangle 12"/>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5" name="TextBox 14"/>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Upsert theo khóa + load_registry (sha256) = idempotent · batch nào vượt MAE 12 µg/m³ thì bật cờ — không tự retrain.</a:t>
            </a:r>
          </a:p>
        </p:txBody>
      </p:sp>
      <p:sp>
        <p:nvSpPr>
          <p:cNvPr id="16" name="TextBox 15"/>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45 / 49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D · DASHBOARD</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Dashboard bốn trang — và cách đọc demo trung thực</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Bốn trang chính: </a:t>
            </a:r>
            <a:r>
              <a:rPr sz="1450" b="1">
                <a:solidFill>
                  <a:srgbClr val="EA580C"/>
                </a:solidFill>
                <a:latin typeface="Cambria"/>
              </a:rPr>
              <a:t>/</a:t>
            </a:r>
            <a:r>
              <a:rPr sz="1450" b="0">
                <a:solidFill>
                  <a:srgbClr val="1F2A37"/>
                </a:solidFill>
                <a:latin typeface="Cambria"/>
              </a:rPr>
              <a:t> quy mô vấn đề · </a:t>
            </a:r>
            <a:r>
              <a:rPr sz="1450" b="1">
                <a:solidFill>
                  <a:srgbClr val="EA580C"/>
                </a:solidFill>
                <a:latin typeface="Cambria"/>
              </a:rPr>
              <a:t>/olap</a:t>
            </a:r>
            <a:r>
              <a:rPr sz="1450" b="0">
                <a:solidFill>
                  <a:srgbClr val="1F2A37"/>
                </a:solidFill>
                <a:latin typeface="Cambria"/>
              </a:rPr>
              <a:t> năm phép thao tác trên cube (phần B) · </a:t>
            </a:r>
            <a:r>
              <a:rPr sz="1450" b="1">
                <a:solidFill>
                  <a:srgbClr val="EA580C"/>
                </a:solidFill>
                <a:latin typeface="Cambria"/>
              </a:rPr>
              <a:t>/canh-bao</a:t>
            </a:r>
            <a:r>
              <a:rPr sz="1450" b="0">
                <a:solidFill>
                  <a:srgbClr val="1F2A37"/>
                </a:solidFill>
                <a:latin typeface="Cambria"/>
              </a:rPr>
              <a:t> nhãn, baseline, kết quả — hai ma trận nhầm lẫn đặt cạnh nhau thấy ngay mô hình vs cách hiện tại · </a:t>
            </a:r>
            <a:r>
              <a:rPr sz="1450" b="1">
                <a:solidFill>
                  <a:srgbClr val="EA580C"/>
                </a:solidFill>
                <a:latin typeface="Cambria"/>
              </a:rPr>
              <a:t>/phat-lai</a:t>
            </a:r>
            <a:r>
              <a:rPr sz="1450" b="0">
                <a:solidFill>
                  <a:srgbClr val="1F2A37"/>
                </a:solidFill>
                <a:latin typeface="Cambria"/>
              </a:rPr>
              <a:t> kéo mốc thời gian, hệ thống phát dự đoán cho giờ đích, </a:t>
            </a:r>
            <a:r>
              <a:rPr sz="1450" b="1">
                <a:solidFill>
                  <a:srgbClr val="1F2A37"/>
                </a:solidFill>
                <a:latin typeface="Cambria"/>
              </a:rPr>
              <a:t>số đo thật chỉ hiện khi mốc dữ liệu đã đi qua</a:t>
            </a:r>
            <a:r>
              <a:rPr sz="1450" b="0">
                <a:solidFill>
                  <a:srgbClr val="1F2A37"/>
                </a:solidFill>
                <a:latin typeface="Cambria"/>
              </a:rPr>
              <a:t> — minh hoạ nguyên tắc “dự đoán trước, đối soát sau”.</a:t>
            </a:r>
          </a:p>
          <a:p>
            <a:pPr algn="just">
              <a:lnSpc>
                <a:spcPct val="113000"/>
              </a:lnSpc>
              <a:spcAft>
                <a:spcPts val="900"/>
              </a:spcAft>
            </a:pPr>
            <a:r>
              <a:rPr sz="1450" b="0">
                <a:solidFill>
                  <a:srgbClr val="1F2A37"/>
                </a:solidFill>
                <a:latin typeface="Cambria"/>
              </a:rPr>
              <a:t>Một câu trung thực phải nhớ khi demo: </a:t>
            </a:r>
            <a:r>
              <a:rPr sz="1450" b="1">
                <a:solidFill>
                  <a:srgbClr val="EA580C"/>
                </a:solidFill>
                <a:latin typeface="Cambria"/>
              </a:rPr>
              <a:t>F1 cao trong cửa sổ demo KHÔNG phải bằng chứng độ tốt của mô hình</a:t>
            </a:r>
            <a:r>
              <a:rPr sz="1450" b="0">
                <a:solidFill>
                  <a:srgbClr val="1F2A37"/>
                </a:solidFill>
                <a:latin typeface="Cambria"/>
              </a:rPr>
              <a:t> — cửa sổ demo chọn nhiều giờ ô nhiễm cho dễ thấy; bằng chứng thật nằm ở tập test đã khóa. Dự phòng: mất mạng / Docker lỗi thì mở notebook OLAP đã chạy sẵn + ảnh chụp màn hình trong slide; toàn hệ thống dựng lại bằng run_all.py 11,2 phút.</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BỐN TRANG</a:t>
            </a:r>
          </a:p>
        </p:txBody>
      </p:sp>
      <p:sp>
        <p:nvSpPr>
          <p:cNvPr id="7" name="TextBox 6"/>
          <p:cNvSpPr txBox="1"/>
          <p:nvPr/>
        </p:nvSpPr>
        <p:spPr>
          <a:xfrm>
            <a:off x="7543800" y="1883664"/>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  </a:t>
            </a:r>
            <a:r>
              <a:rPr sz="1250" b="0">
                <a:solidFill>
                  <a:srgbClr val="1F2A37"/>
                </a:solidFill>
                <a:latin typeface="Calibri"/>
              </a:rPr>
              <a:t>quy mô vấn đề</a:t>
            </a:r>
          </a:p>
        </p:txBody>
      </p:sp>
      <p:sp>
        <p:nvSpPr>
          <p:cNvPr id="8" name="TextBox 7"/>
          <p:cNvSpPr txBox="1"/>
          <p:nvPr/>
        </p:nvSpPr>
        <p:spPr>
          <a:xfrm>
            <a:off x="7543800" y="2487168"/>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/olap  </a:t>
            </a:r>
            <a:r>
              <a:rPr sz="1250" b="0">
                <a:solidFill>
                  <a:srgbClr val="1F2A37"/>
                </a:solidFill>
                <a:latin typeface="Calibri"/>
              </a:rPr>
              <a:t>năm phép OLAP trên cube</a:t>
            </a:r>
          </a:p>
        </p:txBody>
      </p:sp>
      <p:sp>
        <p:nvSpPr>
          <p:cNvPr id="9" name="TextBox 8"/>
          <p:cNvSpPr txBox="1"/>
          <p:nvPr/>
        </p:nvSpPr>
        <p:spPr>
          <a:xfrm>
            <a:off x="7543800" y="3090672"/>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/canh-bao  </a:t>
            </a:r>
            <a:r>
              <a:rPr sz="1250" b="0">
                <a:solidFill>
                  <a:srgbClr val="1F2A37"/>
                </a:solidFill>
                <a:latin typeface="Calibri"/>
              </a:rPr>
              <a:t>2 ma trận nhầm lẫn cạnh nhau + dòng xác suất</a:t>
            </a:r>
          </a:p>
        </p:txBody>
      </p:sp>
      <p:sp>
        <p:nvSpPr>
          <p:cNvPr id="10" name="TextBox 9"/>
          <p:cNvSpPr txBox="1"/>
          <p:nvPr/>
        </p:nvSpPr>
        <p:spPr>
          <a:xfrm>
            <a:off x="7543800" y="3694176"/>
            <a:ext cx="3867912" cy="603504"/>
          </a:xfrm>
          <a:prstGeom prst="rect">
            <a:avLst/>
          </a:prstGeom>
          <a:noFill/>
        </p:spPr>
        <p:txBody>
          <a:bodyPr wrap="square" lIns="18288" rIns="18288" tIns="0" bIns="0">
            <a:spAutoFit/>
          </a:bodyPr>
          <a:lstStyle/>
          <a:p>
            <a:pPr>
              <a:lnSpc>
                <a:spcPct val="105000"/>
              </a:lnSpc>
              <a:spcAft>
                <a:spcPts val="0"/>
              </a:spcAft>
            </a:pPr>
            <a:r>
              <a:rPr sz="1250" b="1">
                <a:solidFill>
                  <a:srgbClr val="0F766E"/>
                </a:solidFill>
                <a:latin typeface="Calibri"/>
              </a:rPr>
              <a:t>/phat-lai  </a:t>
            </a:r>
            <a:r>
              <a:rPr sz="1250" b="0">
                <a:solidFill>
                  <a:srgbClr val="1F2A37"/>
                </a:solidFill>
                <a:latin typeface="Calibri"/>
              </a:rPr>
              <a:t>dự đoán trước — số thật chỉ hiện khi mốc đi qua</a:t>
            </a:r>
          </a:p>
        </p:txBody>
      </p:sp>
      <p:sp>
        <p:nvSpPr>
          <p:cNvPr id="11" name="Rounded Rectangle 10"/>
          <p:cNvSpPr/>
          <p:nvPr/>
        </p:nvSpPr>
        <p:spPr>
          <a:xfrm>
            <a:off x="7543800" y="4407408"/>
            <a:ext cx="3867912" cy="1188720"/>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4526280"/>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TRUNG THỰC</a:t>
            </a:r>
          </a:p>
        </p:txBody>
      </p:sp>
      <p:sp>
        <p:nvSpPr>
          <p:cNvPr id="13" name="TextBox 12"/>
          <p:cNvSpPr txBox="1"/>
          <p:nvPr/>
        </p:nvSpPr>
        <p:spPr>
          <a:xfrm>
            <a:off x="7708392" y="4837176"/>
            <a:ext cx="3538728" cy="685800"/>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F1 trong cửa sổ demo </a:t>
            </a:r>
            <a:r>
              <a:rPr sz="1150" b="1">
                <a:solidFill>
                  <a:srgbClr val="EA580C"/>
                </a:solidFill>
                <a:latin typeface="Calibri"/>
              </a:rPr>
              <a:t>không phải bằng chứng</a:t>
            </a:r>
          </a:p>
          <a:p>
            <a:pPr>
              <a:lnSpc>
                <a:spcPct val="108000"/>
              </a:lnSpc>
              <a:spcAft>
                <a:spcPts val="300"/>
              </a:spcAft>
            </a:pPr>
            <a:r>
              <a:rPr sz="1150" b="0">
                <a:solidFill>
                  <a:srgbClr val="1F2A37"/>
                </a:solidFill>
                <a:latin typeface="Calibri"/>
              </a:rPr>
              <a:t>— cửa sổ chọn nhiều giờ ô nhiễm; bằng chứng ở test</a:t>
            </a:r>
          </a:p>
        </p:txBody>
      </p:sp>
      <p:sp>
        <p:nvSpPr>
          <p:cNvPr id="14" name="Rectangle 13"/>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6" name="TextBox 15"/>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 · /olap · /canh-bao · /phat-lai (dự đoán trước, đối soát sau) — số trong cửa sổ demo không dùng làm bằng chứng đánh giá.</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46 / 49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D · TỔNG KẾT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Khuyến nghị &amp; hạn chế — nói chủ động, đừng chờ bị hỏi</a:t>
            </a:r>
          </a:p>
        </p:txBody>
      </p:sp>
      <p:sp>
        <p:nvSpPr>
          <p:cNvPr id="4" name="TextBox 3"/>
          <p:cNvSpPr txBox="1"/>
          <p:nvPr/>
        </p:nvSpPr>
        <p:spPr>
          <a:xfrm>
            <a:off x="548640" y="1371600"/>
            <a:ext cx="6537960" cy="4023360"/>
          </a:xfrm>
          <a:prstGeom prst="rect">
            <a:avLst/>
          </a:prstGeom>
          <a:noFill/>
        </p:spPr>
        <p:txBody>
          <a:bodyPr wrap="square" lIns="27432" rIns="27432" tIns="0" bIns="0">
            <a:spAutoFit/>
          </a:bodyPr>
          <a:lstStyle/>
          <a:p>
            <a:pPr algn="just">
              <a:lnSpc>
                <a:spcPct val="113000"/>
              </a:lnSpc>
              <a:spcAft>
                <a:spcPts val="900"/>
              </a:spcAft>
            </a:pPr>
            <a:r>
              <a:rPr sz="1450" b="0">
                <a:solidFill>
                  <a:srgbClr val="1F2A37"/>
                </a:solidFill>
                <a:latin typeface="Cambria"/>
              </a:rPr>
              <a:t>Ba khuyến nghị rút ra: </a:t>
            </a:r>
            <a:r>
              <a:rPr sz="1450" b="1">
                <a:solidFill>
                  <a:srgbClr val="1F2A37"/>
                </a:solidFill>
                <a:latin typeface="Cambria"/>
              </a:rPr>
              <a:t>(1)</a:t>
            </a:r>
            <a:r>
              <a:rPr sz="1450" b="0">
                <a:solidFill>
                  <a:srgbClr val="1F2A37"/>
                </a:solidFill>
                <a:latin typeface="Cambria"/>
              </a:rPr>
              <a:t> cảnh báo theo </a:t>
            </a:r>
            <a:r>
              <a:rPr sz="1450" b="1">
                <a:solidFill>
                  <a:srgbClr val="EA580C"/>
                </a:solidFill>
                <a:latin typeface="Cambria"/>
              </a:rPr>
              <a:t>xác suất mô hình</a:t>
            </a:r>
            <a:r>
              <a:rPr sz="1450" b="0">
                <a:solidFill>
                  <a:srgbClr val="1F2A37"/>
                </a:solidFill>
                <a:latin typeface="Cambria"/>
              </a:rPr>
              <a:t> thay vì chờ số đo vượt — tận dụng 30,4% giờ khởi đầu; </a:t>
            </a:r>
            <a:r>
              <a:rPr sz="1450" b="1">
                <a:solidFill>
                  <a:srgbClr val="1F2A37"/>
                </a:solidFill>
                <a:latin typeface="Cambria"/>
              </a:rPr>
              <a:t>(2)</a:t>
            </a:r>
            <a:r>
              <a:rPr sz="1450" b="0">
                <a:solidFill>
                  <a:srgbClr val="1F2A37"/>
                </a:solidFill>
                <a:latin typeface="Cambria"/>
              </a:rPr>
              <a:t> ưu tiên nguồn lực vào </a:t>
            </a:r>
            <a:r>
              <a:rPr sz="1450" b="1">
                <a:solidFill>
                  <a:srgbClr val="EA580C"/>
                </a:solidFill>
                <a:latin typeface="Cambria"/>
              </a:rPr>
              <a:t>mùa đông, buổi tối, giờ gió nam</a:t>
            </a:r>
            <a:r>
              <a:rPr sz="1450" b="0">
                <a:solidFill>
                  <a:srgbClr val="1F2A37"/>
                </a:solidFill>
                <a:latin typeface="Cambria"/>
              </a:rPr>
              <a:t> — các điều kiện nguy hiểm cao nhất từ kho; </a:t>
            </a:r>
            <a:r>
              <a:rPr sz="1450" b="1">
                <a:solidFill>
                  <a:srgbClr val="1F2A37"/>
                </a:solidFill>
                <a:latin typeface="Cambria"/>
              </a:rPr>
              <a:t>(3)</a:t>
            </a:r>
            <a:r>
              <a:rPr sz="1450" b="0">
                <a:solidFill>
                  <a:srgbClr val="1F2A37"/>
                </a:solidFill>
                <a:latin typeface="Cambria"/>
              </a:rPr>
              <a:t> khi cần báo sớm 3–6 giờ, </a:t>
            </a:r>
            <a:r>
              <a:rPr sz="1450" b="1">
                <a:solidFill>
                  <a:srgbClr val="EA580C"/>
                </a:solidFill>
                <a:latin typeface="Cambria"/>
              </a:rPr>
              <a:t>chấp nhận precision thấp hơn để recall cao</a:t>
            </a:r>
            <a:r>
              <a:rPr sz="1450" b="0">
                <a:solidFill>
                  <a:srgbClr val="1F2A37"/>
                </a:solidFill>
                <a:latin typeface="Cambria"/>
              </a:rPr>
              <a:t> — bỏ sót đắt hơn báo nhầm.</a:t>
            </a:r>
          </a:p>
          <a:p>
            <a:pPr algn="just">
              <a:lnSpc>
                <a:spcPct val="113000"/>
              </a:lnSpc>
              <a:spcAft>
                <a:spcPts val="900"/>
              </a:spcAft>
            </a:pPr>
            <a:r>
              <a:rPr sz="1450" b="0">
                <a:solidFill>
                  <a:srgbClr val="1F2A37"/>
                </a:solidFill>
                <a:latin typeface="Cambria"/>
              </a:rPr>
              <a:t>Bốn hạn chế nói thật: </a:t>
            </a:r>
            <a:r>
              <a:rPr sz="1450" b="1">
                <a:solidFill>
                  <a:srgbClr val="EA580C"/>
                </a:solidFill>
                <a:latin typeface="Cambria"/>
              </a:rPr>
              <a:t>test chỉ 6 tháng cuối 2016</a:t>
            </a:r>
            <a:r>
              <a:rPr sz="1450" b="0">
                <a:solidFill>
                  <a:srgbClr val="1F2A37"/>
                </a:solidFill>
                <a:latin typeface="Cambria"/>
              </a:rPr>
              <a:t> (một mùa, dữ liệu lịch sử); </a:t>
            </a:r>
            <a:r>
              <a:rPr sz="1450" b="1">
                <a:solidFill>
                  <a:srgbClr val="EA580C"/>
                </a:solidFill>
                <a:latin typeface="Cambria"/>
              </a:rPr>
              <a:t>+0,013 F1</a:t>
            </a:r>
            <a:r>
              <a:rPr sz="1450" b="0">
                <a:solidFill>
                  <a:srgbClr val="1F2A37"/>
                </a:solidFill>
                <a:latin typeface="Cambria"/>
              </a:rPr>
              <a:t> ở tầm 1 giờ là khiêm tốn; </a:t>
            </a:r>
            <a:r>
              <a:rPr sz="1450" b="1">
                <a:solidFill>
                  <a:srgbClr val="EA580C"/>
                </a:solidFill>
                <a:latin typeface="Cambria"/>
              </a:rPr>
              <a:t>ngưỡng 115 vốn là ngưỡng 24 giờ</a:t>
            </a:r>
            <a:r>
              <a:rPr sz="1450" b="0">
                <a:solidFill>
                  <a:srgbClr val="1F2A37"/>
                </a:solidFill>
                <a:latin typeface="Cambria"/>
              </a:rPr>
              <a:t> của quy chuẩn đang áp cho từng giờ — quy ước thí nghiệm; </a:t>
            </a:r>
            <a:r>
              <a:rPr sz="1450" b="1">
                <a:solidFill>
                  <a:srgbClr val="EA580C"/>
                </a:solidFill>
                <a:latin typeface="Cambria"/>
              </a:rPr>
              <a:t>chưa kết nối trạm thật</a:t>
            </a:r>
            <a:r>
              <a:rPr sz="1450" b="0">
                <a:solidFill>
                  <a:srgbClr val="1F2A37"/>
                </a:solidFill>
                <a:latin typeface="Cambria"/>
              </a:rPr>
              <a:t> — CDC mới mô phỏng. Nêu hạn chế chủ động là điểm cộng: nó cho thấy nhóm hiểu giới hạn của chính kết quả mình.</a:t>
            </a:r>
          </a:p>
        </p:txBody>
      </p:sp>
      <p:sp>
        <p:nvSpPr>
          <p:cNvPr id="5" name="Rounded Rectangle 4"/>
          <p:cNvSpPr/>
          <p:nvPr/>
        </p:nvSpPr>
        <p:spPr>
          <a:xfrm>
            <a:off x="7315200" y="1371600"/>
            <a:ext cx="4325112" cy="406908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17904"/>
            <a:ext cx="3867912" cy="274320"/>
          </a:xfrm>
          <a:prstGeom prst="rect">
            <a:avLst/>
          </a:prstGeom>
          <a:noFill/>
        </p:spPr>
        <p:txBody>
          <a:bodyPr wrap="square" anchor="t" lIns="27432" rIns="27432" tIns="0" bIns="0">
            <a:spAutoFit/>
          </a:bodyPr>
          <a:lstStyle/>
          <a:p>
            <a:pPr algn="l"/>
            <a:r>
              <a:rPr sz="1100" b="1" i="0">
                <a:solidFill>
                  <a:srgbClr val="64748B"/>
                </a:solidFill>
                <a:latin typeface="Calibri"/>
              </a:rPr>
              <a:t>NÊN / CHƯA</a:t>
            </a:r>
          </a:p>
        </p:txBody>
      </p:sp>
      <p:sp>
        <p:nvSpPr>
          <p:cNvPr id="7" name="Rounded Rectangle 6"/>
          <p:cNvSpPr/>
          <p:nvPr/>
        </p:nvSpPr>
        <p:spPr>
          <a:xfrm>
            <a:off x="7543800" y="1883664"/>
            <a:ext cx="3867912" cy="1627632"/>
          </a:xfrm>
          <a:prstGeom prst="roundRect">
            <a:avLst>
              <a:gd name="adj" fmla="val 6000"/>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08392" y="2002536"/>
            <a:ext cx="3538728" cy="274320"/>
          </a:xfrm>
          <a:prstGeom prst="rect">
            <a:avLst/>
          </a:prstGeom>
          <a:noFill/>
        </p:spPr>
        <p:txBody>
          <a:bodyPr wrap="square" anchor="t" lIns="27432" rIns="27432" tIns="0" bIns="0">
            <a:spAutoFit/>
          </a:bodyPr>
          <a:lstStyle/>
          <a:p>
            <a:pPr algn="l"/>
            <a:r>
              <a:rPr sz="1300" b="1" i="0">
                <a:solidFill>
                  <a:srgbClr val="0F766E"/>
                </a:solidFill>
                <a:latin typeface="Calibri"/>
              </a:rPr>
              <a:t>3 KHUYẾN NGHỊ</a:t>
            </a:r>
          </a:p>
        </p:txBody>
      </p:sp>
      <p:sp>
        <p:nvSpPr>
          <p:cNvPr id="9" name="TextBox 8"/>
          <p:cNvSpPr txBox="1"/>
          <p:nvPr/>
        </p:nvSpPr>
        <p:spPr>
          <a:xfrm>
            <a:off x="7708392" y="2313432"/>
            <a:ext cx="3538728" cy="1124712"/>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cảnh báo theo xác suất mô hình</a:t>
            </a:r>
          </a:p>
          <a:p>
            <a:pPr>
              <a:lnSpc>
                <a:spcPct val="108000"/>
              </a:lnSpc>
              <a:spcAft>
                <a:spcPts val="300"/>
              </a:spcAft>
            </a:pPr>
            <a:r>
              <a:rPr sz="1150" b="0">
                <a:solidFill>
                  <a:srgbClr val="1F2A37"/>
                </a:solidFill>
                <a:latin typeface="Calibri"/>
              </a:rPr>
              <a:t>ưu tiên đông · tối · gió nam</a:t>
            </a:r>
          </a:p>
          <a:p>
            <a:pPr>
              <a:lnSpc>
                <a:spcPct val="108000"/>
              </a:lnSpc>
              <a:spcAft>
                <a:spcPts val="300"/>
              </a:spcAft>
            </a:pPr>
            <a:r>
              <a:rPr sz="1150" b="0">
                <a:solidFill>
                  <a:srgbClr val="1F2A37"/>
                </a:solidFill>
                <a:latin typeface="Calibri"/>
              </a:rPr>
              <a:t>cần sớm → đổi precision lấy recall</a:t>
            </a:r>
          </a:p>
        </p:txBody>
      </p:sp>
      <p:sp>
        <p:nvSpPr>
          <p:cNvPr id="10" name="Rounded Rectangle 9"/>
          <p:cNvSpPr/>
          <p:nvPr/>
        </p:nvSpPr>
        <p:spPr>
          <a:xfrm>
            <a:off x="7543800" y="3639312"/>
            <a:ext cx="3867912" cy="1627632"/>
          </a:xfrm>
          <a:prstGeom prst="roundRect">
            <a:avLst>
              <a:gd name="adj" fmla="val 6000"/>
            </a:avLst>
          </a:prstGeom>
          <a:solidFill>
            <a:srgbClr val="FF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08392" y="3758184"/>
            <a:ext cx="3538728" cy="274320"/>
          </a:xfrm>
          <a:prstGeom prst="rect">
            <a:avLst/>
          </a:prstGeom>
          <a:noFill/>
        </p:spPr>
        <p:txBody>
          <a:bodyPr wrap="square" anchor="t" lIns="27432" rIns="27432" tIns="0" bIns="0">
            <a:spAutoFit/>
          </a:bodyPr>
          <a:lstStyle/>
          <a:p>
            <a:pPr algn="l"/>
            <a:r>
              <a:rPr sz="1300" b="1" i="0">
                <a:solidFill>
                  <a:srgbClr val="EA580C"/>
                </a:solidFill>
                <a:latin typeface="Calibri"/>
              </a:rPr>
              <a:t>4 HẠN CHẾ</a:t>
            </a:r>
          </a:p>
        </p:txBody>
      </p:sp>
      <p:sp>
        <p:nvSpPr>
          <p:cNvPr id="12" name="TextBox 11"/>
          <p:cNvSpPr txBox="1"/>
          <p:nvPr/>
        </p:nvSpPr>
        <p:spPr>
          <a:xfrm>
            <a:off x="7708392" y="4069080"/>
            <a:ext cx="3538728" cy="1124712"/>
          </a:xfrm>
          <a:prstGeom prst="rect">
            <a:avLst/>
          </a:prstGeom>
          <a:noFill/>
        </p:spPr>
        <p:txBody>
          <a:bodyPr wrap="square" lIns="18288" rIns="18288" tIns="0" bIns="0">
            <a:spAutoFit/>
          </a:bodyPr>
          <a:lstStyle/>
          <a:p>
            <a:pPr>
              <a:lnSpc>
                <a:spcPct val="108000"/>
              </a:lnSpc>
              <a:spcAft>
                <a:spcPts val="300"/>
              </a:spcAft>
            </a:pPr>
            <a:r>
              <a:rPr sz="1150" b="0">
                <a:solidFill>
                  <a:srgbClr val="1F2A37"/>
                </a:solidFill>
                <a:latin typeface="Calibri"/>
              </a:rPr>
              <a:t>test 6 tháng cuối 2016 · +0,013 khiêm tốn</a:t>
            </a:r>
          </a:p>
          <a:p>
            <a:pPr>
              <a:lnSpc>
                <a:spcPct val="108000"/>
              </a:lnSpc>
              <a:spcAft>
                <a:spcPts val="300"/>
              </a:spcAft>
            </a:pPr>
            <a:r>
              <a:rPr sz="1150" b="0">
                <a:solidFill>
                  <a:srgbClr val="1F2A37"/>
                </a:solidFill>
                <a:latin typeface="Calibri"/>
              </a:rPr>
              <a:t>115 vốn ngưỡng 24h áp cho giờ</a:t>
            </a:r>
          </a:p>
          <a:p>
            <a:pPr>
              <a:lnSpc>
                <a:spcPct val="108000"/>
              </a:lnSpc>
              <a:spcAft>
                <a:spcPts val="300"/>
              </a:spcAft>
            </a:pPr>
            <a:r>
              <a:rPr sz="1150" b="0">
                <a:solidFill>
                  <a:srgbClr val="1F2A37"/>
                </a:solidFill>
                <a:latin typeface="Calibri"/>
              </a:rPr>
              <a:t>chưa kết nối trạm thật</a:t>
            </a:r>
          </a:p>
        </p:txBody>
      </p:sp>
      <p:sp>
        <p:nvSpPr>
          <p:cNvPr id="13" name="Rectangle 12"/>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5" name="TextBox 14"/>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3 khuyến nghị (cảnh báo theo xác suất · ưu tiên đông-tối-gió nam · đổi precision lấy recall khi cần sớm) + 4 hạn chế nói thật.</a:t>
            </a:r>
          </a:p>
        </p:txBody>
      </p:sp>
      <p:sp>
        <p:nvSpPr>
          <p:cNvPr id="16" name="TextBox 15"/>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47 / 49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6304"/>
            <a:ext cx="9601200" cy="274320"/>
          </a:xfrm>
          <a:prstGeom prst="rect">
            <a:avLst/>
          </a:prstGeom>
          <a:noFill/>
        </p:spPr>
        <p:txBody>
          <a:bodyPr wrap="square" anchor="t" lIns="27432" rIns="27432" tIns="0" bIns="0">
            <a:spAutoFit/>
          </a:bodyPr>
          <a:lstStyle/>
          <a:p>
            <a:pPr algn="l"/>
            <a:r>
              <a:rPr sz="1100" b="1" i="0">
                <a:solidFill>
                  <a:srgbClr val="64748B"/>
                </a:solidFill>
                <a:latin typeface="Calibri"/>
              </a:rPr>
              <a:t>PHẦN D · TỔNG KẾT</a:t>
            </a:r>
          </a:p>
        </p:txBody>
      </p:sp>
      <p:sp>
        <p:nvSpPr>
          <p:cNvPr id="3" name="TextBox 2"/>
          <p:cNvSpPr txBox="1"/>
          <p:nvPr/>
        </p:nvSpPr>
        <p:spPr>
          <a:xfrm>
            <a:off x="548640" y="457200"/>
            <a:ext cx="11094415" cy="868680"/>
          </a:xfrm>
          <a:prstGeom prst="rect">
            <a:avLst/>
          </a:prstGeom>
          <a:noFill/>
        </p:spPr>
        <p:txBody>
          <a:bodyPr wrap="square" anchor="t" lIns="27432" rIns="27432" tIns="0" bIns="0">
            <a:spAutoFit/>
          </a:bodyPr>
          <a:lstStyle/>
          <a:p>
            <a:pPr algn="l"/>
            <a:r>
              <a:rPr sz="2700" b="1" i="0">
                <a:solidFill>
                  <a:srgbClr val="1F2A37"/>
                </a:solidFill>
                <a:latin typeface="Cambria"/>
              </a:rPr>
              <a:t>Bộ số phải thuộc — đọc được không nhìn slide</a:t>
            </a:r>
          </a:p>
        </p:txBody>
      </p:sp>
      <p:sp>
        <p:nvSpPr>
          <p:cNvPr id="4" name="Rounded Rectangle 3"/>
          <p:cNvSpPr/>
          <p:nvPr/>
        </p:nvSpPr>
        <p:spPr>
          <a:xfrm>
            <a:off x="548640" y="1389888"/>
            <a:ext cx="5468112" cy="199339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15544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DỮ LIỆU</a:t>
            </a:r>
          </a:p>
        </p:txBody>
      </p:sp>
      <p:sp>
        <p:nvSpPr>
          <p:cNvPr id="6" name="TextBox 5"/>
          <p:cNvSpPr txBox="1"/>
          <p:nvPr/>
        </p:nvSpPr>
        <p:spPr>
          <a:xfrm>
            <a:off x="731520" y="2011680"/>
            <a:ext cx="5102352" cy="1261872"/>
          </a:xfrm>
          <a:prstGeom prst="rect">
            <a:avLst/>
          </a:prstGeom>
          <a:noFill/>
        </p:spPr>
        <p:txBody>
          <a:bodyPr wrap="square" lIns="18288" rIns="18288" tIns="0" bIns="0">
            <a:spAutoFit/>
          </a:bodyPr>
          <a:lstStyle/>
          <a:p>
            <a:pPr>
              <a:lnSpc>
                <a:spcPct val="105000"/>
              </a:lnSpc>
              <a:spcAft>
                <a:spcPts val="400"/>
              </a:spcAft>
            </a:pPr>
            <a:r>
              <a:rPr sz="1250" b="1">
                <a:solidFill>
                  <a:srgbClr val="0F766E"/>
                </a:solidFill>
                <a:latin typeface="Calibri"/>
              </a:rPr>
              <a:t>· </a:t>
            </a:r>
            <a:r>
              <a:rPr sz="1250" b="1">
                <a:solidFill>
                  <a:srgbClr val="EA580C"/>
                </a:solidFill>
                <a:latin typeface="Calibri"/>
              </a:rPr>
              <a:t>420.768</a:t>
            </a:r>
            <a:r>
              <a:rPr sz="1250" b="0">
                <a:solidFill>
                  <a:srgbClr val="1F2A37"/>
                </a:solidFill>
                <a:latin typeface="Calibri"/>
              </a:rPr>
              <a:t> dòng trạm×giờ · 12 trạm · 03/2013–02/2017</a:t>
            </a:r>
          </a:p>
          <a:p>
            <a:pPr>
              <a:lnSpc>
                <a:spcPct val="105000"/>
              </a:lnSpc>
              <a:spcAft>
                <a:spcPts val="400"/>
              </a:spcAft>
            </a:pPr>
            <a:r>
              <a:rPr sz="1250" b="1">
                <a:solidFill>
                  <a:srgbClr val="0F766E"/>
                </a:solidFill>
                <a:latin typeface="Calibri"/>
              </a:rPr>
              <a:t>· </a:t>
            </a:r>
            <a:r>
              <a:rPr sz="1250" b="0">
                <a:solidFill>
                  <a:srgbClr val="1F2A37"/>
                </a:solidFill>
                <a:latin typeface="Calibri"/>
              </a:rPr>
              <a:t>PM2.5 TB </a:t>
            </a:r>
            <a:r>
              <a:rPr sz="1250" b="1">
                <a:solidFill>
                  <a:srgbClr val="EA580C"/>
                </a:solidFill>
                <a:latin typeface="Calibri"/>
              </a:rPr>
              <a:t>79,8</a:t>
            </a:r>
            <a:r>
              <a:rPr sz="1250" b="0">
                <a:solidFill>
                  <a:srgbClr val="1F2A37"/>
                </a:solidFill>
                <a:latin typeface="Calibri"/>
              </a:rPr>
              <a:t> · ~1/4 giờ ≥ 115 · CO thiếu </a:t>
            </a:r>
            <a:r>
              <a:rPr sz="1250" b="1">
                <a:solidFill>
                  <a:srgbClr val="EA580C"/>
                </a:solidFill>
                <a:latin typeface="Calibri"/>
              </a:rPr>
              <a:t>4,9%</a:t>
            </a:r>
          </a:p>
          <a:p>
            <a:pPr>
              <a:lnSpc>
                <a:spcPct val="105000"/>
              </a:lnSpc>
              <a:spcAft>
                <a:spcPts val="400"/>
              </a:spcAft>
            </a:pPr>
            <a:r>
              <a:rPr sz="1250" b="1">
                <a:solidFill>
                  <a:srgbClr val="0F766E"/>
                </a:solidFill>
                <a:latin typeface="Calibri"/>
              </a:rPr>
              <a:t>· </a:t>
            </a:r>
            <a:r>
              <a:rPr sz="1250" b="0">
                <a:solidFill>
                  <a:srgbClr val="1F2A37"/>
                </a:solidFill>
                <a:latin typeface="Calibri"/>
              </a:rPr>
              <a:t>run_all </a:t>
            </a:r>
            <a:r>
              <a:rPr sz="1250" b="1">
                <a:solidFill>
                  <a:srgbClr val="EA580C"/>
                </a:solidFill>
                <a:latin typeface="Calibri"/>
              </a:rPr>
              <a:t>14 bước / 11,2 phút</a:t>
            </a:r>
            <a:r>
              <a:rPr sz="1250" b="0">
                <a:solidFill>
                  <a:srgbClr val="1F2A37"/>
                </a:solidFill>
                <a:latin typeface="Calibri"/>
              </a:rPr>
              <a:t> · 60 dòng cờ trần</a:t>
            </a:r>
          </a:p>
        </p:txBody>
      </p:sp>
      <p:sp>
        <p:nvSpPr>
          <p:cNvPr id="7" name="Rounded Rectangle 6"/>
          <p:cNvSpPr/>
          <p:nvPr/>
        </p:nvSpPr>
        <p:spPr>
          <a:xfrm>
            <a:off x="6172200" y="1389888"/>
            <a:ext cx="5468112" cy="199339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55080" y="1536192"/>
            <a:ext cx="1554480" cy="36576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KHO</a:t>
            </a:r>
          </a:p>
        </p:txBody>
      </p:sp>
      <p:sp>
        <p:nvSpPr>
          <p:cNvPr id="9" name="TextBox 8"/>
          <p:cNvSpPr txBox="1"/>
          <p:nvPr/>
        </p:nvSpPr>
        <p:spPr>
          <a:xfrm>
            <a:off x="6355080" y="2011680"/>
            <a:ext cx="5102352" cy="1261872"/>
          </a:xfrm>
          <a:prstGeom prst="rect">
            <a:avLst/>
          </a:prstGeom>
          <a:noFill/>
        </p:spPr>
        <p:txBody>
          <a:bodyPr wrap="square" lIns="18288" rIns="18288" tIns="0" bIns="0">
            <a:spAutoFit/>
          </a:bodyPr>
          <a:lstStyle/>
          <a:p>
            <a:pPr>
              <a:lnSpc>
                <a:spcPct val="105000"/>
              </a:lnSpc>
              <a:spcAft>
                <a:spcPts val="400"/>
              </a:spcAft>
            </a:pPr>
            <a:r>
              <a:rPr sz="1250" b="1">
                <a:solidFill>
                  <a:srgbClr val="EA580C"/>
                </a:solidFill>
                <a:latin typeface="Calibri"/>
              </a:rPr>
              <a:t>· </a:t>
            </a:r>
            <a:r>
              <a:rPr sz="1250" b="0">
                <a:solidFill>
                  <a:srgbClr val="1F2A37"/>
                </a:solidFill>
                <a:latin typeface="Calibri"/>
              </a:rPr>
              <a:t>grain trạm×giờ · 4 chiều · </a:t>
            </a:r>
            <a:r>
              <a:rPr sz="1250" b="1">
                <a:solidFill>
                  <a:srgbClr val="EA580C"/>
                </a:solidFill>
                <a:latin typeface="Calibri"/>
              </a:rPr>
              <a:t>180</a:t>
            </a:r>
            <a:r>
              <a:rPr sz="1250" b="0">
                <a:solidFill>
                  <a:srgbClr val="1F2A37"/>
                </a:solidFill>
                <a:latin typeface="Calibri"/>
              </a:rPr>
              <a:t> tổ hợp mức · CUBE = </a:t>
            </a:r>
            <a:r>
              <a:rPr sz="1250" b="1">
                <a:solidFill>
                  <a:srgbClr val="EA580C"/>
                </a:solidFill>
                <a:latin typeface="Calibri"/>
              </a:rPr>
              <a:t>32</a:t>
            </a:r>
          </a:p>
          <a:p>
            <a:pPr>
              <a:lnSpc>
                <a:spcPct val="105000"/>
              </a:lnSpc>
              <a:spcAft>
                <a:spcPts val="400"/>
              </a:spcAft>
            </a:pPr>
            <a:r>
              <a:rPr sz="1250" b="1">
                <a:solidFill>
                  <a:srgbClr val="EA580C"/>
                </a:solidFill>
                <a:latin typeface="Calibri"/>
              </a:rPr>
              <a:t>· </a:t>
            </a:r>
            <a:r>
              <a:rPr sz="1250" b="0">
                <a:solidFill>
                  <a:srgbClr val="1F2A37"/>
                </a:solidFill>
                <a:latin typeface="Calibri"/>
              </a:rPr>
              <a:t>marts </a:t>
            </a:r>
            <a:r>
              <a:rPr sz="1250" b="1">
                <a:solidFill>
                  <a:srgbClr val="EA580C"/>
                </a:solidFill>
                <a:latin typeface="Calibri"/>
              </a:rPr>
              <a:t>17.532 / 576 / 6.075</a:t>
            </a:r>
            <a:r>
              <a:rPr sz="1250" b="0">
                <a:solidFill>
                  <a:srgbClr val="1F2A37"/>
                </a:solidFill>
                <a:latin typeface="Calibri"/>
              </a:rPr>
              <a:t> · </a:t>
            </a:r>
            <a:r>
              <a:rPr sz="1250" b="1">
                <a:solidFill>
                  <a:srgbClr val="EA580C"/>
                </a:solidFill>
                <a:latin typeface="Calibri"/>
              </a:rPr>
              <a:t>24.759/24.759 = 100%</a:t>
            </a:r>
            <a:r>
              <a:rPr sz="1250" b="0">
                <a:solidFill>
                  <a:srgbClr val="1F2A37"/>
                </a:solidFill>
                <a:latin typeface="Calibri"/>
              </a:rPr>
              <a:t> · </a:t>
            </a:r>
            <a:r>
              <a:rPr sz="1250" b="1">
                <a:solidFill>
                  <a:srgbClr val="EA580C"/>
                </a:solidFill>
                <a:latin typeface="Calibri"/>
              </a:rPr>
              <a:t>130</a:t>
            </a:r>
            <a:r>
              <a:rPr sz="1250" b="0">
                <a:solidFill>
                  <a:srgbClr val="1F2A37"/>
                </a:solidFill>
                <a:latin typeface="Calibri"/>
              </a:rPr>
              <a:t> test</a:t>
            </a:r>
          </a:p>
          <a:p>
            <a:pPr>
              <a:lnSpc>
                <a:spcPct val="105000"/>
              </a:lnSpc>
              <a:spcAft>
                <a:spcPts val="400"/>
              </a:spcAft>
            </a:pPr>
            <a:r>
              <a:rPr sz="1250" b="1">
                <a:solidFill>
                  <a:srgbClr val="EA580C"/>
                </a:solidFill>
                <a:latin typeface="Calibri"/>
              </a:rPr>
              <a:t>· </a:t>
            </a:r>
            <a:r>
              <a:rPr sz="1250" b="0">
                <a:solidFill>
                  <a:srgbClr val="1F2A37"/>
                </a:solidFill>
                <a:latin typeface="Calibri"/>
              </a:rPr>
              <a:t>cube </a:t>
            </a:r>
            <a:r>
              <a:rPr sz="1250" b="1">
                <a:solidFill>
                  <a:srgbClr val="EA580C"/>
                </a:solidFill>
                <a:latin typeface="Calibri"/>
              </a:rPr>
              <a:t>2–6 ms</a:t>
            </a:r>
            <a:r>
              <a:rPr sz="1250" b="0">
                <a:solidFill>
                  <a:srgbClr val="1F2A37"/>
                </a:solidFill>
                <a:latin typeface="Calibri"/>
              </a:rPr>
              <a:t> vs fact </a:t>
            </a:r>
            <a:r>
              <a:rPr sz="1250" b="1">
                <a:solidFill>
                  <a:srgbClr val="EA580C"/>
                </a:solidFill>
                <a:latin typeface="Calibri"/>
              </a:rPr>
              <a:t>130–400 ms</a:t>
            </a:r>
            <a:r>
              <a:rPr sz="1250" b="0">
                <a:solidFill>
                  <a:srgbClr val="1F2A37"/>
                </a:solidFill>
                <a:latin typeface="Calibri"/>
              </a:rPr>
              <a:t> · gió nam </a:t>
            </a:r>
            <a:r>
              <a:rPr sz="1250" b="1">
                <a:solidFill>
                  <a:srgbClr val="EA580C"/>
                </a:solidFill>
                <a:latin typeface="Calibri"/>
              </a:rPr>
              <a:t>+60%</a:t>
            </a:r>
            <a:r>
              <a:rPr sz="1250" b="0">
                <a:solidFill>
                  <a:srgbClr val="1F2A37"/>
                </a:solidFill>
                <a:latin typeface="Calibri"/>
              </a:rPr>
              <a:t> (28→43%)</a:t>
            </a:r>
          </a:p>
        </p:txBody>
      </p:sp>
      <p:sp>
        <p:nvSpPr>
          <p:cNvPr id="10" name="Rounded Rectangle 9"/>
          <p:cNvSpPr/>
          <p:nvPr/>
        </p:nvSpPr>
        <p:spPr>
          <a:xfrm>
            <a:off x="548640" y="3529584"/>
            <a:ext cx="5468112" cy="199339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675888"/>
            <a:ext cx="155448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KHAI PHÁ</a:t>
            </a:r>
          </a:p>
        </p:txBody>
      </p:sp>
      <p:sp>
        <p:nvSpPr>
          <p:cNvPr id="12" name="TextBox 11"/>
          <p:cNvSpPr txBox="1"/>
          <p:nvPr/>
        </p:nvSpPr>
        <p:spPr>
          <a:xfrm>
            <a:off x="731520" y="4151376"/>
            <a:ext cx="5102352" cy="1261872"/>
          </a:xfrm>
          <a:prstGeom prst="rect">
            <a:avLst/>
          </a:prstGeom>
          <a:noFill/>
        </p:spPr>
        <p:txBody>
          <a:bodyPr wrap="square" lIns="18288" rIns="18288" tIns="0" bIns="0">
            <a:spAutoFit/>
          </a:bodyPr>
          <a:lstStyle/>
          <a:p>
            <a:pPr>
              <a:lnSpc>
                <a:spcPct val="105000"/>
              </a:lnSpc>
              <a:spcAft>
                <a:spcPts val="400"/>
              </a:spcAft>
            </a:pPr>
            <a:r>
              <a:rPr sz="1250" b="1">
                <a:solidFill>
                  <a:srgbClr val="0F766E"/>
                </a:solidFill>
                <a:latin typeface="Calibri"/>
              </a:rPr>
              <a:t>· </a:t>
            </a:r>
            <a:r>
              <a:rPr sz="1250" b="0">
                <a:solidFill>
                  <a:srgbClr val="1F2A37"/>
                </a:solidFill>
                <a:latin typeface="Calibri"/>
              </a:rPr>
              <a:t>split </a:t>
            </a:r>
            <a:r>
              <a:rPr sz="1250" b="1">
                <a:solidFill>
                  <a:srgbClr val="EA580C"/>
                </a:solidFill>
                <a:latin typeface="Calibri"/>
              </a:rPr>
              <a:t>276.380 / 47.338 / 48.781</a:t>
            </a:r>
            <a:r>
              <a:rPr sz="1250" b="0">
                <a:solidFill>
                  <a:srgbClr val="1F2A37"/>
                </a:solidFill>
                <a:latin typeface="Calibri"/>
              </a:rPr>
              <a:t> · majority </a:t>
            </a:r>
            <a:r>
              <a:rPr sz="1250" b="1">
                <a:solidFill>
                  <a:srgbClr val="EA580C"/>
                </a:solidFill>
                <a:latin typeface="Calibri"/>
              </a:rPr>
              <a:t>0,000</a:t>
            </a:r>
          </a:p>
          <a:p>
            <a:pPr>
              <a:lnSpc>
                <a:spcPct val="105000"/>
              </a:lnSpc>
              <a:spcAft>
                <a:spcPts val="400"/>
              </a:spcAft>
            </a:pPr>
            <a:r>
              <a:rPr sz="1250" b="1">
                <a:solidFill>
                  <a:srgbClr val="0F766E"/>
                </a:solidFill>
                <a:latin typeface="Calibri"/>
              </a:rPr>
              <a:t>· </a:t>
            </a:r>
            <a:r>
              <a:rPr sz="1250" b="0">
                <a:solidFill>
                  <a:srgbClr val="1F2A37"/>
                </a:solidFill>
                <a:latin typeface="Calibri"/>
              </a:rPr>
              <a:t>persistence </a:t>
            </a:r>
            <a:r>
              <a:rPr sz="1250" b="1">
                <a:solidFill>
                  <a:srgbClr val="EA580C"/>
                </a:solidFill>
                <a:latin typeface="Calibri"/>
              </a:rPr>
              <a:t>0,914</a:t>
            </a:r>
            <a:r>
              <a:rPr sz="1250" b="0">
                <a:solidFill>
                  <a:srgbClr val="1F2A37"/>
                </a:solidFill>
                <a:latin typeface="Calibri"/>
              </a:rPr>
              <a:t> — cây </a:t>
            </a:r>
            <a:r>
              <a:rPr sz="1250" b="1">
                <a:solidFill>
                  <a:srgbClr val="EA580C"/>
                </a:solidFill>
                <a:latin typeface="Calibri"/>
              </a:rPr>
              <a:t>0,921</a:t>
            </a:r>
            <a:r>
              <a:rPr sz="1250" b="0">
                <a:solidFill>
                  <a:srgbClr val="1F2A37"/>
                </a:solidFill>
                <a:latin typeface="Calibri"/>
              </a:rPr>
              <a:t> — HistGB </a:t>
            </a:r>
            <a:r>
              <a:rPr sz="1250" b="1">
                <a:solidFill>
                  <a:srgbClr val="EA580C"/>
                </a:solidFill>
                <a:latin typeface="Calibri"/>
              </a:rPr>
              <a:t>0,927</a:t>
            </a:r>
            <a:r>
              <a:rPr sz="1250" b="0">
                <a:solidFill>
                  <a:srgbClr val="1F2A37"/>
                </a:solidFill>
                <a:latin typeface="Calibri"/>
              </a:rPr>
              <a:t> (AUC 0,993)</a:t>
            </a:r>
          </a:p>
          <a:p>
            <a:pPr>
              <a:lnSpc>
                <a:spcPct val="105000"/>
              </a:lnSpc>
              <a:spcAft>
                <a:spcPts val="400"/>
              </a:spcAft>
            </a:pPr>
            <a:r>
              <a:rPr sz="1250" b="1">
                <a:solidFill>
                  <a:srgbClr val="0F766E"/>
                </a:solidFill>
                <a:latin typeface="Calibri"/>
              </a:rPr>
              <a:t>· </a:t>
            </a:r>
            <a:r>
              <a:rPr sz="1250" b="0">
                <a:solidFill>
                  <a:srgbClr val="1F2A37"/>
                </a:solidFill>
                <a:latin typeface="Calibri"/>
              </a:rPr>
              <a:t>FN 1.000→838 · FP 999→865 · khởi đầu </a:t>
            </a:r>
            <a:r>
              <a:rPr sz="1250" b="1">
                <a:solidFill>
                  <a:srgbClr val="EA580C"/>
                </a:solidFill>
                <a:latin typeface="Calibri"/>
              </a:rPr>
              <a:t>30,4%</a:t>
            </a:r>
            <a:r>
              <a:rPr sz="1250" b="0">
                <a:solidFill>
                  <a:srgbClr val="1F2A37"/>
                </a:solidFill>
                <a:latin typeface="Calibri"/>
              </a:rPr>
              <a:t> · p ≈ </a:t>
            </a:r>
            <a:r>
              <a:rPr sz="1250" b="1">
                <a:solidFill>
                  <a:srgbClr val="EA580C"/>
                </a:solidFill>
                <a:latin typeface="Calibri"/>
              </a:rPr>
              <a:t>5×10⁻²³</a:t>
            </a:r>
          </a:p>
          <a:p>
            <a:pPr>
              <a:lnSpc>
                <a:spcPct val="105000"/>
              </a:lnSpc>
              <a:spcAft>
                <a:spcPts val="400"/>
              </a:spcAft>
            </a:pPr>
            <a:r>
              <a:rPr sz="1250" b="1">
                <a:solidFill>
                  <a:srgbClr val="0F766E"/>
                </a:solidFill>
                <a:latin typeface="Calibri"/>
              </a:rPr>
              <a:t>· </a:t>
            </a:r>
            <a:r>
              <a:rPr sz="1250" b="0">
                <a:solidFill>
                  <a:srgbClr val="1F2A37"/>
                </a:solidFill>
                <a:latin typeface="Calibri"/>
              </a:rPr>
              <a:t>tầm </a:t>
            </a:r>
            <a:r>
              <a:rPr sz="1250" b="1">
                <a:solidFill>
                  <a:srgbClr val="EA580C"/>
                </a:solidFill>
                <a:latin typeface="Calibri"/>
              </a:rPr>
              <a:t>+0,013 / +0,026 / +0,043</a:t>
            </a:r>
            <a:r>
              <a:rPr sz="1250" b="0">
                <a:solidFill>
                  <a:srgbClr val="1F2A37"/>
                </a:solidFill>
                <a:latin typeface="Calibri"/>
              </a:rPr>
              <a:t> · </a:t>
            </a:r>
            <a:r>
              <a:rPr sz="1250" b="1">
                <a:solidFill>
                  <a:srgbClr val="EA580C"/>
                </a:solidFill>
                <a:latin typeface="Calibri"/>
              </a:rPr>
              <a:t>12/12</a:t>
            </a:r>
            <a:r>
              <a:rPr sz="1250" b="0">
                <a:solidFill>
                  <a:srgbClr val="1F2A37"/>
                </a:solidFill>
                <a:latin typeface="Calibri"/>
              </a:rPr>
              <a:t> trạm</a:t>
            </a:r>
          </a:p>
        </p:txBody>
      </p:sp>
      <p:sp>
        <p:nvSpPr>
          <p:cNvPr id="13" name="Rounded Rectangle 12"/>
          <p:cNvSpPr/>
          <p:nvPr/>
        </p:nvSpPr>
        <p:spPr>
          <a:xfrm>
            <a:off x="6172200" y="3529584"/>
            <a:ext cx="5468112" cy="199339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3675888"/>
            <a:ext cx="1554480" cy="36576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VẬN HÀNH</a:t>
            </a:r>
          </a:p>
        </p:txBody>
      </p:sp>
      <p:sp>
        <p:nvSpPr>
          <p:cNvPr id="15" name="TextBox 14"/>
          <p:cNvSpPr txBox="1"/>
          <p:nvPr/>
        </p:nvSpPr>
        <p:spPr>
          <a:xfrm>
            <a:off x="6355080" y="4151376"/>
            <a:ext cx="5102352" cy="1261872"/>
          </a:xfrm>
          <a:prstGeom prst="rect">
            <a:avLst/>
          </a:prstGeom>
          <a:noFill/>
        </p:spPr>
        <p:txBody>
          <a:bodyPr wrap="square" lIns="18288" rIns="18288" tIns="0" bIns="0">
            <a:spAutoFit/>
          </a:bodyPr>
          <a:lstStyle/>
          <a:p>
            <a:pPr>
              <a:lnSpc>
                <a:spcPct val="105000"/>
              </a:lnSpc>
              <a:spcAft>
                <a:spcPts val="400"/>
              </a:spcAft>
            </a:pPr>
            <a:r>
              <a:rPr sz="1250" b="1">
                <a:solidFill>
                  <a:srgbClr val="EA580C"/>
                </a:solidFill>
                <a:latin typeface="Calibri"/>
              </a:rPr>
              <a:t>· </a:t>
            </a:r>
            <a:r>
              <a:rPr sz="1250" b="0">
                <a:solidFill>
                  <a:srgbClr val="1F2A37"/>
                </a:solidFill>
                <a:latin typeface="Calibri"/>
              </a:rPr>
              <a:t>đợt 6h </a:t>
            </a:r>
            <a:r>
              <a:rPr sz="1250" b="1">
                <a:solidFill>
                  <a:srgbClr val="EA580C"/>
                </a:solidFill>
                <a:latin typeface="Calibri"/>
              </a:rPr>
              <a:t>506/730 (69,3%)</a:t>
            </a:r>
            <a:r>
              <a:rPr sz="1250" b="0">
                <a:solidFill>
                  <a:srgbClr val="1F2A37"/>
                </a:solidFill>
                <a:latin typeface="Calibri"/>
              </a:rPr>
              <a:t> vs luật </a:t>
            </a:r>
            <a:r>
              <a:rPr sz="1250" b="1">
                <a:solidFill>
                  <a:srgbClr val="EA580C"/>
                </a:solidFill>
                <a:latin typeface="Calibri"/>
              </a:rPr>
              <a:t>64,1%</a:t>
            </a:r>
            <a:r>
              <a:rPr sz="1250" b="0">
                <a:solidFill>
                  <a:srgbClr val="1F2A37"/>
                </a:solidFill>
                <a:latin typeface="Calibri"/>
              </a:rPr>
              <a:t> · trung vị </a:t>
            </a:r>
            <a:r>
              <a:rPr sz="1250" b="1">
                <a:solidFill>
                  <a:srgbClr val="EA580C"/>
                </a:solidFill>
                <a:latin typeface="Calibri"/>
              </a:rPr>
              <a:t>3h</a:t>
            </a:r>
          </a:p>
          <a:p>
            <a:pPr>
              <a:lnSpc>
                <a:spcPct val="105000"/>
              </a:lnSpc>
              <a:spcAft>
                <a:spcPts val="400"/>
              </a:spcAft>
            </a:pPr>
            <a:r>
              <a:rPr sz="1250" b="1">
                <a:solidFill>
                  <a:srgbClr val="EA580C"/>
                </a:solidFill>
                <a:latin typeface="Calibri"/>
              </a:rPr>
              <a:t>· </a:t>
            </a:r>
            <a:r>
              <a:rPr sz="1250" b="0">
                <a:solidFill>
                  <a:srgbClr val="1F2A37"/>
                </a:solidFill>
                <a:latin typeface="Calibri"/>
              </a:rPr>
              <a:t>trần </a:t>
            </a:r>
            <a:r>
              <a:rPr sz="1250" b="1">
                <a:solidFill>
                  <a:srgbClr val="EA580C"/>
                </a:solidFill>
                <a:latin typeface="Calibri"/>
              </a:rPr>
              <a:t>0,5 FP/ngày-trạm</a:t>
            </a:r>
            <a:r>
              <a:rPr sz="1250" b="0">
                <a:solidFill>
                  <a:srgbClr val="1F2A37"/>
                </a:solidFill>
                <a:latin typeface="Calibri"/>
              </a:rPr>
              <a:t> · MAE hồi quy </a:t>
            </a:r>
            <a:r>
              <a:rPr sz="1250" b="1">
                <a:solidFill>
                  <a:srgbClr val="EA580C"/>
                </a:solidFill>
                <a:latin typeface="Calibri"/>
              </a:rPr>
              <a:t>8,87</a:t>
            </a:r>
            <a:r>
              <a:rPr sz="1250" b="0">
                <a:solidFill>
                  <a:srgbClr val="1F2A37"/>
                </a:solidFill>
                <a:latin typeface="Calibri"/>
              </a:rPr>
              <a:t> · CDC </a:t>
            </a:r>
            <a:r>
              <a:rPr sz="1250" b="1">
                <a:solidFill>
                  <a:srgbClr val="EA580C"/>
                </a:solidFill>
                <a:latin typeface="Calibri"/>
              </a:rPr>
              <a:t>9,41</a:t>
            </a:r>
          </a:p>
          <a:p>
            <a:pPr>
              <a:lnSpc>
                <a:spcPct val="105000"/>
              </a:lnSpc>
              <a:spcAft>
                <a:spcPts val="400"/>
              </a:spcAft>
            </a:pPr>
            <a:r>
              <a:rPr sz="1250" b="1">
                <a:solidFill>
                  <a:srgbClr val="EA580C"/>
                </a:solidFill>
                <a:latin typeface="Calibri"/>
              </a:rPr>
              <a:t>· </a:t>
            </a:r>
            <a:r>
              <a:rPr sz="1250" b="0">
                <a:solidFill>
                  <a:srgbClr val="1F2A37"/>
                </a:solidFill>
                <a:latin typeface="Calibri"/>
              </a:rPr>
              <a:t>cờ giám sát ở </a:t>
            </a:r>
            <a:r>
              <a:rPr sz="1250" b="1">
                <a:solidFill>
                  <a:srgbClr val="EA580C"/>
                </a:solidFill>
                <a:latin typeface="Calibri"/>
              </a:rPr>
              <a:t>12 µg/m³</a:t>
            </a:r>
            <a:r>
              <a:rPr sz="1250" b="0">
                <a:solidFill>
                  <a:srgbClr val="1F2A37"/>
                </a:solidFill>
                <a:latin typeface="Calibri"/>
              </a:rPr>
              <a:t> · K-Means </a:t>
            </a:r>
            <a:r>
              <a:rPr sz="1250" b="1">
                <a:solidFill>
                  <a:srgbClr val="EA580C"/>
                </a:solidFill>
                <a:latin typeface="Calibri"/>
              </a:rPr>
              <a:t>K=2 · 0,664 · 9+3</a:t>
            </a:r>
          </a:p>
        </p:txBody>
      </p:sp>
      <p:sp>
        <p:nvSpPr>
          <p:cNvPr id="16" name="Rectangle 15"/>
          <p:cNvSpPr/>
          <p:nvPr/>
        </p:nvSpPr>
        <p:spPr>
          <a:xfrm>
            <a:off x="0" y="5577840"/>
            <a:ext cx="12191695" cy="1280160"/>
          </a:xfrm>
          <a:prstGeom prst="rect">
            <a:avLst/>
          </a:prstGeom>
          <a:solidFill>
            <a:srgbClr val="D6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733288"/>
            <a:ext cx="1234440" cy="36576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GHI NHỚ</a:t>
            </a:r>
          </a:p>
        </p:txBody>
      </p:sp>
      <p:sp>
        <p:nvSpPr>
          <p:cNvPr id="18" name="TextBox 17"/>
          <p:cNvSpPr txBox="1"/>
          <p:nvPr/>
        </p:nvSpPr>
        <p:spPr>
          <a:xfrm>
            <a:off x="1965960" y="5715000"/>
            <a:ext cx="9677095" cy="1005840"/>
          </a:xfrm>
          <a:prstGeom prst="rect">
            <a:avLst/>
          </a:prstGeom>
          <a:noFill/>
        </p:spPr>
        <p:txBody>
          <a:bodyPr wrap="square" anchor="ctr" lIns="27432" rIns="27432" tIns="0" bIns="0">
            <a:spAutoFit/>
          </a:bodyPr>
          <a:lstStyle/>
          <a:p>
            <a:pPr algn="l">
              <a:spcAft>
                <a:spcPts val="200"/>
              </a:spcAft>
            </a:pPr>
            <a:r>
              <a:rPr sz="1500" b="1" i="0">
                <a:solidFill>
                  <a:srgbClr val="1F2A37"/>
                </a:solidFill>
                <a:latin typeface="Cambria"/>
              </a:rPr>
              <a:t>Thuộc 4 cụm số này là “đủ đạn” cho hầu hết câu hỏi — mỗi số đều giải thích được nguồn gốc.</a:t>
            </a:r>
          </a:p>
        </p:txBody>
      </p:sp>
      <p:sp>
        <p:nvSpPr>
          <p:cNvPr id="19" name="TextBox 18"/>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64748B"/>
                </a:solidFill>
                <a:latin typeface="Calibri"/>
              </a:rPr>
              <a:t>48 / 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548640" y="822960"/>
            <a:ext cx="10058400" cy="365760"/>
          </a:xfrm>
          <a:prstGeom prst="rect">
            <a:avLst/>
          </a:prstGeom>
          <a:noFill/>
        </p:spPr>
        <p:txBody>
          <a:bodyPr wrap="square" anchor="t" lIns="27432" rIns="27432" tIns="0" bIns="0">
            <a:spAutoFit/>
          </a:bodyPr>
          <a:lstStyle/>
          <a:p>
            <a:pPr algn="l"/>
            <a:r>
              <a:rPr sz="1400" b="1" i="0">
                <a:solidFill>
                  <a:srgbClr val="FDBA74"/>
                </a:solidFill>
                <a:latin typeface="Calibri"/>
              </a:rPr>
              <a:t>ĐỌC XONG — BA LƯỢT ÔN THEO THỨ TỰ NÀY</a:t>
            </a:r>
          </a:p>
        </p:txBody>
      </p:sp>
      <p:sp>
        <p:nvSpPr>
          <p:cNvPr id="3" name="TextBox 2"/>
          <p:cNvSpPr txBox="1"/>
          <p:nvPr/>
        </p:nvSpPr>
        <p:spPr>
          <a:xfrm>
            <a:off x="548640" y="1325880"/>
            <a:ext cx="10607040" cy="822960"/>
          </a:xfrm>
          <a:prstGeom prst="rect">
            <a:avLst/>
          </a:prstGeom>
          <a:noFill/>
        </p:spPr>
        <p:txBody>
          <a:bodyPr wrap="square" anchor="t" lIns="27432" rIns="27432" tIns="0" bIns="0">
            <a:spAutoFit/>
          </a:bodyPr>
          <a:lstStyle/>
          <a:p>
            <a:pPr algn="l"/>
            <a:r>
              <a:rPr sz="3300" b="1" i="0">
                <a:solidFill>
                  <a:srgbClr val="FFFFFF"/>
                </a:solidFill>
                <a:latin typeface="Cambria"/>
              </a:rPr>
              <a:t>Hiểu rồi — giờ chuyển từ hiểu sang nói được</a:t>
            </a:r>
          </a:p>
        </p:txBody>
      </p:sp>
      <p:sp>
        <p:nvSpPr>
          <p:cNvPr id="4" name="Rounded Rectangle 3"/>
          <p:cNvSpPr/>
          <p:nvPr/>
        </p:nvSpPr>
        <p:spPr>
          <a:xfrm>
            <a:off x="548640" y="2514600"/>
            <a:ext cx="11091672" cy="749808"/>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697480"/>
            <a:ext cx="114300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LƯỢT 1</a:t>
            </a:r>
          </a:p>
        </p:txBody>
      </p:sp>
      <p:sp>
        <p:nvSpPr>
          <p:cNvPr id="6" name="TextBox 5"/>
          <p:cNvSpPr txBox="1"/>
          <p:nvPr/>
        </p:nvSpPr>
        <p:spPr>
          <a:xfrm>
            <a:off x="2057400" y="2642616"/>
            <a:ext cx="9326880" cy="502920"/>
          </a:xfrm>
          <a:prstGeom prst="rect">
            <a:avLst/>
          </a:prstGeom>
          <a:noFill/>
        </p:spPr>
        <p:txBody>
          <a:bodyPr wrap="square" anchor="ctr" lIns="27432" rIns="27432" tIns="0" bIns="0">
            <a:spAutoFit/>
          </a:bodyPr>
          <a:lstStyle/>
          <a:p>
            <a:pPr algn="l">
              <a:spcAft>
                <a:spcPts val="200"/>
              </a:spcAft>
            </a:pPr>
            <a:r>
              <a:rPr sz="1450" b="0" i="0">
                <a:solidFill>
                  <a:srgbClr val="C5D0DE"/>
                </a:solidFill>
                <a:latin typeface="Cambria"/>
              </a:rPr>
              <a:t>đọc hiểu toàn bộ (vừa xong) — không cần ghi gì thêm.</a:t>
            </a:r>
          </a:p>
        </p:txBody>
      </p:sp>
      <p:sp>
        <p:nvSpPr>
          <p:cNvPr id="7" name="Rounded Rectangle 6"/>
          <p:cNvSpPr/>
          <p:nvPr/>
        </p:nvSpPr>
        <p:spPr>
          <a:xfrm>
            <a:off x="548640" y="3410712"/>
            <a:ext cx="11091672" cy="749808"/>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3593592"/>
            <a:ext cx="1143000" cy="38404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LƯỢT 2</a:t>
            </a:r>
          </a:p>
        </p:txBody>
      </p:sp>
      <p:sp>
        <p:nvSpPr>
          <p:cNvPr id="9" name="TextBox 8"/>
          <p:cNvSpPr txBox="1"/>
          <p:nvPr/>
        </p:nvSpPr>
        <p:spPr>
          <a:xfrm>
            <a:off x="2057400" y="3538728"/>
            <a:ext cx="9326880" cy="502920"/>
          </a:xfrm>
          <a:prstGeom prst="rect">
            <a:avLst/>
          </a:prstGeom>
          <a:noFill/>
        </p:spPr>
        <p:txBody>
          <a:bodyPr wrap="square" anchor="ctr" lIns="27432" rIns="27432" tIns="0" bIns="0">
            <a:spAutoFit/>
          </a:bodyPr>
          <a:lstStyle/>
          <a:p>
            <a:pPr algn="l">
              <a:spcAft>
                <a:spcPts val="200"/>
              </a:spcAft>
            </a:pPr>
            <a:r>
              <a:rPr sz="1450" b="0" i="0">
                <a:solidFill>
                  <a:srgbClr val="C5D0DE"/>
                </a:solidFill>
                <a:latin typeface="Cambria"/>
              </a:rPr>
              <a:t>đọc lại các dải GHI NHỚ + 4 slide CHỐT (≈ 15 phút, trước khi ngủ càng tốt).</a:t>
            </a:r>
          </a:p>
        </p:txBody>
      </p:sp>
      <p:sp>
        <p:nvSpPr>
          <p:cNvPr id="10" name="Rounded Rectangle 9"/>
          <p:cNvSpPr/>
          <p:nvPr/>
        </p:nvSpPr>
        <p:spPr>
          <a:xfrm>
            <a:off x="548640" y="4306824"/>
            <a:ext cx="11091672" cy="749808"/>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4489704"/>
            <a:ext cx="114300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LƯỢT 3</a:t>
            </a:r>
          </a:p>
        </p:txBody>
      </p:sp>
      <p:sp>
        <p:nvSpPr>
          <p:cNvPr id="12" name="TextBox 11"/>
          <p:cNvSpPr txBox="1"/>
          <p:nvPr/>
        </p:nvSpPr>
        <p:spPr>
          <a:xfrm>
            <a:off x="2057400" y="4434840"/>
            <a:ext cx="9326880" cy="502920"/>
          </a:xfrm>
          <a:prstGeom prst="rect">
            <a:avLst/>
          </a:prstGeom>
          <a:noFill/>
        </p:spPr>
        <p:txBody>
          <a:bodyPr wrap="square" anchor="ctr" lIns="27432" rIns="27432" tIns="0" bIns="0">
            <a:spAutoFit/>
          </a:bodyPr>
          <a:lstStyle/>
          <a:p>
            <a:pPr algn="l">
              <a:spcAft>
                <a:spcPts val="200"/>
              </a:spcAft>
            </a:pPr>
            <a:r>
              <a:rPr sz="1450" b="0" i="0">
                <a:solidFill>
                  <a:srgbClr val="C5D0DE"/>
                </a:solidFill>
                <a:latin typeface="Cambria"/>
              </a:rPr>
              <a:t>mở ON_TAP_BAO_VE_HOI_DAP.md — tự trả lời không nhìn, yếu chỗ nào quay lại đúng slide đó.</a:t>
            </a:r>
          </a:p>
        </p:txBody>
      </p:sp>
      <p:sp>
        <p:nvSpPr>
          <p:cNvPr id="13" name="Rounded Rectangle 12"/>
          <p:cNvSpPr/>
          <p:nvPr/>
        </p:nvSpPr>
        <p:spPr>
          <a:xfrm>
            <a:off x="548640" y="5202936"/>
            <a:ext cx="11091672" cy="749808"/>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 y="5385816"/>
            <a:ext cx="1143000" cy="38404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r>
              <a:rPr sz="1200" b="1">
                <a:solidFill>
                  <a:srgbClr val="FFFFFF"/>
                </a:solidFill>
                <a:latin typeface="Calibri"/>
              </a:rPr>
              <a:t>CUỐI</a:t>
            </a:r>
          </a:p>
        </p:txBody>
      </p:sp>
      <p:sp>
        <p:nvSpPr>
          <p:cNvPr id="15" name="TextBox 14"/>
          <p:cNvSpPr txBox="1"/>
          <p:nvPr/>
        </p:nvSpPr>
        <p:spPr>
          <a:xfrm>
            <a:off x="2057400" y="5330951"/>
            <a:ext cx="9326880" cy="502920"/>
          </a:xfrm>
          <a:prstGeom prst="rect">
            <a:avLst/>
          </a:prstGeom>
          <a:noFill/>
        </p:spPr>
        <p:txBody>
          <a:bodyPr wrap="square" anchor="ctr" lIns="27432" rIns="27432" tIns="0" bIns="0">
            <a:spAutoFit/>
          </a:bodyPr>
          <a:lstStyle/>
          <a:p>
            <a:pPr algn="l">
              <a:spcAft>
                <a:spcPts val="200"/>
              </a:spcAft>
            </a:pPr>
            <a:r>
              <a:rPr sz="1450" b="0" i="0">
                <a:solidFill>
                  <a:srgbClr val="C5D0DE"/>
                </a:solidFill>
                <a:latin typeface="Cambria"/>
              </a:rPr>
              <a:t>tập nói theo KE_HOACH_NOI_DUNG_THUYET_TRINH.md với bộ chiếu v3 — mồi nào nằm slide nào, lá chắn nằm phụ lục nào.</a:t>
            </a:r>
          </a:p>
        </p:txBody>
      </p:sp>
      <p:sp>
        <p:nvSpPr>
          <p:cNvPr id="16" name="TextBox 15"/>
          <p:cNvSpPr txBox="1"/>
          <p:nvPr/>
        </p:nvSpPr>
        <p:spPr>
          <a:xfrm>
            <a:off x="548640" y="6263640"/>
            <a:ext cx="10058400" cy="365760"/>
          </a:xfrm>
          <a:prstGeom prst="rect">
            <a:avLst/>
          </a:prstGeom>
          <a:noFill/>
        </p:spPr>
        <p:txBody>
          <a:bodyPr wrap="square" anchor="t" lIns="27432" rIns="27432" tIns="0" bIns="0">
            <a:spAutoFit/>
          </a:bodyPr>
          <a:lstStyle/>
          <a:p>
            <a:pPr algn="l"/>
            <a:r>
              <a:rPr sz="1500" b="0" i="1">
                <a:solidFill>
                  <a:srgbClr val="FFFFFF"/>
                </a:solidFill>
                <a:latin typeface="Cambria"/>
              </a:rPr>
              <a:t>Chúc ôn tốt — hẹn gặp ở phần hỏi đáp.</a:t>
            </a:r>
          </a:p>
        </p:txBody>
      </p:sp>
      <p:sp>
        <p:nvSpPr>
          <p:cNvPr id="17" name="TextBox 16"/>
          <p:cNvSpPr txBox="1"/>
          <p:nvPr/>
        </p:nvSpPr>
        <p:spPr>
          <a:xfrm>
            <a:off x="10362895" y="146304"/>
            <a:ext cx="1280160" cy="274320"/>
          </a:xfrm>
          <a:prstGeom prst="rect">
            <a:avLst/>
          </a:prstGeom>
          <a:noFill/>
        </p:spPr>
        <p:txBody>
          <a:bodyPr wrap="square" anchor="t" lIns="27432" rIns="27432" tIns="0" bIns="0">
            <a:spAutoFit/>
          </a:bodyPr>
          <a:lstStyle/>
          <a:p>
            <a:pPr algn="r"/>
            <a:r>
              <a:rPr sz="1100" b="0" i="0">
                <a:solidFill>
                  <a:srgbClr val="C5D0DE"/>
                </a:solidFill>
                <a:latin typeface="Calibri"/>
              </a:rPr>
              <a:t>49 /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Analytics Platform — Tài liệu đọc hiểu</dc:title>
  <dc:subject/>
  <dc:creator>Nhóm INT1422</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